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Baskervville" panose="020B0604020202020204" charset="0"/>
      <p:regular r:id="rId10"/>
    </p:embeddedFont>
    <p:embeddedFont>
      <p:font typeface="Poppins" panose="00000500000000000000" pitchFamily="2" charset="0"/>
      <p:regular r:id="rId11"/>
      <p:bold r:id="rId12"/>
    </p:embeddedFont>
    <p:embeddedFont>
      <p:font typeface="Poppins Bold" panose="00000800000000000000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22120120 Dilmith I.H.S" userId="919206969bc77ee2" providerId="LiveId" clId="{00D71DD2-7F13-4700-A0B0-30E972C282B6}"/>
    <pc:docChg chg="modSld">
      <pc:chgData name="IT22120120 Dilmith I.H.S" userId="919206969bc77ee2" providerId="LiveId" clId="{00D71DD2-7F13-4700-A0B0-30E972C282B6}" dt="2026-08-31T07:15:49.255" v="20" actId="1037"/>
      <pc:docMkLst>
        <pc:docMk/>
      </pc:docMkLst>
      <pc:sldChg chg="modSp mod">
        <pc:chgData name="IT22120120 Dilmith I.H.S" userId="919206969bc77ee2" providerId="LiveId" clId="{00D71DD2-7F13-4700-A0B0-30E972C282B6}" dt="2026-08-31T07:15:49.255" v="20" actId="1037"/>
        <pc:sldMkLst>
          <pc:docMk/>
          <pc:sldMk cId="0" sldId="262"/>
        </pc:sldMkLst>
        <pc:picChg chg="mod">
          <ac:chgData name="IT22120120 Dilmith I.H.S" userId="919206969bc77ee2" providerId="LiveId" clId="{00D71DD2-7F13-4700-A0B0-30E972C282B6}" dt="2026-08-31T07:15:36.908" v="0" actId="14100"/>
          <ac:picMkLst>
            <pc:docMk/>
            <pc:sldMk cId="0" sldId="262"/>
            <ac:picMk id="3" creationId="{00000000-0000-0000-0000-000000000000}"/>
          </ac:picMkLst>
        </pc:picChg>
        <pc:picChg chg="mod">
          <ac:chgData name="IT22120120 Dilmith I.H.S" userId="919206969bc77ee2" providerId="LiveId" clId="{00D71DD2-7F13-4700-A0B0-30E972C282B6}" dt="2026-08-31T07:15:49.255" v="20" actId="1037"/>
          <ac:picMkLst>
            <pc:docMk/>
            <pc:sldMk cId="0" sldId="262"/>
            <ac:picMk id="5" creationId="{00000000-0000-0000-0000-000000000000}"/>
          </ac:picMkLst>
        </pc:picChg>
        <pc:picChg chg="mod">
          <ac:chgData name="IT22120120 Dilmith I.H.S" userId="919206969bc77ee2" providerId="LiveId" clId="{00D71DD2-7F13-4700-A0B0-30E972C282B6}" dt="2026-08-31T07:15:49.255" v="20" actId="1037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IT22120120 Dilmith I.H.S" userId="919206969bc77ee2" providerId="LiveId" clId="{00D71DD2-7F13-4700-A0B0-30E972C282B6}" dt="2026-08-31T07:15:49.255" v="20" actId="1037"/>
          <ac:picMkLst>
            <pc:docMk/>
            <pc:sldMk cId="0" sldId="262"/>
            <ac:picMk id="1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72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12813" y="2519859"/>
            <a:ext cx="6537955" cy="1388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AuraLearn — Progress presentation 2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112813" y="4140299"/>
            <a:ext cx="7078882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Concise progress for students, lecturers, and EdTech stakeholders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5675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927" y="3037185"/>
            <a:ext cx="11109841" cy="615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Problem, Stakeholders &amp; Pain Points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27" y="3851374"/>
            <a:ext cx="136918" cy="13692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0927" y="4048026"/>
            <a:ext cx="5494299" cy="1905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6" name="Text 2"/>
          <p:cNvSpPr/>
          <p:nvPr/>
        </p:nvSpPr>
        <p:spPr>
          <a:xfrm>
            <a:off x="540927" y="4154587"/>
            <a:ext cx="5494299" cy="30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Stakeholders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540927" y="4534892"/>
            <a:ext cx="5494299" cy="206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University students · Lecturers/instructors · Ed-Tech platforms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6469" y="3851374"/>
            <a:ext cx="136918" cy="13692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56469" y="4048026"/>
            <a:ext cx="5494299" cy="1905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0" name="Text 5"/>
          <p:cNvSpPr/>
          <p:nvPr/>
        </p:nvSpPr>
        <p:spPr>
          <a:xfrm>
            <a:off x="6156469" y="4154587"/>
            <a:ext cx="5494299" cy="30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Information overload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6156469" y="4534892"/>
            <a:ext cx="5494299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struggle to filter exam‑relevant content from voluminous lecture materials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5189041"/>
            <a:ext cx="136918" cy="13692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0927" y="5385693"/>
            <a:ext cx="5494299" cy="1905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4" name="Text 8"/>
          <p:cNvSpPr/>
          <p:nvPr/>
        </p:nvSpPr>
        <p:spPr>
          <a:xfrm>
            <a:off x="540927" y="5492254"/>
            <a:ext cx="5494299" cy="30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Misinformation (hallucinations)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540927" y="5872559"/>
            <a:ext cx="5494299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tutors sometimes deliver unverified or incorrect answers during high‑stakes prep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6469" y="5189041"/>
            <a:ext cx="136918" cy="136922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156469" y="5385693"/>
            <a:ext cx="5494299" cy="1905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8" name="Text 11"/>
          <p:cNvSpPr/>
          <p:nvPr/>
        </p:nvSpPr>
        <p:spPr>
          <a:xfrm>
            <a:off x="6156469" y="5492254"/>
            <a:ext cx="5494299" cy="30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Ignored emotional states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156469" y="5872559"/>
            <a:ext cx="5494299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Scheduling ignores fatigue, confusion and cognitive burnout — lowers effectiveness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620216"/>
            <a:ext cx="11109841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Panel Feedback — Responses</a:t>
            </a:r>
            <a:endParaRPr lang="en-US" sz="4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089453"/>
              </p:ext>
            </p:extLst>
          </p:nvPr>
        </p:nvGraphicFramePr>
        <p:xfrm>
          <a:off x="540927" y="1623616"/>
          <a:ext cx="11109840" cy="4229787"/>
        </p:xfrm>
        <a:graphic>
          <a:graphicData uri="http://schemas.openxmlformats.org/drawingml/2006/table">
            <a:tbl>
              <a:tblPr/>
              <a:tblGrid>
                <a:gridCol w="2221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3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3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4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Student ID &amp; Name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Panel Comments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How we addressed them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IT22120120(Sonal Dilmith)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Time management in presentation; clarify confidence score; risk from wrong uploaded PDFs affecting confidence.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Practiced presentation rehearsals; defined RAG + uncertainty estimation and ML-based grounding ;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IT22224552(K.K.G.Y. Mihiraj)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Time management; need correct approach definition; confidence score confusion; PDF effects.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Practiced presentation rehearsals; Created a manual dataset by taking students inputs and sent to an expert for validation.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6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IT22371690(W.H.H. Thathsara)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Collected 32‑student dataset; oversampled and trained, but predictions need expert validation.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Practiced presentation rehearsals; Created a manual dataset by taking students inputs and sent to an expert for validation.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29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IT22187178(T.G.K.G. Vijithapala)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Need comparison vs generic LLMs to prove superiority of objective‑aware summaries.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E666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Built comparative evaluation framework (semantic alignment) vs baseline LLMs to quantify syllabus alignment gains.</a:t>
                      </a:r>
                      <a:endParaRPr lang="en-US" sz="12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54570" marR="154570" marT="6350" marB="6350" anchor="ctr">
                    <a:lnL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C5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540927" y="6040041"/>
            <a:ext cx="11650768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Table: panel comments (left) and concrete actions (right)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478532"/>
            <a:ext cx="11109841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Research Gap, Objectives &amp; Strands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7" y="1578471"/>
            <a:ext cx="4792047" cy="2715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6345" y="2688927"/>
            <a:ext cx="5940673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Research gap</a:t>
            </a: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: Tools are disjoint — lack emotion‑aware scheduling, hallucination control, and curriculum‑mapped summaries.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0927" y="4641652"/>
            <a:ext cx="3600261" cy="1737717"/>
          </a:xfrm>
          <a:prstGeom prst="roundRect">
            <a:avLst>
              <a:gd name="adj" fmla="val 13342"/>
            </a:avLst>
          </a:pr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695407" y="4796135"/>
            <a:ext cx="329130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System objective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95407" y="5235873"/>
            <a:ext cx="3291301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End‑to‑end Smart Study Assistant: grounded tutoring, objective‑aligned flashcards, emotion‑aware scheduling.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5668" y="4641652"/>
            <a:ext cx="3600261" cy="1737717"/>
          </a:xfrm>
          <a:prstGeom prst="roundRect">
            <a:avLst>
              <a:gd name="adj" fmla="val 13342"/>
            </a:avLst>
          </a:prstGeom>
          <a:solidFill>
            <a:srgbClr val="ECDFE3"/>
          </a:solidFill>
          <a:ln/>
        </p:spPr>
      </p:sp>
      <p:sp>
        <p:nvSpPr>
          <p:cNvPr id="9" name="Text 6"/>
          <p:cNvSpPr/>
          <p:nvPr/>
        </p:nvSpPr>
        <p:spPr>
          <a:xfrm>
            <a:off x="4450147" y="4796135"/>
            <a:ext cx="329130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Research strand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4450147" y="5235873"/>
            <a:ext cx="3291301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uncertainty estimation · affective computing + memory decay · semantic curriculum alignment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50408" y="4641652"/>
            <a:ext cx="3600261" cy="1737717"/>
          </a:xfrm>
          <a:prstGeom prst="roundRect">
            <a:avLst>
              <a:gd name="adj" fmla="val 13342"/>
            </a:avLst>
          </a:prstGeom>
          <a:solidFill>
            <a:srgbClr val="ECDFE3"/>
          </a:solidFill>
          <a:ln/>
        </p:spPr>
      </p:sp>
      <p:sp>
        <p:nvSpPr>
          <p:cNvPr id="12" name="Text 9"/>
          <p:cNvSpPr/>
          <p:nvPr/>
        </p:nvSpPr>
        <p:spPr>
          <a:xfrm>
            <a:off x="8204888" y="4796135"/>
            <a:ext cx="3291301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Development strand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8204888" y="5235873"/>
            <a:ext cx="3291301" cy="989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vector DB engineering (FAISS/Chroma) · MediaPipe optimization for low‑spec laptops · RL scheduler via FastAPI microservices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927" y="757932"/>
            <a:ext cx="6537955" cy="520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Solution Overview &amp; Architecture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927" y="1409005"/>
            <a:ext cx="6537955" cy="122922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0304" y="1513284"/>
            <a:ext cx="139101" cy="13910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69511" y="1872655"/>
            <a:ext cx="628078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Hallucination‑Controlled Tutor (Sonal)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669511" y="2185194"/>
            <a:ext cx="6280787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 pipeline + FAISS/ChromaDB + uncertainty estimation to ground answers and flag low‑confidence replies.</a:t>
            </a:r>
            <a:endParaRPr lang="en-US" sz="9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2725142"/>
            <a:ext cx="6537955" cy="106699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0304" y="2829421"/>
            <a:ext cx="139101" cy="139105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669511" y="3188791"/>
            <a:ext cx="628078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Objective‑Aware Summarization (Vijithapala)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669511" y="3501330"/>
            <a:ext cx="6280787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BART/T5 semantic extraction to produce syllabus‑aligned summaries and flashcards.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3879056"/>
            <a:ext cx="6537955" cy="1066998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0304" y="3983335"/>
            <a:ext cx="139101" cy="139105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69511" y="4342705"/>
            <a:ext cx="628078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Affect &amp; Attention Detection (Mihiraj)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669511" y="4655245"/>
            <a:ext cx="6280787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MediaPipe Face Mesh → EAR metric; lightweight, in‑memory, privacy preserving.</a:t>
            </a:r>
            <a:endParaRPr lang="en-US" sz="9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0927" y="5032970"/>
            <a:ext cx="6537955" cy="10669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0304" y="5137249"/>
            <a:ext cx="139101" cy="13910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669511" y="5496620"/>
            <a:ext cx="628078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Adaptive Scheduler (Thathsara)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669511" y="5809159"/>
            <a:ext cx="6280787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Contextual bandit RL fusing SM‑2 memory decay + emotion embeddings to time reviews and breaks.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783431"/>
            <a:ext cx="11109841" cy="694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Integration &amp; Completion Status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8" y="1883371"/>
            <a:ext cx="6607754" cy="3744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39786" y="2045396"/>
            <a:ext cx="4417233" cy="23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— upload: objective‑aligned summaries &amp; flashcards (Vijithapala)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Interaction — question → grounded RAG answer with confidence tag (Sonal)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Monitoring — silent facial mesh → fatigue/attention embedding (Mihiraj)</a:t>
            </a:r>
            <a:endParaRPr lang="en-US" sz="1200" dirty="0"/>
          </a:p>
          <a:p>
            <a:pPr marL="243840" indent="-2438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Adaptation — RL scheduler uses progress + emotion to schedule reviews or breaks (Thathsara)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239786" y="4606727"/>
            <a:ext cx="4417233" cy="1097161"/>
          </a:xfrm>
          <a:prstGeom prst="roundRect">
            <a:avLst>
              <a:gd name="adj" fmla="val 21132"/>
            </a:avLst>
          </a:prstGeom>
          <a:solidFill>
            <a:srgbClr val="ECDFE3"/>
          </a:solidFill>
          <a:ln/>
        </p:spPr>
      </p:sp>
      <p:sp>
        <p:nvSpPr>
          <p:cNvPr id="7" name="Text 3"/>
          <p:cNvSpPr/>
          <p:nvPr/>
        </p:nvSpPr>
        <p:spPr>
          <a:xfrm>
            <a:off x="7494309" y="4784427"/>
            <a:ext cx="4008229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Status: ML models trained · microservices linked · end‑to‑end in validation/testing phase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927" y="504031"/>
            <a:ext cx="11109841" cy="1249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Evaluation Evidence, NFRs &amp; Commercial Roadmap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27" y="2082304"/>
            <a:ext cx="4806838" cy="367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0927" y="5903020"/>
            <a:ext cx="5957639" cy="33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evidence: &gt;90% factual accuracy; emotion‑aware scheduling → target +85% adherence; responses &amp; scheduling &lt;5s.</a:t>
            </a:r>
            <a:endParaRPr lang="en-US" sz="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8627" y="2082304"/>
            <a:ext cx="347753" cy="347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48453" y="2082304"/>
            <a:ext cx="4308566" cy="31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Privacy &amp; Performance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7348453" y="2519759"/>
            <a:ext cx="4308566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GDPR compliant · no raw images saved · 30 frames/min on low‑spec laptops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627" y="3192959"/>
            <a:ext cx="347753" cy="347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48453" y="3192959"/>
            <a:ext cx="4308566" cy="31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Market &amp; Revenue</a:t>
            </a:r>
            <a:endParaRPr lang="en-US" sz="1950" dirty="0"/>
          </a:p>
        </p:txBody>
      </p:sp>
      <p:sp>
        <p:nvSpPr>
          <p:cNvPr id="10" name="Text 5"/>
          <p:cNvSpPr/>
          <p:nvPr/>
        </p:nvSpPr>
        <p:spPr>
          <a:xfrm>
            <a:off x="7348453" y="3630414"/>
            <a:ext cx="4308566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B2B SaaS for universities + EdTech integrations. premium B2C with premium analytics; institutional licensing for LMS (Moodle/Canvas).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8627" y="4515048"/>
            <a:ext cx="347753" cy="347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48453" y="4515048"/>
            <a:ext cx="4308566" cy="312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Roadmap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7348453" y="4952504"/>
            <a:ext cx="4308566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Beta finalisation → University pilot → Patent filing for RL‑Emotion scheduling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641</Words>
  <Application>Microsoft Office PowerPoint</Application>
  <PresentationFormat>Widescreen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Poppins</vt:lpstr>
      <vt:lpstr>Arial</vt:lpstr>
      <vt:lpstr>Baskervville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sonal</dc:creator>
  <cp:lastModifiedBy>IT22120120 Dilmith I.H.S</cp:lastModifiedBy>
  <cp:revision>2</cp:revision>
  <dcterms:created xsi:type="dcterms:W3CDTF">2026-08-31T02:39:06Z</dcterms:created>
  <dcterms:modified xsi:type="dcterms:W3CDTF">2026-08-31T09:24:28Z</dcterms:modified>
</cp:coreProperties>
</file>