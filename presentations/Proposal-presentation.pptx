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7"/>
  </p:notesMasterIdLst>
  <p:sldIdLst>
    <p:sldId id="256" r:id="rId2"/>
    <p:sldId id="281"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2" r:id="rId23"/>
    <p:sldId id="277" r:id="rId24"/>
    <p:sldId id="278" r:id="rId25"/>
    <p:sldId id="279" r:id="rId26"/>
  </p:sldIdLst>
  <p:sldSz cx="14630400" cy="8229600"/>
  <p:notesSz cx="8229600" cy="14630400"/>
  <p:embeddedFontLst>
    <p:embeddedFont>
      <p:font typeface="Lato" panose="020F0502020204030203" pitchFamily="34" charset="0"/>
      <p:regular r:id="rId28"/>
      <p:bold r:id="rId29"/>
    </p:embeddedFont>
    <p:embeddedFont>
      <p:font typeface="Lato Bold" panose="020F0502020204030203" pitchFamily="34" charset="0"/>
      <p:bold r:id="rId30"/>
    </p:embeddedFont>
    <p:embeddedFont>
      <p:font typeface="Lato Light" panose="020F0502020204030203" pitchFamily="34" charset="0"/>
      <p:regular r:id="rId31"/>
      <p: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DFD2"/>
    <a:srgbClr val="EFEC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4" d="100"/>
          <a:sy n="74" d="100"/>
        </p:scale>
        <p:origin x="4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9574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 Id="rId9"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8" Type="http://schemas.openxmlformats.org/officeDocument/2006/relationships/image" Target="../media/image46.svg"/><Relationship Id="rId13" Type="http://schemas.openxmlformats.org/officeDocument/2006/relationships/image" Target="../media/image51.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0.svg"/><Relationship Id="rId2" Type="http://schemas.openxmlformats.org/officeDocument/2006/relationships/notesSlide" Target="../notesSlides/notesSlide18.xml"/><Relationship Id="rId1" Type="http://schemas.openxmlformats.org/officeDocument/2006/relationships/slideLayout" Target="../slideLayouts/slideLayout19.xml"/><Relationship Id="rId6" Type="http://schemas.openxmlformats.org/officeDocument/2006/relationships/image" Target="../media/image44.sv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svg"/><Relationship Id="rId4" Type="http://schemas.openxmlformats.org/officeDocument/2006/relationships/image" Target="../media/image42.svg"/><Relationship Id="rId9" Type="http://schemas.openxmlformats.org/officeDocument/2006/relationships/image" Target="../media/image47.png"/><Relationship Id="rId14" Type="http://schemas.openxmlformats.org/officeDocument/2006/relationships/image" Target="../media/image52.svg"/></Relationships>
</file>

<file path=ppt/slides/_rels/slide1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21.xml"/><Relationship Id="rId5" Type="http://schemas.openxmlformats.org/officeDocument/2006/relationships/image" Target="../media/image56.png"/><Relationship Id="rId4" Type="http://schemas.openxmlformats.org/officeDocument/2006/relationships/image" Target="../media/image55.png"/></Relationships>
</file>

<file path=ppt/slides/_rels/slide2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23.xml"/><Relationship Id="rId1" Type="http://schemas.openxmlformats.org/officeDocument/2006/relationships/slideLayout" Target="../slideLayouts/slideLayout24.xml"/><Relationship Id="rId4" Type="http://schemas.openxmlformats.org/officeDocument/2006/relationships/image" Target="../media/image59.png"/></Relationships>
</file>

<file path=ppt/slides/_rels/slide2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82122"/>
            <a:ext cx="7556421" cy="2126337"/>
          </a:xfrm>
          <a:prstGeom prst="rect">
            <a:avLst/>
          </a:prstGeom>
          <a:noFill/>
          <a:ln/>
        </p:spPr>
        <p:txBody>
          <a:bodyPr wrap="square" lIns="0" tIns="0" rIns="0" bIns="0" rtlCol="0" anchor="t"/>
          <a:lstStyle/>
          <a:p>
            <a:pPr marL="0" indent="0" algn="l">
              <a:lnSpc>
                <a:spcPts val="5550"/>
              </a:lnSpc>
              <a:buNone/>
            </a:pPr>
            <a:r>
              <a:rPr lang="en-US" sz="4000" b="1" dirty="0">
                <a:latin typeface="Lato Bold" pitchFamily="34" charset="0"/>
                <a:ea typeface="Lato Bold" pitchFamily="34" charset="-122"/>
                <a:cs typeface="Lato Bold" pitchFamily="34" charset="-120"/>
              </a:rPr>
              <a:t>AI-Enabled Intelligent Study Assistant to Enhance Student Learning Outcomes</a:t>
            </a:r>
            <a:endParaRPr lang="en-US" sz="4000" dirty="0"/>
          </a:p>
        </p:txBody>
      </p:sp>
      <p:sp>
        <p:nvSpPr>
          <p:cNvPr id="4" name="Text 1"/>
          <p:cNvSpPr/>
          <p:nvPr/>
        </p:nvSpPr>
        <p:spPr>
          <a:xfrm>
            <a:off x="793790" y="3144710"/>
            <a:ext cx="7556421" cy="362903"/>
          </a:xfrm>
          <a:prstGeom prst="rect">
            <a:avLst/>
          </a:prstGeom>
          <a:noFill/>
          <a:ln/>
        </p:spPr>
        <p:txBody>
          <a:bodyPr wrap="none" lIns="0" tIns="0" rIns="0" bIns="0" rtlCol="0" anchor="t"/>
          <a:lstStyle/>
          <a:p>
            <a:pPr marL="0" indent="0" algn="l">
              <a:lnSpc>
                <a:spcPts val="2850"/>
              </a:lnSpc>
              <a:buNone/>
            </a:pPr>
            <a:r>
              <a:rPr lang="en-US" sz="1600" dirty="0">
                <a:latin typeface="Lato" pitchFamily="34" charset="0"/>
                <a:ea typeface="Lato" pitchFamily="34" charset="-122"/>
                <a:cs typeface="Lato" pitchFamily="34" charset="-120"/>
              </a:rPr>
              <a:t>Research Proposal - Group R26-SE-022</a:t>
            </a:r>
            <a:endParaRPr lang="en-US" sz="1600" dirty="0"/>
          </a:p>
        </p:txBody>
      </p:sp>
      <p:sp>
        <p:nvSpPr>
          <p:cNvPr id="5" name="Text 2"/>
          <p:cNvSpPr/>
          <p:nvPr/>
        </p:nvSpPr>
        <p:spPr>
          <a:xfrm>
            <a:off x="793790" y="3606899"/>
            <a:ext cx="7556421" cy="362903"/>
          </a:xfrm>
          <a:prstGeom prst="rect">
            <a:avLst/>
          </a:prstGeom>
          <a:noFill/>
          <a:ln/>
        </p:spPr>
        <p:txBody>
          <a:bodyPr wrap="none" lIns="0" tIns="0" rIns="0" bIns="0" rtlCol="0" anchor="t"/>
          <a:lstStyle/>
          <a:p>
            <a:pPr marL="0" indent="0" algn="l">
              <a:lnSpc>
                <a:spcPts val="2850"/>
              </a:lnSpc>
              <a:buNone/>
            </a:pPr>
            <a:r>
              <a:rPr lang="en-US" sz="1600" dirty="0">
                <a:latin typeface="Lato" pitchFamily="34" charset="0"/>
                <a:ea typeface="Lato" pitchFamily="34" charset="-122"/>
                <a:cs typeface="Lato" pitchFamily="34" charset="-120"/>
              </a:rPr>
              <a:t>Sri Lanka Institute of Information Technology (SLIIT)</a:t>
            </a:r>
            <a:endParaRPr lang="en-US" sz="1600" dirty="0"/>
          </a:p>
        </p:txBody>
      </p:sp>
      <p:sp>
        <p:nvSpPr>
          <p:cNvPr id="6" name="Shape 3"/>
          <p:cNvSpPr/>
          <p:nvPr/>
        </p:nvSpPr>
        <p:spPr>
          <a:xfrm>
            <a:off x="793790" y="4214561"/>
            <a:ext cx="7556421" cy="1367909"/>
          </a:xfrm>
          <a:prstGeom prst="roundRect">
            <a:avLst>
              <a:gd name="adj" fmla="val 2487"/>
            </a:avLst>
          </a:prstGeom>
          <a:solidFill>
            <a:srgbClr val="EFECE6"/>
          </a:solidFill>
          <a:ln w="30480">
            <a:solidFill>
              <a:srgbClr val="CBC5B8"/>
            </a:solidFill>
            <a:prstDash val="solid"/>
          </a:ln>
        </p:spPr>
        <p:txBody>
          <a:bodyPr/>
          <a:lstStyle/>
          <a:p>
            <a:endParaRPr lang="en-US"/>
          </a:p>
        </p:txBody>
      </p:sp>
      <p:sp>
        <p:nvSpPr>
          <p:cNvPr id="7" name="Text 4"/>
          <p:cNvSpPr/>
          <p:nvPr/>
        </p:nvSpPr>
        <p:spPr>
          <a:xfrm>
            <a:off x="1051084" y="4471855"/>
            <a:ext cx="2835235" cy="354330"/>
          </a:xfrm>
          <a:prstGeom prst="rect">
            <a:avLst/>
          </a:prstGeom>
          <a:noFill/>
          <a:ln/>
        </p:spPr>
        <p:txBody>
          <a:bodyPr wrap="none" lIns="0" tIns="0" rIns="0" bIns="0" rtlCol="0" anchor="t"/>
          <a:lstStyle/>
          <a:p>
            <a:pPr marL="0" indent="0" algn="l">
              <a:lnSpc>
                <a:spcPts val="2750"/>
              </a:lnSpc>
              <a:buNone/>
            </a:pPr>
            <a:r>
              <a:rPr lang="en-US" sz="2200" b="1" dirty="0">
                <a:latin typeface="Lato Bold" pitchFamily="34" charset="0"/>
                <a:ea typeface="Lato Bold" pitchFamily="34" charset="-122"/>
                <a:cs typeface="Lato Bold" pitchFamily="34" charset="-120"/>
              </a:rPr>
              <a:t>Presentation</a:t>
            </a:r>
            <a:endParaRPr lang="en-US" sz="2200" dirty="0"/>
          </a:p>
        </p:txBody>
      </p:sp>
      <p:sp>
        <p:nvSpPr>
          <p:cNvPr id="8" name="Text 5"/>
          <p:cNvSpPr/>
          <p:nvPr/>
        </p:nvSpPr>
        <p:spPr>
          <a:xfrm>
            <a:off x="1051084" y="4962274"/>
            <a:ext cx="7041832" cy="362903"/>
          </a:xfrm>
          <a:prstGeom prst="rect">
            <a:avLst/>
          </a:prstGeom>
          <a:noFill/>
          <a:ln/>
        </p:spPr>
        <p:txBody>
          <a:bodyPr wrap="none" lIns="0" tIns="0" rIns="0" bIns="0" rtlCol="0" anchor="t"/>
          <a:lstStyle/>
          <a:p>
            <a:pPr marL="0" indent="0" algn="l">
              <a:lnSpc>
                <a:spcPts val="2850"/>
              </a:lnSpc>
              <a:buNone/>
            </a:pPr>
            <a:r>
              <a:rPr lang="en-US" sz="1600" dirty="0">
                <a:latin typeface="Lato" pitchFamily="34" charset="0"/>
                <a:ea typeface="Lato" pitchFamily="34" charset="-122"/>
                <a:cs typeface="Lato" pitchFamily="34" charset="-120"/>
              </a:rPr>
              <a:t>Supervisor &amp; Co‑Supervisor overview</a:t>
            </a:r>
            <a:endParaRPr lang="en-US" sz="1600" dirty="0"/>
          </a:p>
        </p:txBody>
      </p:sp>
      <p:sp>
        <p:nvSpPr>
          <p:cNvPr id="9" name="Shape 6"/>
          <p:cNvSpPr/>
          <p:nvPr/>
        </p:nvSpPr>
        <p:spPr>
          <a:xfrm>
            <a:off x="793790" y="5798893"/>
            <a:ext cx="7556421" cy="2025462"/>
          </a:xfrm>
          <a:prstGeom prst="roundRect">
            <a:avLst>
              <a:gd name="adj" fmla="val 2487"/>
            </a:avLst>
          </a:prstGeom>
          <a:solidFill>
            <a:srgbClr val="EFECE6"/>
          </a:solidFill>
          <a:ln w="30480">
            <a:solidFill>
              <a:srgbClr val="CBC5B8"/>
            </a:solidFill>
            <a:prstDash val="solid"/>
          </a:ln>
        </p:spPr>
        <p:txBody>
          <a:bodyPr/>
          <a:lstStyle/>
          <a:p>
            <a:endParaRPr lang="en-US"/>
          </a:p>
        </p:txBody>
      </p:sp>
      <p:sp>
        <p:nvSpPr>
          <p:cNvPr id="10" name="Text 7"/>
          <p:cNvSpPr/>
          <p:nvPr/>
        </p:nvSpPr>
        <p:spPr>
          <a:xfrm>
            <a:off x="1051084" y="6056187"/>
            <a:ext cx="2835235" cy="354330"/>
          </a:xfrm>
          <a:prstGeom prst="rect">
            <a:avLst/>
          </a:prstGeom>
          <a:noFill/>
          <a:ln/>
        </p:spPr>
        <p:txBody>
          <a:bodyPr wrap="none" lIns="0" tIns="0" rIns="0" bIns="0" rtlCol="0" anchor="t"/>
          <a:lstStyle/>
          <a:p>
            <a:pPr marL="0" indent="0" algn="l">
              <a:lnSpc>
                <a:spcPts val="2750"/>
              </a:lnSpc>
              <a:buNone/>
            </a:pPr>
            <a:r>
              <a:rPr lang="en-US" sz="2200" b="1" dirty="0">
                <a:latin typeface="Lato Bold" pitchFamily="34" charset="0"/>
                <a:ea typeface="Lato Bold" pitchFamily="34" charset="-122"/>
                <a:cs typeface="Lato Bold" pitchFamily="34" charset="-120"/>
              </a:rPr>
              <a:t>Focus</a:t>
            </a:r>
            <a:endParaRPr lang="en-US" sz="2200" dirty="0"/>
          </a:p>
        </p:txBody>
      </p:sp>
      <p:sp>
        <p:nvSpPr>
          <p:cNvPr id="13" name="TextBox 12">
            <a:extLst>
              <a:ext uri="{FF2B5EF4-FFF2-40B4-BE49-F238E27FC236}">
                <a16:creationId xmlns:a16="http://schemas.microsoft.com/office/drawing/2014/main" id="{948764EA-7042-0EAB-877B-C59DFB3D08EF}"/>
              </a:ext>
            </a:extLst>
          </p:cNvPr>
          <p:cNvSpPr txBox="1"/>
          <p:nvPr/>
        </p:nvSpPr>
        <p:spPr>
          <a:xfrm>
            <a:off x="945573" y="6523877"/>
            <a:ext cx="7315200" cy="795089"/>
          </a:xfrm>
          <a:prstGeom prst="rect">
            <a:avLst/>
          </a:prstGeom>
          <a:noFill/>
        </p:spPr>
        <p:txBody>
          <a:bodyPr wrap="square">
            <a:spAutoFit/>
          </a:bodyPr>
          <a:lstStyle/>
          <a:p>
            <a:pPr marL="0" indent="0" algn="l">
              <a:lnSpc>
                <a:spcPts val="2850"/>
              </a:lnSpc>
              <a:buNone/>
            </a:pPr>
            <a:r>
              <a:rPr lang="en-US" sz="1600" dirty="0">
                <a:latin typeface="Lato" pitchFamily="34" charset="0"/>
                <a:ea typeface="Lato" pitchFamily="34" charset="-122"/>
                <a:cs typeface="Lato" pitchFamily="34" charset="-120"/>
              </a:rPr>
              <a:t>Confidence‑aware tutoring + Learning‑objective summarization + Attention-Aware Emotion Detection + Emotion-Aware Adaptive Study Reminder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86765"/>
            <a:ext cx="5670590" cy="708779"/>
          </a:xfrm>
          <a:prstGeom prst="rect">
            <a:avLst/>
          </a:prstGeom>
          <a:noFill/>
          <a:ln/>
        </p:spPr>
        <p:txBody>
          <a:bodyPr wrap="none" lIns="0" tIns="0" rIns="0" bIns="0" rtlCol="0" anchor="t"/>
          <a:lstStyle/>
          <a:p>
            <a:pPr marL="0" marR="0" lvl="0" indent="0" algn="l" defTabSz="914400" rtl="0" eaLnBrk="1" fontAlgn="auto" latinLnBrk="0" hangingPunct="1">
              <a:lnSpc>
                <a:spcPts val="5550"/>
              </a:lnSpc>
              <a:spcBef>
                <a:spcPts val="0"/>
              </a:spcBef>
              <a:spcAft>
                <a:spcPts val="0"/>
              </a:spcAft>
              <a:buClrTx/>
              <a:buSzTx/>
              <a:buFontTx/>
              <a:buNone/>
              <a:tabLst/>
              <a:defRPr/>
            </a:pPr>
            <a:r>
              <a:rPr kumimoji="0" lang="en-US" sz="3800" b="1" i="0" u="none" strike="noStrike" kern="1200" cap="none" spc="0" normalizeH="0" baseline="0" noProof="0" dirty="0">
                <a:ln>
                  <a:noFill/>
                </a:ln>
                <a:effectLst/>
                <a:uLnTx/>
                <a:uFillTx/>
                <a:latin typeface="Lato Bold" pitchFamily="34" charset="0"/>
                <a:ea typeface="Lato Bold" pitchFamily="34" charset="-122"/>
                <a:cs typeface="Lato Bold" pitchFamily="34" charset="-120"/>
              </a:rPr>
              <a:t>Group Details</a:t>
            </a:r>
            <a:endParaRPr kumimoji="0" lang="en-US" sz="3800" b="0" i="0" u="none" strike="noStrike" kern="1200" cap="none" spc="0" normalizeH="0" baseline="0" noProof="0" dirty="0">
              <a:ln>
                <a:noFill/>
              </a:ln>
              <a:effectLst/>
              <a:uLnTx/>
              <a:uFillTx/>
              <a:latin typeface="Calibri" panose="020F0502020204030204"/>
              <a:ea typeface="+mn-ea"/>
              <a:cs typeface="+mn-cs"/>
            </a:endParaRPr>
          </a:p>
        </p:txBody>
      </p:sp>
      <p:pic>
        <p:nvPicPr>
          <p:cNvPr id="3" name="Image 0"/>
          <p:cNvPicPr>
            <a:picLocks noChangeAspect="1"/>
          </p:cNvPicPr>
          <p:nvPr/>
        </p:nvPicPr>
        <p:blipFill>
          <a:blip r:embed="rId3"/>
          <a:srcRect/>
          <a:stretch/>
        </p:blipFill>
        <p:spPr>
          <a:xfrm>
            <a:off x="801410" y="2740782"/>
            <a:ext cx="3120747" cy="2078852"/>
          </a:xfrm>
          <a:prstGeom prst="rect">
            <a:avLst/>
          </a:prstGeom>
        </p:spPr>
      </p:pic>
      <p:pic>
        <p:nvPicPr>
          <p:cNvPr id="4" name="Image 1"/>
          <p:cNvPicPr>
            <a:picLocks noChangeAspect="1"/>
          </p:cNvPicPr>
          <p:nvPr/>
        </p:nvPicPr>
        <p:blipFill>
          <a:blip r:embed="rId4"/>
          <a:srcRect/>
          <a:stretch/>
        </p:blipFill>
        <p:spPr>
          <a:xfrm>
            <a:off x="4287188" y="1721067"/>
            <a:ext cx="2753705" cy="3120866"/>
          </a:xfrm>
          <a:prstGeom prst="rect">
            <a:avLst/>
          </a:prstGeom>
        </p:spPr>
      </p:pic>
      <p:pic>
        <p:nvPicPr>
          <p:cNvPr id="5" name="Image 2"/>
          <p:cNvPicPr>
            <a:picLocks noChangeAspect="1"/>
          </p:cNvPicPr>
          <p:nvPr/>
        </p:nvPicPr>
        <p:blipFill>
          <a:blip r:embed="rId5"/>
          <a:srcRect/>
          <a:stretch/>
        </p:blipFill>
        <p:spPr>
          <a:xfrm>
            <a:off x="7827649" y="1721067"/>
            <a:ext cx="2277301" cy="3120747"/>
          </a:xfrm>
          <a:prstGeom prst="rect">
            <a:avLst/>
          </a:prstGeom>
        </p:spPr>
      </p:pic>
      <p:pic>
        <p:nvPicPr>
          <p:cNvPr id="6" name="Image 3"/>
          <p:cNvPicPr>
            <a:picLocks noChangeAspect="1"/>
          </p:cNvPicPr>
          <p:nvPr/>
        </p:nvPicPr>
        <p:blipFill>
          <a:blip r:embed="rId6"/>
          <a:srcRect/>
          <a:stretch/>
        </p:blipFill>
        <p:spPr>
          <a:xfrm>
            <a:off x="10718719" y="1721067"/>
            <a:ext cx="3099676" cy="3120866"/>
          </a:xfrm>
          <a:prstGeom prst="rect">
            <a:avLst/>
          </a:prstGeom>
        </p:spPr>
      </p:pic>
      <p:grpSp>
        <p:nvGrpSpPr>
          <p:cNvPr id="25" name="Group 24">
            <a:extLst>
              <a:ext uri="{FF2B5EF4-FFF2-40B4-BE49-F238E27FC236}">
                <a16:creationId xmlns:a16="http://schemas.microsoft.com/office/drawing/2014/main" id="{7DAB4C50-4A84-60CE-3029-B2A4D37F11B3}"/>
              </a:ext>
            </a:extLst>
          </p:cNvPr>
          <p:cNvGrpSpPr/>
          <p:nvPr/>
        </p:nvGrpSpPr>
        <p:grpSpPr>
          <a:xfrm>
            <a:off x="793791" y="5243055"/>
            <a:ext cx="3128366" cy="838045"/>
            <a:chOff x="793791" y="5243055"/>
            <a:chExt cx="3128366" cy="838045"/>
          </a:xfrm>
        </p:grpSpPr>
        <p:sp>
          <p:nvSpPr>
            <p:cNvPr id="8" name="Text 1"/>
            <p:cNvSpPr/>
            <p:nvPr/>
          </p:nvSpPr>
          <p:spPr>
            <a:xfrm>
              <a:off x="793791" y="5243055"/>
              <a:ext cx="3128366" cy="476983"/>
            </a:xfrm>
            <a:prstGeom prst="rect">
              <a:avLst/>
            </a:prstGeom>
            <a:noFill/>
            <a:ln/>
          </p:spPr>
          <p:txBody>
            <a:bodyPr wrap="square" lIns="0" tIns="0" rIns="0" bIns="0" rtlCol="0" anchor="t"/>
            <a:lstStyle/>
            <a:p>
              <a:pPr marL="0" marR="0" lvl="0" indent="0" algn="l" defTabSz="914400" rtl="0" eaLnBrk="1" fontAlgn="auto" latinLnBrk="0" hangingPunct="1">
                <a:lnSpc>
                  <a:spcPts val="2750"/>
                </a:lnSpc>
                <a:spcBef>
                  <a:spcPts val="0"/>
                </a:spcBef>
                <a:spcAft>
                  <a:spcPts val="0"/>
                </a:spcAft>
                <a:buClrTx/>
                <a:buSzTx/>
                <a:buFontTx/>
                <a:buNone/>
                <a:tabLst/>
                <a:defRPr/>
              </a:pPr>
              <a:r>
                <a:rPr kumimoji="0" lang="en-US" sz="2200" b="1" i="0" u="none" strike="noStrike" kern="1200" cap="none" spc="0" normalizeH="0" baseline="0" noProof="0" dirty="0">
                  <a:ln>
                    <a:noFill/>
                  </a:ln>
                  <a:effectLst/>
                  <a:uLnTx/>
                  <a:uFillTx/>
                  <a:latin typeface="Lato Bold" pitchFamily="34" charset="0"/>
                  <a:ea typeface="Lato Bold" pitchFamily="34" charset="-122"/>
                  <a:cs typeface="Lato Bold" pitchFamily="34" charset="-120"/>
                </a:rPr>
                <a:t>I.H. Sonal Dilmith</a:t>
              </a:r>
              <a:endParaRPr kumimoji="0" lang="en-US" sz="2200" b="0" i="0" u="none" strike="noStrike" kern="1200" cap="none" spc="0" normalizeH="0" baseline="0" noProof="0" dirty="0">
                <a:ln>
                  <a:noFill/>
                </a:ln>
                <a:effectLst/>
                <a:uLnTx/>
                <a:uFillTx/>
                <a:latin typeface="Calibri" panose="020F0502020204030204"/>
                <a:ea typeface="+mn-ea"/>
                <a:cs typeface="+mn-cs"/>
              </a:endParaRPr>
            </a:p>
          </p:txBody>
        </p:sp>
        <p:sp>
          <p:nvSpPr>
            <p:cNvPr id="9" name="Text 2"/>
            <p:cNvSpPr/>
            <p:nvPr/>
          </p:nvSpPr>
          <p:spPr>
            <a:xfrm>
              <a:off x="801410" y="5718197"/>
              <a:ext cx="2093952" cy="362903"/>
            </a:xfrm>
            <a:prstGeom prst="rect">
              <a:avLst/>
            </a:prstGeom>
            <a:noFill/>
            <a:ln/>
          </p:spPr>
          <p:txBody>
            <a:bodyPr wrap="non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tabLst/>
                <a:defRPr/>
              </a:pPr>
              <a:r>
                <a:rPr kumimoji="0" lang="en-US" sz="1750" b="0" i="0" u="none" strike="noStrike" kern="1200" cap="none" spc="0" normalizeH="0" baseline="0" noProof="0" dirty="0">
                  <a:ln>
                    <a:noFill/>
                  </a:ln>
                  <a:effectLst/>
                  <a:uLnTx/>
                  <a:uFillTx/>
                  <a:latin typeface="Lato" pitchFamily="34" charset="0"/>
                  <a:ea typeface="Lato" pitchFamily="34" charset="-122"/>
                  <a:cs typeface="Lato" pitchFamily="34" charset="-120"/>
                </a:rPr>
                <a:t>IT22120120</a:t>
              </a:r>
              <a:endParaRPr kumimoji="0" lang="en-US" sz="1750" b="0" i="0" u="none" strike="noStrike" kern="1200" cap="none" spc="0" normalizeH="0" baseline="0" noProof="0" dirty="0">
                <a:ln>
                  <a:noFill/>
                </a:ln>
                <a:effectLst/>
                <a:uLnTx/>
                <a:uFillTx/>
                <a:latin typeface="Calibri" panose="020F0502020204030204"/>
                <a:ea typeface="+mn-ea"/>
                <a:cs typeface="+mn-cs"/>
              </a:endParaRPr>
            </a:p>
          </p:txBody>
        </p:sp>
      </p:grpSp>
      <p:grpSp>
        <p:nvGrpSpPr>
          <p:cNvPr id="22" name="Group 21">
            <a:extLst>
              <a:ext uri="{FF2B5EF4-FFF2-40B4-BE49-F238E27FC236}">
                <a16:creationId xmlns:a16="http://schemas.microsoft.com/office/drawing/2014/main" id="{C62213D8-5AC1-34C5-5513-48BAB68DEE5F}"/>
              </a:ext>
            </a:extLst>
          </p:cNvPr>
          <p:cNvGrpSpPr/>
          <p:nvPr/>
        </p:nvGrpSpPr>
        <p:grpSpPr>
          <a:xfrm>
            <a:off x="4103608" y="5243055"/>
            <a:ext cx="3069789" cy="834957"/>
            <a:chOff x="4103608" y="5243055"/>
            <a:chExt cx="3069789" cy="834957"/>
          </a:xfrm>
        </p:grpSpPr>
        <p:sp>
          <p:nvSpPr>
            <p:cNvPr id="11" name="Text 3"/>
            <p:cNvSpPr/>
            <p:nvPr/>
          </p:nvSpPr>
          <p:spPr>
            <a:xfrm>
              <a:off x="4103609" y="5243055"/>
              <a:ext cx="3069788" cy="490418"/>
            </a:xfrm>
            <a:prstGeom prst="rect">
              <a:avLst/>
            </a:prstGeom>
            <a:noFill/>
            <a:ln/>
          </p:spPr>
          <p:txBody>
            <a:bodyPr wrap="square" lIns="0" tIns="0" rIns="0" bIns="0" rtlCol="0" anchor="t"/>
            <a:lstStyle/>
            <a:p>
              <a:pPr marL="0" marR="0" lvl="0" indent="0" algn="l" defTabSz="914400" rtl="0" eaLnBrk="1" fontAlgn="auto" latinLnBrk="0" hangingPunct="1">
                <a:lnSpc>
                  <a:spcPts val="2750"/>
                </a:lnSpc>
                <a:spcBef>
                  <a:spcPts val="0"/>
                </a:spcBef>
                <a:spcAft>
                  <a:spcPts val="0"/>
                </a:spcAft>
                <a:buClrTx/>
                <a:buSzTx/>
                <a:buFontTx/>
                <a:buNone/>
                <a:tabLst/>
                <a:defRPr/>
              </a:pPr>
              <a:r>
                <a:rPr kumimoji="0" lang="en-US" sz="2200" b="1" i="0" u="none" strike="noStrike" kern="1200" cap="none" spc="0" normalizeH="0" baseline="0" noProof="0" dirty="0">
                  <a:ln>
                    <a:noFill/>
                  </a:ln>
                  <a:effectLst/>
                  <a:uLnTx/>
                  <a:uFillTx/>
                  <a:latin typeface="Lato Bold" pitchFamily="34" charset="0"/>
                  <a:ea typeface="Lato Bold" pitchFamily="34" charset="-122"/>
                  <a:cs typeface="Lato Bold" pitchFamily="34" charset="-120"/>
                </a:rPr>
                <a:t>T.G.K.G. Vijithapala</a:t>
              </a:r>
              <a:endParaRPr kumimoji="0" lang="en-US" sz="2200" b="0" i="0" u="none" strike="noStrike" kern="1200" cap="none" spc="0" normalizeH="0" baseline="0" noProof="0" dirty="0">
                <a:ln>
                  <a:noFill/>
                </a:ln>
                <a:effectLst/>
                <a:uLnTx/>
                <a:uFillTx/>
                <a:latin typeface="Calibri" panose="020F0502020204030204"/>
                <a:ea typeface="+mn-ea"/>
                <a:cs typeface="+mn-cs"/>
              </a:endParaRPr>
            </a:p>
          </p:txBody>
        </p:sp>
        <p:sp>
          <p:nvSpPr>
            <p:cNvPr id="12" name="Text 4"/>
            <p:cNvSpPr/>
            <p:nvPr/>
          </p:nvSpPr>
          <p:spPr>
            <a:xfrm>
              <a:off x="4103608" y="5715109"/>
              <a:ext cx="2094071" cy="362903"/>
            </a:xfrm>
            <a:prstGeom prst="rect">
              <a:avLst/>
            </a:prstGeom>
            <a:noFill/>
            <a:ln/>
          </p:spPr>
          <p:txBody>
            <a:bodyPr wrap="non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tabLst/>
                <a:defRPr/>
              </a:pPr>
              <a:r>
                <a:rPr kumimoji="0" lang="en-US" sz="1750" b="0" i="0" u="none" strike="noStrike" kern="1200" cap="none" spc="0" normalizeH="0" baseline="0" noProof="0" dirty="0">
                  <a:ln>
                    <a:noFill/>
                  </a:ln>
                  <a:effectLst/>
                  <a:uLnTx/>
                  <a:uFillTx/>
                  <a:latin typeface="Lato" pitchFamily="34" charset="0"/>
                  <a:ea typeface="Lato" pitchFamily="34" charset="-122"/>
                  <a:cs typeface="Lato" pitchFamily="34" charset="-120"/>
                </a:rPr>
                <a:t>IT22187178</a:t>
              </a:r>
              <a:endParaRPr kumimoji="0" lang="en-US" sz="1750" b="0" i="0" u="none" strike="noStrike" kern="1200" cap="none" spc="0" normalizeH="0" baseline="0" noProof="0" dirty="0">
                <a:ln>
                  <a:noFill/>
                </a:ln>
                <a:effectLst/>
                <a:uLnTx/>
                <a:uFillTx/>
                <a:latin typeface="Calibri" panose="020F0502020204030204"/>
                <a:ea typeface="+mn-ea"/>
                <a:cs typeface="+mn-cs"/>
              </a:endParaRPr>
            </a:p>
          </p:txBody>
        </p:sp>
      </p:grpSp>
      <p:grpSp>
        <p:nvGrpSpPr>
          <p:cNvPr id="23" name="Group 22">
            <a:extLst>
              <a:ext uri="{FF2B5EF4-FFF2-40B4-BE49-F238E27FC236}">
                <a16:creationId xmlns:a16="http://schemas.microsoft.com/office/drawing/2014/main" id="{8D61CB3C-FD21-2292-540E-FDA64F73B305}"/>
              </a:ext>
            </a:extLst>
          </p:cNvPr>
          <p:cNvGrpSpPr/>
          <p:nvPr/>
        </p:nvGrpSpPr>
        <p:grpSpPr>
          <a:xfrm>
            <a:off x="7405926" y="5243055"/>
            <a:ext cx="3099077" cy="844139"/>
            <a:chOff x="7405926" y="5243055"/>
            <a:chExt cx="3099077" cy="844139"/>
          </a:xfrm>
        </p:grpSpPr>
        <p:sp>
          <p:nvSpPr>
            <p:cNvPr id="14" name="Text 5"/>
            <p:cNvSpPr/>
            <p:nvPr/>
          </p:nvSpPr>
          <p:spPr>
            <a:xfrm>
              <a:off x="7405926" y="5243055"/>
              <a:ext cx="3099077" cy="354330"/>
            </a:xfrm>
            <a:prstGeom prst="rect">
              <a:avLst/>
            </a:prstGeom>
            <a:noFill/>
            <a:ln/>
          </p:spPr>
          <p:txBody>
            <a:bodyPr wrap="none" lIns="0" tIns="0" rIns="0" bIns="0" rtlCol="0" anchor="t"/>
            <a:lstStyle/>
            <a:p>
              <a:pPr marL="0" marR="0" lvl="0" indent="0" algn="l" defTabSz="914400" rtl="0" eaLnBrk="1" fontAlgn="auto" latinLnBrk="0" hangingPunct="1">
                <a:lnSpc>
                  <a:spcPts val="2750"/>
                </a:lnSpc>
                <a:spcBef>
                  <a:spcPts val="0"/>
                </a:spcBef>
                <a:spcAft>
                  <a:spcPts val="0"/>
                </a:spcAft>
                <a:buClrTx/>
                <a:buSzTx/>
                <a:buFontTx/>
                <a:buNone/>
                <a:tabLst/>
                <a:defRPr/>
              </a:pPr>
              <a:r>
                <a:rPr kumimoji="0" lang="en-US" sz="2200" b="1" i="0" u="none" strike="noStrike" kern="1200" cap="none" spc="0" normalizeH="0" baseline="0" noProof="0" dirty="0">
                  <a:ln>
                    <a:noFill/>
                  </a:ln>
                  <a:effectLst/>
                  <a:uLnTx/>
                  <a:uFillTx/>
                  <a:latin typeface="Lato Bold" pitchFamily="34" charset="0"/>
                  <a:ea typeface="Lato Bold" pitchFamily="34" charset="-122"/>
                  <a:cs typeface="Lato Bold" pitchFamily="34" charset="-120"/>
                </a:rPr>
                <a:t>K.K.G.Y. Mihiraj</a:t>
              </a:r>
              <a:endParaRPr kumimoji="0" lang="en-US" sz="2200" b="0" i="0" u="none" strike="noStrike" kern="1200" cap="none" spc="0" normalizeH="0" baseline="0" noProof="0" dirty="0">
                <a:ln>
                  <a:noFill/>
                </a:ln>
                <a:effectLst/>
                <a:uLnTx/>
                <a:uFillTx/>
                <a:latin typeface="Calibri" panose="020F0502020204030204"/>
                <a:ea typeface="+mn-ea"/>
                <a:cs typeface="+mn-cs"/>
              </a:endParaRPr>
            </a:p>
          </p:txBody>
        </p:sp>
        <p:sp>
          <p:nvSpPr>
            <p:cNvPr id="15" name="Text 6"/>
            <p:cNvSpPr/>
            <p:nvPr/>
          </p:nvSpPr>
          <p:spPr>
            <a:xfrm>
              <a:off x="7425224" y="5724291"/>
              <a:ext cx="2094071" cy="362903"/>
            </a:xfrm>
            <a:prstGeom prst="rect">
              <a:avLst/>
            </a:prstGeom>
            <a:noFill/>
            <a:ln/>
          </p:spPr>
          <p:txBody>
            <a:bodyPr wrap="non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tabLst/>
                <a:defRPr/>
              </a:pPr>
              <a:r>
                <a:rPr kumimoji="0" lang="en-US" sz="1750" b="0" i="0" u="none" strike="noStrike" kern="1200" cap="none" spc="0" normalizeH="0" baseline="0" noProof="0" dirty="0">
                  <a:ln>
                    <a:noFill/>
                  </a:ln>
                  <a:effectLst/>
                  <a:uLnTx/>
                  <a:uFillTx/>
                  <a:latin typeface="Lato" pitchFamily="34" charset="0"/>
                  <a:ea typeface="Lato" pitchFamily="34" charset="-122"/>
                  <a:cs typeface="Lato" pitchFamily="34" charset="-120"/>
                </a:rPr>
                <a:t>IT22224552</a:t>
              </a:r>
              <a:endParaRPr kumimoji="0" lang="en-US" sz="1750" b="0" i="0" u="none" strike="noStrike" kern="1200" cap="none" spc="0" normalizeH="0" baseline="0" noProof="0" dirty="0">
                <a:ln>
                  <a:noFill/>
                </a:ln>
                <a:effectLst/>
                <a:uLnTx/>
                <a:uFillTx/>
                <a:latin typeface="Calibri" panose="020F0502020204030204"/>
                <a:ea typeface="+mn-ea"/>
                <a:cs typeface="+mn-cs"/>
              </a:endParaRPr>
            </a:p>
          </p:txBody>
        </p:sp>
      </p:grpSp>
      <p:grpSp>
        <p:nvGrpSpPr>
          <p:cNvPr id="24" name="Group 23">
            <a:extLst>
              <a:ext uri="{FF2B5EF4-FFF2-40B4-BE49-F238E27FC236}">
                <a16:creationId xmlns:a16="http://schemas.microsoft.com/office/drawing/2014/main" id="{683FC91E-0BFE-825B-07D0-EEDFE16500F2}"/>
              </a:ext>
            </a:extLst>
          </p:cNvPr>
          <p:cNvGrpSpPr/>
          <p:nvPr/>
        </p:nvGrpSpPr>
        <p:grpSpPr>
          <a:xfrm>
            <a:off x="10708125" y="5243055"/>
            <a:ext cx="3128486" cy="833087"/>
            <a:chOff x="10708125" y="5243055"/>
            <a:chExt cx="3128486" cy="833087"/>
          </a:xfrm>
        </p:grpSpPr>
        <p:sp>
          <p:nvSpPr>
            <p:cNvPr id="17" name="Text 7"/>
            <p:cNvSpPr/>
            <p:nvPr/>
          </p:nvSpPr>
          <p:spPr>
            <a:xfrm>
              <a:off x="10708125" y="5243055"/>
              <a:ext cx="3128486" cy="472054"/>
            </a:xfrm>
            <a:prstGeom prst="rect">
              <a:avLst/>
            </a:prstGeom>
            <a:noFill/>
            <a:ln/>
          </p:spPr>
          <p:txBody>
            <a:bodyPr wrap="square" lIns="0" tIns="0" rIns="0" bIns="0" rtlCol="0" anchor="t"/>
            <a:lstStyle/>
            <a:p>
              <a:pPr marL="0" marR="0" lvl="0" indent="0" algn="l" defTabSz="914400" rtl="0" eaLnBrk="1" fontAlgn="auto" latinLnBrk="0" hangingPunct="1">
                <a:lnSpc>
                  <a:spcPts val="2750"/>
                </a:lnSpc>
                <a:spcBef>
                  <a:spcPts val="0"/>
                </a:spcBef>
                <a:spcAft>
                  <a:spcPts val="0"/>
                </a:spcAft>
                <a:buClrTx/>
                <a:buSzTx/>
                <a:buFontTx/>
                <a:buNone/>
                <a:tabLst/>
                <a:defRPr/>
              </a:pPr>
              <a:r>
                <a:rPr kumimoji="0" lang="en-US" sz="2200" b="1" i="0" u="none" strike="noStrike" kern="1200" cap="none" spc="0" normalizeH="0" baseline="0" noProof="0" dirty="0">
                  <a:ln>
                    <a:noFill/>
                  </a:ln>
                  <a:effectLst/>
                  <a:uLnTx/>
                  <a:uFillTx/>
                  <a:latin typeface="Lato Bold" pitchFamily="34" charset="0"/>
                  <a:ea typeface="Lato Bold" pitchFamily="34" charset="-122"/>
                  <a:cs typeface="Lato Bold" pitchFamily="34" charset="-120"/>
                </a:rPr>
                <a:t>W.H.H. Thathsara</a:t>
              </a:r>
              <a:endParaRPr kumimoji="0" lang="en-US" sz="2200" b="0" i="0" u="none" strike="noStrike" kern="1200" cap="none" spc="0" normalizeH="0" baseline="0" noProof="0" dirty="0">
                <a:ln>
                  <a:noFill/>
                </a:ln>
                <a:effectLst/>
                <a:uLnTx/>
                <a:uFillTx/>
                <a:latin typeface="Calibri" panose="020F0502020204030204"/>
                <a:ea typeface="+mn-ea"/>
                <a:cs typeface="+mn-cs"/>
              </a:endParaRPr>
            </a:p>
          </p:txBody>
        </p:sp>
        <p:sp>
          <p:nvSpPr>
            <p:cNvPr id="18" name="Text 8"/>
            <p:cNvSpPr/>
            <p:nvPr/>
          </p:nvSpPr>
          <p:spPr>
            <a:xfrm>
              <a:off x="10717150" y="5713239"/>
              <a:ext cx="2094071" cy="362903"/>
            </a:xfrm>
            <a:prstGeom prst="rect">
              <a:avLst/>
            </a:prstGeom>
            <a:noFill/>
            <a:ln/>
          </p:spPr>
          <p:txBody>
            <a:bodyPr wrap="non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tabLst/>
                <a:defRPr/>
              </a:pPr>
              <a:r>
                <a:rPr kumimoji="0" lang="en-US" sz="1750" b="0" i="0" u="none" strike="noStrike" kern="1200" cap="none" spc="0" normalizeH="0" baseline="0" noProof="0" dirty="0">
                  <a:ln>
                    <a:noFill/>
                  </a:ln>
                  <a:effectLst/>
                  <a:uLnTx/>
                  <a:uFillTx/>
                  <a:latin typeface="Lato" pitchFamily="34" charset="0"/>
                  <a:ea typeface="Lato" pitchFamily="34" charset="-122"/>
                  <a:cs typeface="Lato" pitchFamily="34" charset="-120"/>
                </a:rPr>
                <a:t>IT22371690</a:t>
              </a:r>
              <a:endParaRPr kumimoji="0" lang="en-US" sz="1750" b="0" i="0" u="none" strike="noStrike" kern="1200" cap="none" spc="0" normalizeH="0" baseline="0" noProof="0" dirty="0">
                <a:ln>
                  <a:noFill/>
                </a:ln>
                <a:effectLst/>
                <a:uLnTx/>
                <a:uFillTx/>
                <a:latin typeface="Calibri" panose="020F0502020204030204"/>
                <a:ea typeface="+mn-ea"/>
                <a:cs typeface="+mn-cs"/>
              </a:endParaRPr>
            </a:p>
          </p:txBody>
        </p:sp>
      </p:grpSp>
      <p:sp>
        <p:nvSpPr>
          <p:cNvPr id="19" name="Text 9"/>
          <p:cNvSpPr/>
          <p:nvPr/>
        </p:nvSpPr>
        <p:spPr>
          <a:xfrm>
            <a:off x="7812822" y="6638810"/>
            <a:ext cx="2094071" cy="804025"/>
          </a:xfrm>
          <a:prstGeom prst="rect">
            <a:avLst/>
          </a:prstGeom>
          <a:noFill/>
          <a:ln>
            <a:solidFill>
              <a:schemeClr val="tx1"/>
            </a:solidFill>
          </a:ln>
        </p:spPr>
        <p:txBody>
          <a:bodyPr wrap="none" lIns="0" tIns="0" rIns="0" bIns="0" rtlCol="0" anchor="t"/>
          <a:lstStyle/>
          <a:p>
            <a:pPr marL="0" marR="0" lvl="0" indent="0" defTabSz="914400" rtl="0" eaLnBrk="1" fontAlgn="auto" latinLnBrk="0" hangingPunct="1">
              <a:lnSpc>
                <a:spcPts val="2850"/>
              </a:lnSpc>
              <a:spcBef>
                <a:spcPts val="0"/>
              </a:spcBef>
              <a:spcAft>
                <a:spcPts val="0"/>
              </a:spcAft>
              <a:buClrTx/>
              <a:buSzTx/>
              <a:buFontTx/>
              <a:buNone/>
              <a:tabLst/>
              <a:defRPr/>
            </a:pPr>
            <a:r>
              <a:rPr kumimoji="0" lang="en-US" sz="1750" b="1" i="0" u="none" strike="noStrike" kern="1200" cap="none" spc="0" normalizeH="0" baseline="0" noProof="0" dirty="0">
                <a:ln>
                  <a:noFill/>
                </a:ln>
                <a:effectLst/>
                <a:uLnTx/>
                <a:uFillTx/>
                <a:latin typeface="Lato" pitchFamily="34" charset="0"/>
                <a:ea typeface="Lato" pitchFamily="34" charset="-122"/>
                <a:cs typeface="Lato" pitchFamily="34" charset="-120"/>
              </a:rPr>
              <a:t>  Mr. Ravi Supunya</a:t>
            </a:r>
          </a:p>
          <a:p>
            <a:pPr lvl="0">
              <a:lnSpc>
                <a:spcPts val="2850"/>
              </a:lnSpc>
            </a:pPr>
            <a:r>
              <a:rPr lang="en-US" sz="1750" b="1" dirty="0">
                <a:latin typeface="Lato" pitchFamily="34" charset="0"/>
                <a:ea typeface="Lato" pitchFamily="34" charset="-122"/>
                <a:cs typeface="Lato" pitchFamily="34" charset="-120"/>
              </a:rPr>
              <a:t>  </a:t>
            </a:r>
            <a:r>
              <a:rPr lang="en-US" sz="1750" dirty="0">
                <a:latin typeface="Lato" pitchFamily="34" charset="0"/>
                <a:ea typeface="Lato" pitchFamily="34" charset="-122"/>
                <a:cs typeface="Lato" pitchFamily="34" charset="-120"/>
              </a:rPr>
              <a:t>Co‑Supervisor</a:t>
            </a:r>
            <a:endParaRPr kumimoji="0" lang="en-US" sz="1750" i="0" u="none" strike="noStrike" kern="1200" cap="none" spc="0" normalizeH="0" baseline="0" noProof="0" dirty="0">
              <a:ln>
                <a:noFill/>
              </a:ln>
              <a:effectLst/>
              <a:uLnTx/>
              <a:uFillTx/>
              <a:latin typeface="Calibri" panose="020F0502020204030204"/>
              <a:ea typeface="+mn-ea"/>
              <a:cs typeface="+mn-cs"/>
            </a:endParaRPr>
          </a:p>
        </p:txBody>
      </p:sp>
      <p:sp>
        <p:nvSpPr>
          <p:cNvPr id="20" name="Text 9">
            <a:extLst>
              <a:ext uri="{FF2B5EF4-FFF2-40B4-BE49-F238E27FC236}">
                <a16:creationId xmlns:a16="http://schemas.microsoft.com/office/drawing/2014/main" id="{3CA186E1-352B-0BA4-169E-A9A7B9A6740B}"/>
              </a:ext>
            </a:extLst>
          </p:cNvPr>
          <p:cNvSpPr/>
          <p:nvPr/>
        </p:nvSpPr>
        <p:spPr>
          <a:xfrm>
            <a:off x="4159251" y="6638810"/>
            <a:ext cx="2094071" cy="804025"/>
          </a:xfrm>
          <a:prstGeom prst="rect">
            <a:avLst/>
          </a:prstGeom>
          <a:noFill/>
          <a:ln>
            <a:solidFill>
              <a:schemeClr val="tx1"/>
            </a:solidFill>
          </a:ln>
        </p:spPr>
        <p:txBody>
          <a:bodyPr wrap="none" lIns="0" tIns="0" rIns="0" bIns="0" rtlCol="0" anchor="t"/>
          <a:lstStyle/>
          <a:p>
            <a:pPr>
              <a:lnSpc>
                <a:spcPts val="2850"/>
              </a:lnSpc>
            </a:pPr>
            <a:r>
              <a:rPr kumimoji="0" lang="en-US" sz="1750" b="1" i="0" u="none" strike="noStrike" kern="1200" cap="none" spc="0" normalizeH="0" baseline="0" noProof="0" dirty="0">
                <a:ln>
                  <a:noFill/>
                </a:ln>
                <a:effectLst/>
                <a:uLnTx/>
                <a:uFillTx/>
                <a:latin typeface="Lato" pitchFamily="34" charset="0"/>
                <a:ea typeface="Lato" pitchFamily="34" charset="-122"/>
                <a:cs typeface="Lato" pitchFamily="34" charset="-120"/>
              </a:rPr>
              <a:t>  Mrs. Suriya Kumari</a:t>
            </a:r>
          </a:p>
          <a:p>
            <a:pPr>
              <a:lnSpc>
                <a:spcPts val="2850"/>
              </a:lnSpc>
            </a:pPr>
            <a:r>
              <a:rPr lang="en-US" sz="1750" b="1" dirty="0">
                <a:latin typeface="Lato" pitchFamily="34" charset="0"/>
                <a:ea typeface="Lato" pitchFamily="34" charset="-122"/>
                <a:cs typeface="Lato" pitchFamily="34" charset="-120"/>
              </a:rPr>
              <a:t>  </a:t>
            </a:r>
            <a:r>
              <a:rPr lang="en-US" sz="1750" dirty="0">
                <a:latin typeface="Lato" pitchFamily="34" charset="0"/>
                <a:ea typeface="Lato" pitchFamily="34" charset="-122"/>
                <a:cs typeface="Lato" pitchFamily="34" charset="-120"/>
              </a:rPr>
              <a:t>Supervisor</a:t>
            </a:r>
            <a:endParaRPr kumimoji="0" lang="en-US" sz="1750" i="0" u="none" strike="noStrike" kern="1200" cap="none" spc="0" normalizeH="0" baseline="0" noProof="0" dirty="0">
              <a:ln>
                <a:noFill/>
              </a:ln>
              <a:effectLst/>
              <a:uLnTx/>
              <a:uFillTx/>
              <a:latin typeface="Lato" pitchFamily="34" charset="0"/>
              <a:ea typeface="Lato" pitchFamily="34" charset="-122"/>
              <a:cs typeface="Lato" pitchFamily="34" charset="-120"/>
            </a:endParaRPr>
          </a:p>
        </p:txBody>
      </p:sp>
      <p:sp>
        <p:nvSpPr>
          <p:cNvPr id="21" name="Rectangle 20">
            <a:extLst>
              <a:ext uri="{FF2B5EF4-FFF2-40B4-BE49-F238E27FC236}">
                <a16:creationId xmlns:a16="http://schemas.microsoft.com/office/drawing/2014/main" id="{01FF87A4-6AEC-2486-53C6-980C74C6D530}"/>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R26-SE-022</a:t>
            </a:r>
            <a:endParaRPr lang="en-US" sz="16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60809"/>
            <a:ext cx="5630942" cy="673418"/>
          </a:xfrm>
          <a:prstGeom prst="rect">
            <a:avLst/>
          </a:prstGeom>
          <a:noFill/>
          <a:ln/>
        </p:spPr>
        <p:txBody>
          <a:bodyPr wrap="none" lIns="0" tIns="0" rIns="0" bIns="0" rtlCol="0" anchor="t"/>
          <a:lstStyle/>
          <a:p>
            <a:pPr marL="0" indent="0" algn="l">
              <a:lnSpc>
                <a:spcPts val="5300"/>
              </a:lnSpc>
              <a:buNone/>
            </a:pPr>
            <a:r>
              <a:rPr lang="en-US" sz="3800" b="1" dirty="0">
                <a:latin typeface="Lato Bold" pitchFamily="34" charset="0"/>
                <a:ea typeface="Lato Bold" pitchFamily="34" charset="-122"/>
                <a:cs typeface="Lato Bold" pitchFamily="34" charset="-120"/>
              </a:rPr>
              <a:t>Users and Stakeholders</a:t>
            </a:r>
            <a:endParaRPr lang="en-US" sz="3800" dirty="0"/>
          </a:p>
        </p:txBody>
      </p:sp>
      <p:sp>
        <p:nvSpPr>
          <p:cNvPr id="3" name="Text 1"/>
          <p:cNvSpPr/>
          <p:nvPr/>
        </p:nvSpPr>
        <p:spPr>
          <a:xfrm>
            <a:off x="793790" y="1843564"/>
            <a:ext cx="13042821" cy="672227"/>
          </a:xfrm>
          <a:prstGeom prst="rect">
            <a:avLst/>
          </a:prstGeom>
          <a:noFill/>
          <a:ln/>
        </p:spPr>
        <p:txBody>
          <a:bodyPr wrap="square" lIns="0" tIns="0" rIns="0" bIns="0" rtlCol="0" anchor="t"/>
          <a:lstStyle/>
          <a:p>
            <a:pPr marL="0" indent="0" algn="l">
              <a:lnSpc>
                <a:spcPts val="2600"/>
              </a:lnSpc>
              <a:buNone/>
            </a:pPr>
            <a:r>
              <a:rPr lang="en-US" sz="1600" dirty="0">
                <a:latin typeface="Lato" pitchFamily="34" charset="0"/>
                <a:ea typeface="Lato" pitchFamily="34" charset="-122"/>
                <a:cs typeface="Lato" pitchFamily="34" charset="-120"/>
              </a:rPr>
              <a:t>Our AI-enabled intelligent study assistant is designed with multiple user groups and stakeholders in mind, ensuring a comprehensive impact on the educational ecosystem.</a:t>
            </a:r>
            <a:endParaRPr lang="en-US" sz="1600" dirty="0"/>
          </a:p>
        </p:txBody>
      </p:sp>
      <p:sp>
        <p:nvSpPr>
          <p:cNvPr id="4" name="Shape 2"/>
          <p:cNvSpPr/>
          <p:nvPr/>
        </p:nvSpPr>
        <p:spPr>
          <a:xfrm>
            <a:off x="793790" y="2746058"/>
            <a:ext cx="6419017" cy="2258973"/>
          </a:xfrm>
          <a:prstGeom prst="roundRect">
            <a:avLst>
              <a:gd name="adj" fmla="val 1431"/>
            </a:avLst>
          </a:prstGeom>
          <a:solidFill>
            <a:srgbClr val="EFECE6"/>
          </a:solidFill>
          <a:ln w="30480">
            <a:solidFill>
              <a:srgbClr val="CBC5B8"/>
            </a:solidFill>
            <a:prstDash val="solid"/>
          </a:ln>
        </p:spPr>
        <p:txBody>
          <a:bodyPr/>
          <a:lstStyle/>
          <a:p>
            <a:endParaRPr lang="en-US"/>
          </a:p>
        </p:txBody>
      </p:sp>
      <p:sp>
        <p:nvSpPr>
          <p:cNvPr id="5" name="Shape 3"/>
          <p:cNvSpPr/>
          <p:nvPr/>
        </p:nvSpPr>
        <p:spPr>
          <a:xfrm>
            <a:off x="824270" y="2776538"/>
            <a:ext cx="6358057" cy="646390"/>
          </a:xfrm>
          <a:prstGeom prst="rect">
            <a:avLst/>
          </a:prstGeom>
          <a:solidFill>
            <a:srgbClr val="E5DFD2"/>
          </a:solidFill>
          <a:ln/>
        </p:spPr>
        <p:txBody>
          <a:bodyPr/>
          <a:lstStyle/>
          <a:p>
            <a:endParaRPr lang="en-US"/>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41671" y="2938105"/>
            <a:ext cx="323136" cy="323136"/>
          </a:xfrm>
          <a:prstGeom prst="rect">
            <a:avLst/>
          </a:prstGeom>
        </p:spPr>
      </p:pic>
      <p:sp>
        <p:nvSpPr>
          <p:cNvPr id="7" name="Text 4"/>
          <p:cNvSpPr/>
          <p:nvPr/>
        </p:nvSpPr>
        <p:spPr>
          <a:xfrm>
            <a:off x="1039654" y="3627596"/>
            <a:ext cx="2693551" cy="336590"/>
          </a:xfrm>
          <a:prstGeom prst="rect">
            <a:avLst/>
          </a:prstGeom>
          <a:noFill/>
          <a:ln/>
        </p:spPr>
        <p:txBody>
          <a:bodyPr wrap="none" lIns="0" tIns="0" rIns="0" bIns="0" rtlCol="0" anchor="t"/>
          <a:lstStyle/>
          <a:p>
            <a:pPr marL="0" indent="0" algn="l">
              <a:lnSpc>
                <a:spcPts val="2650"/>
              </a:lnSpc>
              <a:buNone/>
            </a:pPr>
            <a:r>
              <a:rPr lang="en-US" sz="2100" b="1" dirty="0">
                <a:latin typeface="Lato Bold" pitchFamily="34" charset="0"/>
                <a:ea typeface="Lato Bold" pitchFamily="34" charset="-122"/>
                <a:cs typeface="Lato Bold" pitchFamily="34" charset="-120"/>
              </a:rPr>
              <a:t>University Students</a:t>
            </a:r>
            <a:endParaRPr lang="en-US" sz="2100" dirty="0"/>
          </a:p>
        </p:txBody>
      </p:sp>
      <p:sp>
        <p:nvSpPr>
          <p:cNvPr id="8" name="Text 5"/>
          <p:cNvSpPr/>
          <p:nvPr/>
        </p:nvSpPr>
        <p:spPr>
          <a:xfrm>
            <a:off x="1039654" y="4086939"/>
            <a:ext cx="5927288" cy="672227"/>
          </a:xfrm>
          <a:prstGeom prst="rect">
            <a:avLst/>
          </a:prstGeom>
          <a:noFill/>
          <a:ln/>
        </p:spPr>
        <p:txBody>
          <a:bodyPr wrap="square" lIns="0" tIns="0" rIns="0" bIns="0" rtlCol="0" anchor="t"/>
          <a:lstStyle/>
          <a:p>
            <a:pPr marL="0" indent="0" algn="l">
              <a:lnSpc>
                <a:spcPts val="2600"/>
              </a:lnSpc>
              <a:buNone/>
            </a:pPr>
            <a:r>
              <a:rPr lang="en-US" sz="1600" dirty="0">
                <a:latin typeface="Lato" pitchFamily="34" charset="0"/>
                <a:ea typeface="Lato" pitchFamily="34" charset="-122"/>
                <a:cs typeface="Lato" pitchFamily="34" charset="-120"/>
              </a:rPr>
              <a:t>Primary users seeking efficient revision and personalised learning support to manage large volumes of lecture materials.</a:t>
            </a:r>
            <a:endParaRPr lang="en-US" sz="1600" dirty="0"/>
          </a:p>
        </p:txBody>
      </p:sp>
      <p:sp>
        <p:nvSpPr>
          <p:cNvPr id="9" name="Shape 6"/>
          <p:cNvSpPr/>
          <p:nvPr/>
        </p:nvSpPr>
        <p:spPr>
          <a:xfrm>
            <a:off x="7417475" y="2746058"/>
            <a:ext cx="6419136" cy="2258973"/>
          </a:xfrm>
          <a:prstGeom prst="roundRect">
            <a:avLst>
              <a:gd name="adj" fmla="val 1431"/>
            </a:avLst>
          </a:prstGeom>
          <a:solidFill>
            <a:srgbClr val="EFECE6"/>
          </a:solidFill>
          <a:ln w="30480">
            <a:solidFill>
              <a:srgbClr val="CBC5B8"/>
            </a:solidFill>
            <a:prstDash val="solid"/>
          </a:ln>
        </p:spPr>
        <p:txBody>
          <a:bodyPr/>
          <a:lstStyle/>
          <a:p>
            <a:endParaRPr lang="en-US"/>
          </a:p>
        </p:txBody>
      </p:sp>
      <p:sp>
        <p:nvSpPr>
          <p:cNvPr id="10" name="Shape 7"/>
          <p:cNvSpPr/>
          <p:nvPr/>
        </p:nvSpPr>
        <p:spPr>
          <a:xfrm>
            <a:off x="7447955" y="2776538"/>
            <a:ext cx="6358176" cy="646390"/>
          </a:xfrm>
          <a:prstGeom prst="rect">
            <a:avLst/>
          </a:prstGeom>
          <a:solidFill>
            <a:srgbClr val="E5DFD2"/>
          </a:solidFill>
          <a:ln/>
        </p:spPr>
        <p:txBody>
          <a:bodyPr/>
          <a:lstStyle/>
          <a:p>
            <a:endParaRPr lang="en-US"/>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65475" y="2938105"/>
            <a:ext cx="323136" cy="323136"/>
          </a:xfrm>
          <a:prstGeom prst="rect">
            <a:avLst/>
          </a:prstGeom>
        </p:spPr>
      </p:pic>
      <p:sp>
        <p:nvSpPr>
          <p:cNvPr id="12" name="Text 8"/>
          <p:cNvSpPr/>
          <p:nvPr/>
        </p:nvSpPr>
        <p:spPr>
          <a:xfrm>
            <a:off x="7663339" y="3627596"/>
            <a:ext cx="3169206" cy="336590"/>
          </a:xfrm>
          <a:prstGeom prst="rect">
            <a:avLst/>
          </a:prstGeom>
          <a:noFill/>
          <a:ln/>
        </p:spPr>
        <p:txBody>
          <a:bodyPr wrap="none" lIns="0" tIns="0" rIns="0" bIns="0" rtlCol="0" anchor="t"/>
          <a:lstStyle/>
          <a:p>
            <a:pPr marL="0" indent="0" algn="l">
              <a:lnSpc>
                <a:spcPts val="2650"/>
              </a:lnSpc>
              <a:buNone/>
            </a:pPr>
            <a:r>
              <a:rPr lang="en-US" sz="2100" b="1" dirty="0">
                <a:latin typeface="Lato Bold" pitchFamily="34" charset="0"/>
                <a:ea typeface="Lato Bold" pitchFamily="34" charset="-122"/>
                <a:cs typeface="Lato Bold" pitchFamily="34" charset="-120"/>
              </a:rPr>
              <a:t>Lecturers / Academic Staff</a:t>
            </a:r>
            <a:endParaRPr lang="en-US" sz="2100" dirty="0"/>
          </a:p>
        </p:txBody>
      </p:sp>
      <p:sp>
        <p:nvSpPr>
          <p:cNvPr id="13" name="Text 9"/>
          <p:cNvSpPr/>
          <p:nvPr/>
        </p:nvSpPr>
        <p:spPr>
          <a:xfrm>
            <a:off x="7663339" y="4086939"/>
            <a:ext cx="5927407" cy="672227"/>
          </a:xfrm>
          <a:prstGeom prst="rect">
            <a:avLst/>
          </a:prstGeom>
          <a:noFill/>
          <a:ln/>
        </p:spPr>
        <p:txBody>
          <a:bodyPr wrap="square" lIns="0" tIns="0" rIns="0" bIns="0" rtlCol="0" anchor="t"/>
          <a:lstStyle/>
          <a:p>
            <a:pPr marL="0" indent="0" algn="l">
              <a:lnSpc>
                <a:spcPts val="2600"/>
              </a:lnSpc>
              <a:buNone/>
            </a:pPr>
            <a:r>
              <a:rPr lang="en-US" sz="1600" dirty="0">
                <a:latin typeface="Lato" pitchFamily="34" charset="0"/>
                <a:ea typeface="Lato" pitchFamily="34" charset="-122"/>
                <a:cs typeface="Lato" pitchFamily="34" charset="-120"/>
              </a:rPr>
              <a:t>Provide course materials and guidance, benefiting from tools that improve student engagement and learning outcomes.</a:t>
            </a:r>
            <a:endParaRPr lang="en-US" sz="1600" dirty="0"/>
          </a:p>
        </p:txBody>
      </p:sp>
      <p:sp>
        <p:nvSpPr>
          <p:cNvPr id="14" name="Shape 10"/>
          <p:cNvSpPr/>
          <p:nvPr/>
        </p:nvSpPr>
        <p:spPr>
          <a:xfrm>
            <a:off x="793790" y="5209699"/>
            <a:ext cx="6419017" cy="2258973"/>
          </a:xfrm>
          <a:prstGeom prst="roundRect">
            <a:avLst>
              <a:gd name="adj" fmla="val 1431"/>
            </a:avLst>
          </a:prstGeom>
          <a:solidFill>
            <a:srgbClr val="EFECE6"/>
          </a:solidFill>
          <a:ln w="30480">
            <a:solidFill>
              <a:srgbClr val="CBC5B8"/>
            </a:solidFill>
            <a:prstDash val="solid"/>
          </a:ln>
        </p:spPr>
        <p:txBody>
          <a:bodyPr/>
          <a:lstStyle/>
          <a:p>
            <a:endParaRPr lang="en-US"/>
          </a:p>
        </p:txBody>
      </p:sp>
      <p:sp>
        <p:nvSpPr>
          <p:cNvPr id="15" name="Shape 11"/>
          <p:cNvSpPr/>
          <p:nvPr/>
        </p:nvSpPr>
        <p:spPr>
          <a:xfrm>
            <a:off x="824270" y="5240179"/>
            <a:ext cx="6358057" cy="646390"/>
          </a:xfrm>
          <a:prstGeom prst="rect">
            <a:avLst/>
          </a:prstGeom>
          <a:solidFill>
            <a:srgbClr val="E5DFD2"/>
          </a:solidFill>
          <a:ln/>
        </p:spPr>
        <p:txBody>
          <a:bodyPr/>
          <a:lstStyle/>
          <a:p>
            <a:endParaRPr lang="en-US"/>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41671" y="5401747"/>
            <a:ext cx="323136" cy="323136"/>
          </a:xfrm>
          <a:prstGeom prst="rect">
            <a:avLst/>
          </a:prstGeom>
        </p:spPr>
      </p:pic>
      <p:sp>
        <p:nvSpPr>
          <p:cNvPr id="17" name="Text 12"/>
          <p:cNvSpPr/>
          <p:nvPr/>
        </p:nvSpPr>
        <p:spPr>
          <a:xfrm>
            <a:off x="1039654" y="6091238"/>
            <a:ext cx="3082290" cy="336590"/>
          </a:xfrm>
          <a:prstGeom prst="rect">
            <a:avLst/>
          </a:prstGeom>
          <a:noFill/>
          <a:ln/>
        </p:spPr>
        <p:txBody>
          <a:bodyPr wrap="none" lIns="0" tIns="0" rIns="0" bIns="0" rtlCol="0" anchor="t"/>
          <a:lstStyle/>
          <a:p>
            <a:pPr marL="0" indent="0" algn="l">
              <a:lnSpc>
                <a:spcPts val="2650"/>
              </a:lnSpc>
              <a:buNone/>
            </a:pPr>
            <a:r>
              <a:rPr lang="en-US" sz="2100" b="1" dirty="0">
                <a:latin typeface="Lato Bold" pitchFamily="34" charset="0"/>
                <a:ea typeface="Lato Bold" pitchFamily="34" charset="-122"/>
                <a:cs typeface="Lato Bold" pitchFamily="34" charset="-120"/>
              </a:rPr>
              <a:t>University IT Department</a:t>
            </a:r>
            <a:endParaRPr lang="en-US" sz="2100" dirty="0"/>
          </a:p>
        </p:txBody>
      </p:sp>
      <p:sp>
        <p:nvSpPr>
          <p:cNvPr id="18" name="Text 13"/>
          <p:cNvSpPr/>
          <p:nvPr/>
        </p:nvSpPr>
        <p:spPr>
          <a:xfrm>
            <a:off x="1039654" y="6550581"/>
            <a:ext cx="5927288" cy="672227"/>
          </a:xfrm>
          <a:prstGeom prst="rect">
            <a:avLst/>
          </a:prstGeom>
          <a:noFill/>
          <a:ln/>
        </p:spPr>
        <p:txBody>
          <a:bodyPr wrap="square" lIns="0" tIns="0" rIns="0" bIns="0" rtlCol="0" anchor="t"/>
          <a:lstStyle/>
          <a:p>
            <a:pPr marL="0" indent="0" algn="l">
              <a:lnSpc>
                <a:spcPts val="2600"/>
              </a:lnSpc>
              <a:buNone/>
            </a:pPr>
            <a:r>
              <a:rPr lang="en-US" sz="1600" dirty="0">
                <a:latin typeface="Lato" pitchFamily="34" charset="0"/>
                <a:ea typeface="Lato" pitchFamily="34" charset="-122"/>
                <a:cs typeface="Lato" pitchFamily="34" charset="-120"/>
              </a:rPr>
              <a:t>Responsible for deploying and maintaining digital learning systems, requiring scalable and secure AI platforms.</a:t>
            </a:r>
            <a:endParaRPr lang="en-US" sz="1600" dirty="0"/>
          </a:p>
        </p:txBody>
      </p:sp>
      <p:sp>
        <p:nvSpPr>
          <p:cNvPr id="19" name="Shape 14"/>
          <p:cNvSpPr/>
          <p:nvPr/>
        </p:nvSpPr>
        <p:spPr>
          <a:xfrm>
            <a:off x="7417475" y="5209699"/>
            <a:ext cx="6419136" cy="2258973"/>
          </a:xfrm>
          <a:prstGeom prst="roundRect">
            <a:avLst>
              <a:gd name="adj" fmla="val 1431"/>
            </a:avLst>
          </a:prstGeom>
          <a:solidFill>
            <a:srgbClr val="EFECE6"/>
          </a:solidFill>
          <a:ln w="30480">
            <a:solidFill>
              <a:srgbClr val="CBC5B8"/>
            </a:solidFill>
            <a:prstDash val="solid"/>
          </a:ln>
        </p:spPr>
        <p:txBody>
          <a:bodyPr/>
          <a:lstStyle/>
          <a:p>
            <a:endParaRPr lang="en-US"/>
          </a:p>
        </p:txBody>
      </p:sp>
      <p:sp>
        <p:nvSpPr>
          <p:cNvPr id="20" name="Shape 15"/>
          <p:cNvSpPr/>
          <p:nvPr/>
        </p:nvSpPr>
        <p:spPr>
          <a:xfrm>
            <a:off x="7447955" y="5240179"/>
            <a:ext cx="6358176" cy="646390"/>
          </a:xfrm>
          <a:prstGeom prst="rect">
            <a:avLst/>
          </a:prstGeom>
          <a:solidFill>
            <a:srgbClr val="E5DFD2"/>
          </a:solidFill>
          <a:ln/>
        </p:spPr>
        <p:txBody>
          <a:bodyPr/>
          <a:lstStyle/>
          <a:p>
            <a:endParaRPr lang="en-US"/>
          </a:p>
        </p:txBody>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65475" y="5401747"/>
            <a:ext cx="323136" cy="323136"/>
          </a:xfrm>
          <a:prstGeom prst="rect">
            <a:avLst/>
          </a:prstGeom>
        </p:spPr>
      </p:pic>
      <p:sp>
        <p:nvSpPr>
          <p:cNvPr id="22" name="Text 16"/>
          <p:cNvSpPr/>
          <p:nvPr/>
        </p:nvSpPr>
        <p:spPr>
          <a:xfrm>
            <a:off x="7663339" y="6091238"/>
            <a:ext cx="2693551" cy="336590"/>
          </a:xfrm>
          <a:prstGeom prst="rect">
            <a:avLst/>
          </a:prstGeom>
          <a:noFill/>
          <a:ln/>
        </p:spPr>
        <p:txBody>
          <a:bodyPr wrap="none" lIns="0" tIns="0" rIns="0" bIns="0" rtlCol="0" anchor="t"/>
          <a:lstStyle/>
          <a:p>
            <a:pPr marL="0" indent="0" algn="l">
              <a:lnSpc>
                <a:spcPts val="2650"/>
              </a:lnSpc>
              <a:buNone/>
            </a:pPr>
            <a:r>
              <a:rPr lang="en-US" sz="2100" b="1" dirty="0">
                <a:latin typeface="Lato Bold" pitchFamily="34" charset="0"/>
                <a:ea typeface="Lato Bold" pitchFamily="34" charset="-122"/>
                <a:cs typeface="Lato Bold" pitchFamily="34" charset="-120"/>
              </a:rPr>
              <a:t>Other Stakeholders</a:t>
            </a:r>
            <a:endParaRPr lang="en-US" sz="2100" dirty="0"/>
          </a:p>
        </p:txBody>
      </p:sp>
      <p:sp>
        <p:nvSpPr>
          <p:cNvPr id="23" name="Text 17"/>
          <p:cNvSpPr/>
          <p:nvPr/>
        </p:nvSpPr>
        <p:spPr>
          <a:xfrm>
            <a:off x="7663339" y="6550581"/>
            <a:ext cx="5927407" cy="672227"/>
          </a:xfrm>
          <a:prstGeom prst="rect">
            <a:avLst/>
          </a:prstGeom>
          <a:noFill/>
          <a:ln/>
        </p:spPr>
        <p:txBody>
          <a:bodyPr wrap="square" lIns="0" tIns="0" rIns="0" bIns="0" rtlCol="0" anchor="t"/>
          <a:lstStyle/>
          <a:p>
            <a:pPr marL="0" indent="0" algn="l">
              <a:lnSpc>
                <a:spcPts val="2600"/>
              </a:lnSpc>
              <a:buNone/>
            </a:pPr>
            <a:r>
              <a:rPr lang="en-US" sz="1600" dirty="0">
                <a:latin typeface="Lato" pitchFamily="34" charset="0"/>
                <a:ea typeface="Lato" pitchFamily="34" charset="-122"/>
                <a:cs typeface="Lato" pitchFamily="34" charset="-120"/>
              </a:rPr>
              <a:t>Includes educational institutions, EdTech platforms, and future student cohorts who will benefit from enhanced learning tools.</a:t>
            </a:r>
            <a:endParaRPr lang="en-US" sz="1600" dirty="0"/>
          </a:p>
        </p:txBody>
      </p:sp>
      <p:sp>
        <p:nvSpPr>
          <p:cNvPr id="25" name="Rectangle 24">
            <a:extLst>
              <a:ext uri="{FF2B5EF4-FFF2-40B4-BE49-F238E27FC236}">
                <a16:creationId xmlns:a16="http://schemas.microsoft.com/office/drawing/2014/main" id="{9DB56240-A261-BEFC-8FEE-42BD6CB772F2}"/>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R26-SE-022</a:t>
            </a:r>
            <a:endParaRPr lang="en-US" sz="1600"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70002"/>
            <a:ext cx="9808964" cy="708779"/>
          </a:xfrm>
          <a:prstGeom prst="rect">
            <a:avLst/>
          </a:prstGeom>
          <a:noFill/>
          <a:ln/>
        </p:spPr>
        <p:txBody>
          <a:bodyPr wrap="none" lIns="0" tIns="0" rIns="0" bIns="0" rtlCol="0" anchor="t"/>
          <a:lstStyle/>
          <a:p>
            <a:pPr marL="0" indent="0" algn="l">
              <a:lnSpc>
                <a:spcPts val="5550"/>
              </a:lnSpc>
              <a:buNone/>
            </a:pPr>
            <a:r>
              <a:rPr lang="en-US" sz="3800" b="1" dirty="0">
                <a:latin typeface="Lato Bold" pitchFamily="34" charset="0"/>
                <a:ea typeface="Lato Bold" pitchFamily="34" charset="-122"/>
                <a:cs typeface="Lato Bold" pitchFamily="34" charset="-120"/>
              </a:rPr>
              <a:t>Impact of the Problem on Stakeholders</a:t>
            </a:r>
            <a:endParaRPr lang="en-US" sz="3800" dirty="0"/>
          </a:p>
        </p:txBody>
      </p:sp>
      <p:sp>
        <p:nvSpPr>
          <p:cNvPr id="3" name="Text 1"/>
          <p:cNvSpPr/>
          <p:nvPr/>
        </p:nvSpPr>
        <p:spPr>
          <a:xfrm>
            <a:off x="793790" y="2132409"/>
            <a:ext cx="13042821" cy="725805"/>
          </a:xfrm>
          <a:prstGeom prst="rect">
            <a:avLst/>
          </a:prstGeom>
          <a:noFill/>
          <a:ln/>
        </p:spPr>
        <p:txBody>
          <a:bodyPr wrap="square" lIns="0" tIns="0" rIns="0" bIns="0" rtlCol="0" anchor="t"/>
          <a:lstStyle/>
          <a:p>
            <a:pPr marL="0" indent="0" algn="l">
              <a:lnSpc>
                <a:spcPts val="2850"/>
              </a:lnSpc>
              <a:buNone/>
            </a:pPr>
            <a:r>
              <a:rPr lang="en-US" sz="1700" dirty="0">
                <a:latin typeface="Lato" pitchFamily="34" charset="0"/>
                <a:ea typeface="Lato" pitchFamily="34" charset="-122"/>
                <a:cs typeface="Lato" pitchFamily="34" charset="-120"/>
              </a:rPr>
              <a:t>Our proposed AI-enabled intelligent study assistant addresses critical challenges faced by various stakeholders in the educational ecosystem.</a:t>
            </a:r>
            <a:endParaRPr lang="en-US" sz="1700" dirty="0"/>
          </a:p>
        </p:txBody>
      </p:sp>
      <p:sp>
        <p:nvSpPr>
          <p:cNvPr id="4" name="Shape 2"/>
          <p:cNvSpPr/>
          <p:nvPr/>
        </p:nvSpPr>
        <p:spPr>
          <a:xfrm>
            <a:off x="793790" y="3113365"/>
            <a:ext cx="4196358" cy="4146113"/>
          </a:xfrm>
          <a:prstGeom prst="roundRect">
            <a:avLst>
              <a:gd name="adj" fmla="val 821"/>
            </a:avLst>
          </a:prstGeom>
          <a:solidFill>
            <a:srgbClr val="EFECE6"/>
          </a:solidFill>
          <a:ln w="30480">
            <a:solidFill>
              <a:srgbClr val="CBC5B8"/>
            </a:solidFill>
            <a:prstDash val="solid"/>
          </a:ln>
        </p:spPr>
        <p:txBody>
          <a:bodyPr/>
          <a:lstStyle/>
          <a:p>
            <a:endParaRPr lang="en-US"/>
          </a:p>
        </p:txBody>
      </p:sp>
      <p:sp>
        <p:nvSpPr>
          <p:cNvPr id="5" name="Text 3"/>
          <p:cNvSpPr/>
          <p:nvPr/>
        </p:nvSpPr>
        <p:spPr>
          <a:xfrm>
            <a:off x="1051084" y="3370659"/>
            <a:ext cx="2835235" cy="354330"/>
          </a:xfrm>
          <a:prstGeom prst="rect">
            <a:avLst/>
          </a:prstGeom>
          <a:noFill/>
          <a:ln/>
        </p:spPr>
        <p:txBody>
          <a:bodyPr wrap="none" lIns="0" tIns="0" rIns="0" bIns="0" rtlCol="0" anchor="t"/>
          <a:lstStyle/>
          <a:p>
            <a:pPr marL="0" indent="0" algn="l">
              <a:lnSpc>
                <a:spcPts val="2750"/>
              </a:lnSpc>
              <a:buNone/>
            </a:pPr>
            <a:r>
              <a:rPr lang="en-US" sz="2200" b="1" dirty="0">
                <a:latin typeface="Lato Bold" pitchFamily="34" charset="0"/>
                <a:ea typeface="Lato Bold" pitchFamily="34" charset="-122"/>
                <a:cs typeface="Lato Bold" pitchFamily="34" charset="-120"/>
              </a:rPr>
              <a:t>Impact on Students</a:t>
            </a:r>
            <a:endParaRPr lang="en-US" sz="2200" dirty="0"/>
          </a:p>
        </p:txBody>
      </p:sp>
      <p:sp>
        <p:nvSpPr>
          <p:cNvPr id="6" name="Text 4"/>
          <p:cNvSpPr/>
          <p:nvPr/>
        </p:nvSpPr>
        <p:spPr>
          <a:xfrm>
            <a:off x="1051084" y="3861078"/>
            <a:ext cx="3681770" cy="3141107"/>
          </a:xfrm>
          <a:prstGeom prst="rect">
            <a:avLst/>
          </a:prstGeom>
          <a:noFill/>
          <a:ln/>
        </p:spPr>
        <p:txBody>
          <a:bodyPr wrap="square" lIns="0" tIns="0" rIns="0" bIns="0" rtlCol="0" anchor="t"/>
          <a:lstStyle/>
          <a:p>
            <a:pPr marL="342900" indent="-342900" algn="l">
              <a:lnSpc>
                <a:spcPts val="2850"/>
              </a:lnSpc>
              <a:buSzPct val="100000"/>
              <a:buChar char="•"/>
            </a:pPr>
            <a:r>
              <a:rPr lang="en-US" sz="1700" dirty="0">
                <a:latin typeface="Lato" pitchFamily="34" charset="0"/>
                <a:ea typeface="Lato" pitchFamily="34" charset="-122"/>
                <a:cs typeface="Lato" pitchFamily="34" charset="-120"/>
              </a:rPr>
              <a:t>Information overload from lecture slides and study materials</a:t>
            </a:r>
            <a:endParaRPr lang="en-US" sz="1700" dirty="0"/>
          </a:p>
          <a:p>
            <a:pPr marL="342900" indent="-342900" algn="l">
              <a:lnSpc>
                <a:spcPts val="2850"/>
              </a:lnSpc>
              <a:buSzPct val="100000"/>
              <a:buChar char="•"/>
            </a:pPr>
            <a:r>
              <a:rPr lang="en-US" sz="1700" dirty="0">
                <a:latin typeface="Lato" pitchFamily="34" charset="0"/>
                <a:ea typeface="Lato" pitchFamily="34" charset="-122"/>
                <a:cs typeface="Lato" pitchFamily="34" charset="-120"/>
              </a:rPr>
              <a:t>Difficulty identifying important exam concepts</a:t>
            </a:r>
            <a:endParaRPr lang="en-US" sz="1700" dirty="0"/>
          </a:p>
          <a:p>
            <a:pPr marL="342900" indent="-342900" algn="l">
              <a:lnSpc>
                <a:spcPts val="2850"/>
              </a:lnSpc>
              <a:buSzPct val="100000"/>
              <a:buChar char="•"/>
            </a:pPr>
            <a:r>
              <a:rPr lang="en-US" sz="1700" dirty="0">
                <a:latin typeface="Lato" pitchFamily="34" charset="0"/>
                <a:ea typeface="Lato" pitchFamily="34" charset="-122"/>
                <a:cs typeface="Lato" pitchFamily="34" charset="-120"/>
              </a:rPr>
              <a:t>Lack of personalised tutoring support</a:t>
            </a:r>
            <a:endParaRPr lang="en-US" sz="1700" dirty="0"/>
          </a:p>
          <a:p>
            <a:pPr marL="342900" indent="-342900" algn="l">
              <a:lnSpc>
                <a:spcPts val="2850"/>
              </a:lnSpc>
              <a:buSzPct val="100000"/>
              <a:buChar char="•"/>
            </a:pPr>
            <a:r>
              <a:rPr lang="en-US" sz="1700" dirty="0">
                <a:latin typeface="Lato" pitchFamily="34" charset="0"/>
                <a:ea typeface="Lato" pitchFamily="34" charset="-122"/>
                <a:cs typeface="Lato" pitchFamily="34" charset="-120"/>
              </a:rPr>
              <a:t>Academic stress and reduced study efficiency</a:t>
            </a:r>
            <a:endParaRPr lang="en-US" sz="1700" dirty="0"/>
          </a:p>
        </p:txBody>
      </p:sp>
      <p:sp>
        <p:nvSpPr>
          <p:cNvPr id="7" name="Shape 5"/>
          <p:cNvSpPr/>
          <p:nvPr/>
        </p:nvSpPr>
        <p:spPr>
          <a:xfrm>
            <a:off x="5216962" y="3113365"/>
            <a:ext cx="4196358" cy="4146113"/>
          </a:xfrm>
          <a:prstGeom prst="roundRect">
            <a:avLst>
              <a:gd name="adj" fmla="val 821"/>
            </a:avLst>
          </a:prstGeom>
          <a:solidFill>
            <a:srgbClr val="EFECE6"/>
          </a:solidFill>
          <a:ln w="30480">
            <a:solidFill>
              <a:srgbClr val="CBC5B8"/>
            </a:solidFill>
            <a:prstDash val="solid"/>
          </a:ln>
        </p:spPr>
        <p:txBody>
          <a:bodyPr/>
          <a:lstStyle/>
          <a:p>
            <a:endParaRPr lang="en-US"/>
          </a:p>
        </p:txBody>
      </p:sp>
      <p:sp>
        <p:nvSpPr>
          <p:cNvPr id="8" name="Text 6"/>
          <p:cNvSpPr/>
          <p:nvPr/>
        </p:nvSpPr>
        <p:spPr>
          <a:xfrm>
            <a:off x="5474256" y="3370659"/>
            <a:ext cx="2835235" cy="354330"/>
          </a:xfrm>
          <a:prstGeom prst="rect">
            <a:avLst/>
          </a:prstGeom>
          <a:noFill/>
          <a:ln/>
        </p:spPr>
        <p:txBody>
          <a:bodyPr wrap="none" lIns="0" tIns="0" rIns="0" bIns="0" rtlCol="0" anchor="t"/>
          <a:lstStyle/>
          <a:p>
            <a:pPr marL="0" indent="0" algn="l">
              <a:lnSpc>
                <a:spcPts val="2750"/>
              </a:lnSpc>
              <a:buNone/>
            </a:pPr>
            <a:r>
              <a:rPr lang="en-US" sz="2200" b="1" dirty="0">
                <a:latin typeface="Lato Bold" pitchFamily="34" charset="0"/>
                <a:ea typeface="Lato Bold" pitchFamily="34" charset="-122"/>
                <a:cs typeface="Lato Bold" pitchFamily="34" charset="-120"/>
              </a:rPr>
              <a:t>Impact on Lecturers</a:t>
            </a:r>
            <a:endParaRPr lang="en-US" sz="2200" dirty="0"/>
          </a:p>
        </p:txBody>
      </p:sp>
      <p:sp>
        <p:nvSpPr>
          <p:cNvPr id="9" name="Text 7"/>
          <p:cNvSpPr/>
          <p:nvPr/>
        </p:nvSpPr>
        <p:spPr>
          <a:xfrm>
            <a:off x="5474256" y="3861078"/>
            <a:ext cx="3681770" cy="1530906"/>
          </a:xfrm>
          <a:prstGeom prst="rect">
            <a:avLst/>
          </a:prstGeom>
          <a:noFill/>
          <a:ln/>
        </p:spPr>
        <p:txBody>
          <a:bodyPr wrap="square" lIns="0" tIns="0" rIns="0" bIns="0" rtlCol="0" anchor="t"/>
          <a:lstStyle/>
          <a:p>
            <a:pPr marL="342900" indent="-342900" algn="l">
              <a:lnSpc>
                <a:spcPts val="2850"/>
              </a:lnSpc>
              <a:buSzPct val="100000"/>
              <a:buChar char="•"/>
            </a:pPr>
            <a:r>
              <a:rPr lang="en-US" sz="1700" dirty="0">
                <a:latin typeface="Lato" pitchFamily="34" charset="0"/>
                <a:ea typeface="Lato" pitchFamily="34" charset="-122"/>
                <a:cs typeface="Lato" pitchFamily="34" charset="-120"/>
              </a:rPr>
              <a:t>Limited time to provide individual academic support</a:t>
            </a:r>
            <a:endParaRPr lang="en-US" sz="1700" dirty="0"/>
          </a:p>
          <a:p>
            <a:pPr marL="342900" indent="-342900" algn="l">
              <a:lnSpc>
                <a:spcPts val="2850"/>
              </a:lnSpc>
              <a:buSzPct val="100000"/>
              <a:buChar char="•"/>
            </a:pPr>
            <a:r>
              <a:rPr lang="en-US" sz="1700" dirty="0">
                <a:latin typeface="Lato" pitchFamily="34" charset="0"/>
                <a:ea typeface="Lato" pitchFamily="34" charset="-122"/>
                <a:cs typeface="Lato" pitchFamily="34" charset="-120"/>
              </a:rPr>
              <a:t>Difficulty monitoring student learning progress</a:t>
            </a:r>
            <a:endParaRPr lang="en-US" sz="1700" dirty="0"/>
          </a:p>
        </p:txBody>
      </p:sp>
      <p:sp>
        <p:nvSpPr>
          <p:cNvPr id="10" name="Shape 8"/>
          <p:cNvSpPr/>
          <p:nvPr/>
        </p:nvSpPr>
        <p:spPr>
          <a:xfrm>
            <a:off x="9640133" y="3113365"/>
            <a:ext cx="4196358" cy="4146113"/>
          </a:xfrm>
          <a:prstGeom prst="roundRect">
            <a:avLst>
              <a:gd name="adj" fmla="val 821"/>
            </a:avLst>
          </a:prstGeom>
          <a:solidFill>
            <a:srgbClr val="EFECE6"/>
          </a:solidFill>
          <a:ln w="30480">
            <a:solidFill>
              <a:srgbClr val="CBC5B8"/>
            </a:solidFill>
            <a:prstDash val="solid"/>
          </a:ln>
        </p:spPr>
        <p:txBody>
          <a:bodyPr/>
          <a:lstStyle/>
          <a:p>
            <a:endParaRPr lang="en-US"/>
          </a:p>
        </p:txBody>
      </p:sp>
      <p:sp>
        <p:nvSpPr>
          <p:cNvPr id="11" name="Text 9"/>
          <p:cNvSpPr/>
          <p:nvPr/>
        </p:nvSpPr>
        <p:spPr>
          <a:xfrm>
            <a:off x="9897427" y="3370659"/>
            <a:ext cx="2835235" cy="354330"/>
          </a:xfrm>
          <a:prstGeom prst="rect">
            <a:avLst/>
          </a:prstGeom>
          <a:noFill/>
          <a:ln/>
        </p:spPr>
        <p:txBody>
          <a:bodyPr wrap="none" lIns="0" tIns="0" rIns="0" bIns="0" rtlCol="0" anchor="t"/>
          <a:lstStyle/>
          <a:p>
            <a:pPr marL="0" indent="0" algn="l">
              <a:lnSpc>
                <a:spcPts val="2750"/>
              </a:lnSpc>
              <a:buNone/>
            </a:pPr>
            <a:r>
              <a:rPr lang="en-US" sz="2200" b="1" dirty="0">
                <a:latin typeface="Lato Bold" pitchFamily="34" charset="0"/>
                <a:ea typeface="Lato Bold" pitchFamily="34" charset="-122"/>
                <a:cs typeface="Lato Bold" pitchFamily="34" charset="-120"/>
              </a:rPr>
              <a:t>Impact on Universities</a:t>
            </a:r>
            <a:endParaRPr lang="en-US" sz="2200" dirty="0"/>
          </a:p>
        </p:txBody>
      </p:sp>
      <p:sp>
        <p:nvSpPr>
          <p:cNvPr id="12" name="Text 10"/>
          <p:cNvSpPr/>
          <p:nvPr/>
        </p:nvSpPr>
        <p:spPr>
          <a:xfrm>
            <a:off x="9897427" y="3861078"/>
            <a:ext cx="3681770" cy="1530906"/>
          </a:xfrm>
          <a:prstGeom prst="rect">
            <a:avLst/>
          </a:prstGeom>
          <a:noFill/>
          <a:ln/>
        </p:spPr>
        <p:txBody>
          <a:bodyPr wrap="square" lIns="0" tIns="0" rIns="0" bIns="0" rtlCol="0" anchor="t"/>
          <a:lstStyle/>
          <a:p>
            <a:pPr marL="342900" indent="-342900" algn="l">
              <a:lnSpc>
                <a:spcPts val="2850"/>
              </a:lnSpc>
              <a:buSzPct val="100000"/>
              <a:buChar char="•"/>
            </a:pPr>
            <a:r>
              <a:rPr lang="en-US" sz="1700" dirty="0">
                <a:latin typeface="Lato" pitchFamily="34" charset="0"/>
                <a:ea typeface="Lato" pitchFamily="34" charset="-122"/>
                <a:cs typeface="Lato" pitchFamily="34" charset="-120"/>
              </a:rPr>
              <a:t>Increasing demand for advanced learning technologies</a:t>
            </a:r>
            <a:endParaRPr lang="en-US" sz="1700" dirty="0"/>
          </a:p>
          <a:p>
            <a:pPr marL="342900" indent="-342900" algn="l">
              <a:lnSpc>
                <a:spcPts val="2850"/>
              </a:lnSpc>
              <a:buSzPct val="100000"/>
              <a:buChar char="•"/>
            </a:pPr>
            <a:r>
              <a:rPr lang="en-US" sz="1700" dirty="0">
                <a:latin typeface="Lato" pitchFamily="34" charset="0"/>
                <a:ea typeface="Lato" pitchFamily="34" charset="-122"/>
                <a:cs typeface="Lato" pitchFamily="34" charset="-120"/>
              </a:rPr>
              <a:t>Need to improve student performance and engagement</a:t>
            </a:r>
            <a:endParaRPr lang="en-US" sz="1700" dirty="0"/>
          </a:p>
        </p:txBody>
      </p:sp>
      <p:sp>
        <p:nvSpPr>
          <p:cNvPr id="14" name="Rectangle 13">
            <a:extLst>
              <a:ext uri="{FF2B5EF4-FFF2-40B4-BE49-F238E27FC236}">
                <a16:creationId xmlns:a16="http://schemas.microsoft.com/office/drawing/2014/main" id="{7C612292-E7FF-9181-6851-FC68E7BAB4C7}"/>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R26-SE-022</a:t>
            </a:r>
            <a:endParaRPr lang="en-US" sz="1600"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72372" y="908071"/>
            <a:ext cx="8235910" cy="1346835"/>
          </a:xfrm>
          <a:prstGeom prst="rect">
            <a:avLst/>
          </a:prstGeom>
          <a:noFill/>
          <a:ln/>
        </p:spPr>
        <p:txBody>
          <a:bodyPr wrap="square" lIns="0" tIns="0" rIns="0" bIns="0" rtlCol="0" anchor="t"/>
          <a:lstStyle/>
          <a:p>
            <a:pPr marL="0" indent="0" algn="l">
              <a:lnSpc>
                <a:spcPts val="5300"/>
              </a:lnSpc>
              <a:buNone/>
            </a:pPr>
            <a:r>
              <a:rPr lang="en-US" sz="3800" b="1" dirty="0">
                <a:latin typeface="Lato Bold" pitchFamily="34" charset="0"/>
                <a:ea typeface="Lato Bold" pitchFamily="34" charset="-122"/>
                <a:cs typeface="Lato Bold" pitchFamily="34" charset="-120"/>
              </a:rPr>
              <a:t>Existing Solutions and Their Limitations</a:t>
            </a:r>
            <a:endParaRPr lang="en-US" sz="3800" dirty="0"/>
          </a:p>
        </p:txBody>
      </p:sp>
      <p:sp>
        <p:nvSpPr>
          <p:cNvPr id="4" name="Text 1"/>
          <p:cNvSpPr/>
          <p:nvPr/>
        </p:nvSpPr>
        <p:spPr>
          <a:xfrm>
            <a:off x="6280190" y="2529469"/>
            <a:ext cx="2693551" cy="336590"/>
          </a:xfrm>
          <a:prstGeom prst="rect">
            <a:avLst/>
          </a:prstGeom>
          <a:noFill/>
          <a:ln/>
        </p:spPr>
        <p:txBody>
          <a:bodyPr wrap="none" lIns="0" tIns="0" rIns="0" bIns="0" rtlCol="0" anchor="t"/>
          <a:lstStyle/>
          <a:p>
            <a:pPr marL="0" indent="0" algn="l">
              <a:lnSpc>
                <a:spcPts val="2650"/>
              </a:lnSpc>
              <a:buNone/>
            </a:pPr>
            <a:r>
              <a:rPr lang="en-US" sz="2100" b="1" dirty="0">
                <a:latin typeface="Lato Bold" pitchFamily="34" charset="0"/>
                <a:ea typeface="Lato Bold" pitchFamily="34" charset="-122"/>
                <a:cs typeface="Lato Bold" pitchFamily="34" charset="-120"/>
              </a:rPr>
              <a:t>Current Solutions</a:t>
            </a:r>
            <a:endParaRPr lang="en-US" sz="2100" dirty="0"/>
          </a:p>
        </p:txBody>
      </p:sp>
      <p:sp>
        <p:nvSpPr>
          <p:cNvPr id="5" name="Text 2"/>
          <p:cNvSpPr/>
          <p:nvPr/>
        </p:nvSpPr>
        <p:spPr>
          <a:xfrm>
            <a:off x="6280190" y="3070727"/>
            <a:ext cx="3515320" cy="2567464"/>
          </a:xfrm>
          <a:prstGeom prst="rect">
            <a:avLst/>
          </a:prstGeom>
          <a:noFill/>
          <a:ln/>
        </p:spPr>
        <p:txBody>
          <a:bodyPr wrap="square" lIns="0" tIns="0" rIns="0" bIns="0" rtlCol="0" anchor="t"/>
          <a:lstStyle/>
          <a:p>
            <a:pPr marL="342900" indent="-342900" algn="l">
              <a:lnSpc>
                <a:spcPts val="2600"/>
              </a:lnSpc>
              <a:buSzPct val="100000"/>
              <a:buChar char="•"/>
            </a:pPr>
            <a:r>
              <a:rPr lang="en-US" sz="1600" dirty="0">
                <a:latin typeface="Lato" pitchFamily="34" charset="0"/>
                <a:ea typeface="Lato" pitchFamily="34" charset="-122"/>
                <a:cs typeface="Lato" pitchFamily="34" charset="-120"/>
              </a:rPr>
              <a:t>AI tutoring systems (ChatGPT, AI assistants)</a:t>
            </a:r>
            <a:endParaRPr lang="en-US" sz="1600" dirty="0"/>
          </a:p>
          <a:p>
            <a:pPr marL="342900" indent="-342900" algn="l">
              <a:lnSpc>
                <a:spcPts val="2600"/>
              </a:lnSpc>
              <a:buSzPct val="100000"/>
              <a:buChar char="•"/>
            </a:pPr>
            <a:r>
              <a:rPr lang="en-US" sz="1600" dirty="0">
                <a:latin typeface="Lato" pitchFamily="34" charset="0"/>
                <a:ea typeface="Lato" pitchFamily="34" charset="-122"/>
                <a:cs typeface="Lato" pitchFamily="34" charset="-120"/>
              </a:rPr>
              <a:t>Flashcard applications (Anki, Quizlet)</a:t>
            </a:r>
            <a:endParaRPr lang="en-US" sz="1600" dirty="0"/>
          </a:p>
          <a:p>
            <a:pPr marL="342900" indent="-342900" algn="l">
              <a:lnSpc>
                <a:spcPts val="2600"/>
              </a:lnSpc>
              <a:buSzPct val="100000"/>
              <a:buChar char="•"/>
            </a:pPr>
            <a:r>
              <a:rPr lang="en-US" sz="1600" dirty="0">
                <a:latin typeface="Lato" pitchFamily="34" charset="0"/>
                <a:ea typeface="Lato" pitchFamily="34" charset="-122"/>
                <a:cs typeface="Lato" pitchFamily="34" charset="-120"/>
              </a:rPr>
              <a:t>Lecture summarisation tools</a:t>
            </a:r>
            <a:endParaRPr lang="en-US" sz="1600" dirty="0"/>
          </a:p>
          <a:p>
            <a:pPr marL="342900" indent="-342900" algn="l">
              <a:lnSpc>
                <a:spcPts val="2600"/>
              </a:lnSpc>
              <a:buSzPct val="100000"/>
              <a:buChar char="•"/>
            </a:pPr>
            <a:r>
              <a:rPr lang="en-US" sz="1600" dirty="0">
                <a:latin typeface="Lato" pitchFamily="34" charset="0"/>
                <a:ea typeface="Lato" pitchFamily="34" charset="-122"/>
                <a:cs typeface="Lato" pitchFamily="34" charset="-120"/>
              </a:rPr>
              <a:t>Learning Management Systems (LMS)</a:t>
            </a:r>
            <a:endParaRPr lang="en-US" sz="1600" dirty="0"/>
          </a:p>
        </p:txBody>
      </p:sp>
      <p:sp>
        <p:nvSpPr>
          <p:cNvPr id="6" name="Text 3"/>
          <p:cNvSpPr/>
          <p:nvPr/>
        </p:nvSpPr>
        <p:spPr>
          <a:xfrm>
            <a:off x="10328910" y="2529469"/>
            <a:ext cx="2693551" cy="336590"/>
          </a:xfrm>
          <a:prstGeom prst="rect">
            <a:avLst/>
          </a:prstGeom>
          <a:noFill/>
          <a:ln/>
        </p:spPr>
        <p:txBody>
          <a:bodyPr wrap="none" lIns="0" tIns="0" rIns="0" bIns="0" rtlCol="0" anchor="t"/>
          <a:lstStyle/>
          <a:p>
            <a:pPr marL="0" indent="0" algn="l">
              <a:lnSpc>
                <a:spcPts val="2650"/>
              </a:lnSpc>
              <a:buNone/>
            </a:pPr>
            <a:r>
              <a:rPr lang="en-US" sz="2100" b="1" dirty="0">
                <a:latin typeface="Lato Bold" pitchFamily="34" charset="0"/>
                <a:ea typeface="Lato Bold" pitchFamily="34" charset="-122"/>
                <a:cs typeface="Lato Bold" pitchFamily="34" charset="-120"/>
              </a:rPr>
              <a:t>Key Limitations</a:t>
            </a:r>
            <a:endParaRPr lang="en-US" sz="2100" dirty="0"/>
          </a:p>
        </p:txBody>
      </p:sp>
      <p:sp>
        <p:nvSpPr>
          <p:cNvPr id="7" name="Text 4"/>
          <p:cNvSpPr/>
          <p:nvPr/>
        </p:nvSpPr>
        <p:spPr>
          <a:xfrm>
            <a:off x="10328910" y="3070727"/>
            <a:ext cx="3515320" cy="3647361"/>
          </a:xfrm>
          <a:prstGeom prst="rect">
            <a:avLst/>
          </a:prstGeom>
          <a:noFill/>
          <a:ln/>
        </p:spPr>
        <p:txBody>
          <a:bodyPr wrap="square" lIns="0" tIns="0" rIns="0" bIns="0" rtlCol="0" anchor="t"/>
          <a:lstStyle/>
          <a:p>
            <a:pPr marL="342900" indent="-342900" algn="l">
              <a:lnSpc>
                <a:spcPts val="2600"/>
              </a:lnSpc>
              <a:buSzPct val="100000"/>
              <a:buChar char="•"/>
            </a:pPr>
            <a:r>
              <a:rPr lang="en-US" sz="1600" dirty="0">
                <a:latin typeface="Lato" pitchFamily="34" charset="0"/>
                <a:ea typeface="Lato" pitchFamily="34" charset="-122"/>
                <a:cs typeface="Lato" pitchFamily="34" charset="-120"/>
              </a:rPr>
              <a:t>AI tutors may generate incorrect or hallucinated answers</a:t>
            </a:r>
            <a:endParaRPr lang="en-US" sz="1600" dirty="0"/>
          </a:p>
          <a:p>
            <a:pPr marL="342900" indent="-342900" algn="l">
              <a:lnSpc>
                <a:spcPts val="2600"/>
              </a:lnSpc>
              <a:buSzPct val="100000"/>
              <a:buChar char="•"/>
            </a:pPr>
            <a:r>
              <a:rPr lang="en-US" sz="1600" dirty="0">
                <a:latin typeface="Lato" pitchFamily="34" charset="0"/>
                <a:ea typeface="Lato" pitchFamily="34" charset="-122"/>
                <a:cs typeface="Lato" pitchFamily="34" charset="-120"/>
              </a:rPr>
              <a:t>Summaries often not aligned with course learning objectives</a:t>
            </a:r>
            <a:endParaRPr lang="en-US" sz="1600" dirty="0"/>
          </a:p>
          <a:p>
            <a:pPr marL="342900" indent="-342900" algn="l">
              <a:lnSpc>
                <a:spcPts val="2600"/>
              </a:lnSpc>
              <a:buSzPct val="100000"/>
              <a:buChar char="•"/>
            </a:pPr>
            <a:r>
              <a:rPr lang="en-US" sz="1600" dirty="0">
                <a:latin typeface="Lato" pitchFamily="34" charset="0"/>
                <a:ea typeface="Lato" pitchFamily="34" charset="-122"/>
                <a:cs typeface="Lato" pitchFamily="34" charset="-120"/>
              </a:rPr>
              <a:t>Systems do not consider student emotional or cognitive state</a:t>
            </a:r>
            <a:endParaRPr lang="en-US" sz="1600" dirty="0"/>
          </a:p>
          <a:p>
            <a:pPr marL="342900" indent="-342900" algn="l">
              <a:lnSpc>
                <a:spcPts val="2600"/>
              </a:lnSpc>
              <a:buSzPct val="100000"/>
              <a:buChar char="•"/>
            </a:pPr>
            <a:r>
              <a:rPr lang="en-US" sz="1600" dirty="0">
                <a:latin typeface="Lato" pitchFamily="34" charset="0"/>
                <a:ea typeface="Lato" pitchFamily="34" charset="-122"/>
                <a:cs typeface="Lato" pitchFamily="34" charset="-120"/>
              </a:rPr>
              <a:t>Study reminders are static and not personalised</a:t>
            </a:r>
            <a:endParaRPr lang="en-US" sz="1600" dirty="0"/>
          </a:p>
          <a:p>
            <a:pPr marL="342900" indent="-342900" algn="l">
              <a:lnSpc>
                <a:spcPts val="2600"/>
              </a:lnSpc>
              <a:buSzPct val="100000"/>
              <a:buChar char="•"/>
            </a:pPr>
            <a:r>
              <a:rPr lang="en-US" sz="1600" dirty="0">
                <a:latin typeface="Lato" pitchFamily="34" charset="0"/>
                <a:ea typeface="Lato" pitchFamily="34" charset="-122"/>
                <a:cs typeface="Lato" pitchFamily="34" charset="-120"/>
              </a:rPr>
              <a:t>Most tools work independently without integration</a:t>
            </a:r>
            <a:endParaRPr lang="en-US" sz="1600" dirty="0"/>
          </a:p>
        </p:txBody>
      </p:sp>
      <p:sp>
        <p:nvSpPr>
          <p:cNvPr id="9" name="Rectangle 8">
            <a:extLst>
              <a:ext uri="{FF2B5EF4-FFF2-40B4-BE49-F238E27FC236}">
                <a16:creationId xmlns:a16="http://schemas.microsoft.com/office/drawing/2014/main" id="{31999A94-FC87-3FFB-8242-4E25609B0457}"/>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R26-SE-022</a:t>
            </a:r>
            <a:endParaRPr lang="en-US" sz="1600"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498764" y="488960"/>
            <a:ext cx="8645236" cy="531614"/>
          </a:xfrm>
          <a:prstGeom prst="rect">
            <a:avLst/>
          </a:prstGeom>
          <a:noFill/>
          <a:ln/>
        </p:spPr>
        <p:txBody>
          <a:bodyPr wrap="none" lIns="0" tIns="0" rIns="0" bIns="0" rtlCol="0" anchor="t"/>
          <a:lstStyle/>
          <a:p>
            <a:pPr marL="0" indent="0" algn="l">
              <a:lnSpc>
                <a:spcPts val="4150"/>
              </a:lnSpc>
              <a:buNone/>
            </a:pPr>
            <a:r>
              <a:rPr lang="en-US" sz="3800" b="1" dirty="0">
                <a:latin typeface="Lato Bold" pitchFamily="34" charset="0"/>
                <a:ea typeface="Lato Bold" pitchFamily="34" charset="-122"/>
                <a:cs typeface="Lato Bold" pitchFamily="34" charset="-120"/>
              </a:rPr>
              <a:t>Proposed Solution and System Novelty</a:t>
            </a:r>
            <a:endParaRPr lang="en-US" sz="3800" dirty="0"/>
          </a:p>
        </p:txBody>
      </p:sp>
      <p:sp>
        <p:nvSpPr>
          <p:cNvPr id="4" name="Text 1"/>
          <p:cNvSpPr/>
          <p:nvPr/>
        </p:nvSpPr>
        <p:spPr>
          <a:xfrm>
            <a:off x="793790" y="1569125"/>
            <a:ext cx="4322802" cy="318849"/>
          </a:xfrm>
          <a:prstGeom prst="rect">
            <a:avLst/>
          </a:prstGeom>
          <a:noFill/>
          <a:ln/>
        </p:spPr>
        <p:txBody>
          <a:bodyPr wrap="none" lIns="0" tIns="0" rIns="0" bIns="0" rtlCol="0" anchor="t"/>
          <a:lstStyle/>
          <a:p>
            <a:pPr marL="0" indent="0" algn="l">
              <a:lnSpc>
                <a:spcPts val="2500"/>
              </a:lnSpc>
              <a:buNone/>
            </a:pPr>
            <a:r>
              <a:rPr lang="en-US" sz="2000" b="1" dirty="0">
                <a:latin typeface="Lato Bold" pitchFamily="34" charset="0"/>
                <a:ea typeface="Lato Bold" pitchFamily="34" charset="-122"/>
                <a:cs typeface="Lato Bold" pitchFamily="34" charset="-120"/>
              </a:rPr>
              <a:t>AI-Enabled Intelligent Study Assistant</a:t>
            </a:r>
            <a:endParaRPr lang="en-US" sz="2000" dirty="0"/>
          </a:p>
        </p:txBody>
      </p:sp>
      <p:sp>
        <p:nvSpPr>
          <p:cNvPr id="5" name="Text 2"/>
          <p:cNvSpPr/>
          <p:nvPr/>
        </p:nvSpPr>
        <p:spPr>
          <a:xfrm>
            <a:off x="793790" y="2079308"/>
            <a:ext cx="7556421" cy="476250"/>
          </a:xfrm>
          <a:prstGeom prst="rect">
            <a:avLst/>
          </a:prstGeom>
          <a:noFill/>
          <a:ln/>
        </p:spPr>
        <p:txBody>
          <a:bodyPr wrap="square" lIns="0" tIns="0" rIns="0" bIns="0" rtlCol="0" anchor="t"/>
          <a:lstStyle/>
          <a:p>
            <a:pPr marL="0" indent="0" algn="l">
              <a:lnSpc>
                <a:spcPts val="1850"/>
              </a:lnSpc>
              <a:buNone/>
            </a:pPr>
            <a:r>
              <a:rPr lang="en-US" sz="1600" dirty="0">
                <a:latin typeface="Lato" pitchFamily="34" charset="0"/>
                <a:ea typeface="Lato" pitchFamily="34" charset="-122"/>
                <a:cs typeface="Lato" pitchFamily="34" charset="-120"/>
              </a:rPr>
              <a:t>An integrated platform designed to improve student learning efficiency and engagement through cutting-edge AI technologies.</a:t>
            </a:r>
            <a:endParaRPr lang="en-US" sz="1600" dirty="0"/>
          </a:p>
        </p:txBody>
      </p:sp>
      <p:sp>
        <p:nvSpPr>
          <p:cNvPr id="6" name="Shape 3"/>
          <p:cNvSpPr/>
          <p:nvPr/>
        </p:nvSpPr>
        <p:spPr>
          <a:xfrm>
            <a:off x="793790" y="2699028"/>
            <a:ext cx="2433757" cy="1448753"/>
          </a:xfrm>
          <a:prstGeom prst="roundRect">
            <a:avLst>
              <a:gd name="adj" fmla="val 1761"/>
            </a:avLst>
          </a:prstGeom>
          <a:solidFill>
            <a:srgbClr val="EFECE6"/>
          </a:solidFill>
          <a:ln w="22860">
            <a:solidFill>
              <a:srgbClr val="CBC5B8"/>
            </a:solidFill>
            <a:prstDash val="solid"/>
          </a:ln>
        </p:spPr>
        <p:txBody>
          <a:bodyPr/>
          <a:lstStyle/>
          <a:p>
            <a:endParaRPr lang="en-US"/>
          </a:p>
        </p:txBody>
      </p:sp>
      <p:sp>
        <p:nvSpPr>
          <p:cNvPr id="7" name="Text 4"/>
          <p:cNvSpPr/>
          <p:nvPr/>
        </p:nvSpPr>
        <p:spPr>
          <a:xfrm>
            <a:off x="986671" y="2891909"/>
            <a:ext cx="2047994" cy="531495"/>
          </a:xfrm>
          <a:prstGeom prst="rect">
            <a:avLst/>
          </a:prstGeom>
          <a:noFill/>
          <a:ln/>
        </p:spPr>
        <p:txBody>
          <a:bodyPr wrap="square" lIns="0" tIns="0" rIns="0" bIns="0" rtlCol="0" anchor="t"/>
          <a:lstStyle/>
          <a:p>
            <a:pPr marL="0" indent="0" algn="l">
              <a:lnSpc>
                <a:spcPts val="2050"/>
              </a:lnSpc>
              <a:buNone/>
            </a:pPr>
            <a:r>
              <a:rPr lang="en-US" sz="1700" b="1" dirty="0">
                <a:latin typeface="Lato Bold" pitchFamily="34" charset="0"/>
                <a:ea typeface="Lato Bold" pitchFamily="34" charset="-122"/>
                <a:cs typeface="Lato Bold" pitchFamily="34" charset="-120"/>
              </a:rPr>
              <a:t>Confidence-Aware LLM Tutoring System</a:t>
            </a:r>
            <a:endParaRPr lang="en-US" sz="1700" dirty="0"/>
          </a:p>
        </p:txBody>
      </p:sp>
      <p:sp>
        <p:nvSpPr>
          <p:cNvPr id="8" name="Shape 5"/>
          <p:cNvSpPr/>
          <p:nvPr/>
        </p:nvSpPr>
        <p:spPr>
          <a:xfrm>
            <a:off x="3355062" y="2699028"/>
            <a:ext cx="2433757" cy="1448753"/>
          </a:xfrm>
          <a:prstGeom prst="roundRect">
            <a:avLst>
              <a:gd name="adj" fmla="val 1761"/>
            </a:avLst>
          </a:prstGeom>
          <a:solidFill>
            <a:srgbClr val="EFECE6"/>
          </a:solidFill>
          <a:ln w="22860">
            <a:solidFill>
              <a:srgbClr val="CBC5B8"/>
            </a:solidFill>
            <a:prstDash val="solid"/>
          </a:ln>
        </p:spPr>
        <p:txBody>
          <a:bodyPr/>
          <a:lstStyle/>
          <a:p>
            <a:endParaRPr lang="en-US"/>
          </a:p>
        </p:txBody>
      </p:sp>
      <p:sp>
        <p:nvSpPr>
          <p:cNvPr id="9" name="Text 6"/>
          <p:cNvSpPr/>
          <p:nvPr/>
        </p:nvSpPr>
        <p:spPr>
          <a:xfrm>
            <a:off x="3547943" y="2891909"/>
            <a:ext cx="2047994" cy="1062990"/>
          </a:xfrm>
          <a:prstGeom prst="rect">
            <a:avLst/>
          </a:prstGeom>
          <a:noFill/>
          <a:ln/>
        </p:spPr>
        <p:txBody>
          <a:bodyPr wrap="square" lIns="0" tIns="0" rIns="0" bIns="0" rtlCol="0" anchor="t"/>
          <a:lstStyle/>
          <a:p>
            <a:pPr marL="0" indent="0" algn="l">
              <a:lnSpc>
                <a:spcPts val="2050"/>
              </a:lnSpc>
              <a:buNone/>
            </a:pPr>
            <a:r>
              <a:rPr lang="en-US" sz="1700" b="1" dirty="0">
                <a:latin typeface="Lato Bold" pitchFamily="34" charset="0"/>
                <a:ea typeface="Lato Bold" pitchFamily="34" charset="-122"/>
                <a:cs typeface="Lato Bold" pitchFamily="34" charset="-120"/>
              </a:rPr>
              <a:t>Learning-Objective-Aware Lecture Summarisation &amp; Flashcards</a:t>
            </a:r>
            <a:endParaRPr lang="en-US" sz="1700" dirty="0"/>
          </a:p>
        </p:txBody>
      </p:sp>
      <p:sp>
        <p:nvSpPr>
          <p:cNvPr id="10" name="Shape 7"/>
          <p:cNvSpPr/>
          <p:nvPr/>
        </p:nvSpPr>
        <p:spPr>
          <a:xfrm>
            <a:off x="5916335" y="2699028"/>
            <a:ext cx="2433876" cy="1448753"/>
          </a:xfrm>
          <a:prstGeom prst="roundRect">
            <a:avLst>
              <a:gd name="adj" fmla="val 1761"/>
            </a:avLst>
          </a:prstGeom>
          <a:solidFill>
            <a:srgbClr val="EFECE6"/>
          </a:solidFill>
          <a:ln w="22860">
            <a:solidFill>
              <a:srgbClr val="CBC5B8"/>
            </a:solidFill>
            <a:prstDash val="solid"/>
          </a:ln>
        </p:spPr>
        <p:txBody>
          <a:bodyPr/>
          <a:lstStyle/>
          <a:p>
            <a:endParaRPr lang="en-US"/>
          </a:p>
        </p:txBody>
      </p:sp>
      <p:sp>
        <p:nvSpPr>
          <p:cNvPr id="11" name="Text 8"/>
          <p:cNvSpPr/>
          <p:nvPr/>
        </p:nvSpPr>
        <p:spPr>
          <a:xfrm>
            <a:off x="6109216" y="2891909"/>
            <a:ext cx="2048113" cy="797243"/>
          </a:xfrm>
          <a:prstGeom prst="rect">
            <a:avLst/>
          </a:prstGeom>
          <a:noFill/>
          <a:ln/>
        </p:spPr>
        <p:txBody>
          <a:bodyPr wrap="square" lIns="0" tIns="0" rIns="0" bIns="0" rtlCol="0" anchor="t"/>
          <a:lstStyle/>
          <a:p>
            <a:pPr marL="0" indent="0" algn="l">
              <a:lnSpc>
                <a:spcPts val="2050"/>
              </a:lnSpc>
              <a:buNone/>
            </a:pPr>
            <a:r>
              <a:rPr lang="en-US" sz="1700" b="1" dirty="0">
                <a:latin typeface="Lato Bold" pitchFamily="34" charset="0"/>
                <a:ea typeface="Lato Bold" pitchFamily="34" charset="-122"/>
                <a:cs typeface="Lato Bold" pitchFamily="34" charset="-120"/>
              </a:rPr>
              <a:t>Affect &amp; Attention-Aware Emotion Detection Module</a:t>
            </a:r>
            <a:endParaRPr lang="en-US" sz="1700" dirty="0"/>
          </a:p>
        </p:txBody>
      </p:sp>
      <p:sp>
        <p:nvSpPr>
          <p:cNvPr id="12" name="Shape 9"/>
          <p:cNvSpPr/>
          <p:nvPr/>
        </p:nvSpPr>
        <p:spPr>
          <a:xfrm>
            <a:off x="793790" y="4275296"/>
            <a:ext cx="7556421" cy="651510"/>
          </a:xfrm>
          <a:prstGeom prst="roundRect">
            <a:avLst>
              <a:gd name="adj" fmla="val 3917"/>
            </a:avLst>
          </a:prstGeom>
          <a:solidFill>
            <a:srgbClr val="EFECE6"/>
          </a:solidFill>
          <a:ln w="22860">
            <a:solidFill>
              <a:srgbClr val="CBC5B8"/>
            </a:solidFill>
            <a:prstDash val="solid"/>
          </a:ln>
        </p:spPr>
        <p:txBody>
          <a:bodyPr/>
          <a:lstStyle/>
          <a:p>
            <a:endParaRPr lang="en-US"/>
          </a:p>
        </p:txBody>
      </p:sp>
      <p:sp>
        <p:nvSpPr>
          <p:cNvPr id="13" name="Text 10"/>
          <p:cNvSpPr/>
          <p:nvPr/>
        </p:nvSpPr>
        <p:spPr>
          <a:xfrm>
            <a:off x="986671" y="4468178"/>
            <a:ext cx="4712137" cy="265747"/>
          </a:xfrm>
          <a:prstGeom prst="rect">
            <a:avLst/>
          </a:prstGeom>
          <a:noFill/>
          <a:ln/>
        </p:spPr>
        <p:txBody>
          <a:bodyPr wrap="none" lIns="0" tIns="0" rIns="0" bIns="0" rtlCol="0" anchor="t"/>
          <a:lstStyle/>
          <a:p>
            <a:pPr marL="0" indent="0" algn="l">
              <a:lnSpc>
                <a:spcPts val="2050"/>
              </a:lnSpc>
              <a:buNone/>
            </a:pPr>
            <a:r>
              <a:rPr lang="en-US" sz="1700" b="1" dirty="0">
                <a:latin typeface="Lato Bold" pitchFamily="34" charset="0"/>
                <a:ea typeface="Lato Bold" pitchFamily="34" charset="-122"/>
                <a:cs typeface="Lato Bold" pitchFamily="34" charset="-120"/>
              </a:rPr>
              <a:t>Emotion-Aware Adaptive Study Reminder System</a:t>
            </a:r>
            <a:endParaRPr lang="en-US" sz="1700" dirty="0"/>
          </a:p>
        </p:txBody>
      </p:sp>
      <p:sp>
        <p:nvSpPr>
          <p:cNvPr id="14" name="Text 11"/>
          <p:cNvSpPr/>
          <p:nvPr/>
        </p:nvSpPr>
        <p:spPr>
          <a:xfrm>
            <a:off x="793790" y="5197793"/>
            <a:ext cx="2126456" cy="265747"/>
          </a:xfrm>
          <a:prstGeom prst="rect">
            <a:avLst/>
          </a:prstGeom>
          <a:noFill/>
          <a:ln/>
        </p:spPr>
        <p:txBody>
          <a:bodyPr wrap="none" lIns="0" tIns="0" rIns="0" bIns="0" rtlCol="0" anchor="t"/>
          <a:lstStyle/>
          <a:p>
            <a:pPr marL="0" indent="0" algn="l">
              <a:lnSpc>
                <a:spcPts val="2050"/>
              </a:lnSpc>
              <a:buNone/>
            </a:pPr>
            <a:r>
              <a:rPr lang="en-US" sz="1650" b="1" dirty="0">
                <a:latin typeface="Lato Bold" pitchFamily="34" charset="0"/>
                <a:ea typeface="Lato Bold" pitchFamily="34" charset="-122"/>
                <a:cs typeface="Lato Bold" pitchFamily="34" charset="-120"/>
              </a:rPr>
              <a:t>System Specialty</a:t>
            </a:r>
            <a:endParaRPr lang="en-US" sz="1650" dirty="0"/>
          </a:p>
        </p:txBody>
      </p:sp>
      <p:sp>
        <p:nvSpPr>
          <p:cNvPr id="15" name="Text 12"/>
          <p:cNvSpPr/>
          <p:nvPr/>
        </p:nvSpPr>
        <p:spPr>
          <a:xfrm>
            <a:off x="793790" y="5591055"/>
            <a:ext cx="3570684" cy="1973145"/>
          </a:xfrm>
          <a:prstGeom prst="rect">
            <a:avLst/>
          </a:prstGeom>
          <a:noFill/>
          <a:ln/>
        </p:spPr>
        <p:txBody>
          <a:bodyPr wrap="square" lIns="0" tIns="0" rIns="0" bIns="0" rtlCol="0" anchor="t"/>
          <a:lstStyle/>
          <a:p>
            <a:pPr marL="342900" indent="-342900" algn="l">
              <a:lnSpc>
                <a:spcPts val="2200"/>
              </a:lnSpc>
              <a:buSzPct val="100000"/>
              <a:buChar char="•"/>
            </a:pPr>
            <a:r>
              <a:rPr lang="en-US" sz="1600" dirty="0">
                <a:latin typeface="Lato" pitchFamily="34" charset="0"/>
                <a:ea typeface="Lato" pitchFamily="34" charset="-122"/>
                <a:cs typeface="Lato" pitchFamily="34" charset="-120"/>
              </a:rPr>
              <a:t>Reduces hallucinated AI responses</a:t>
            </a:r>
            <a:endParaRPr lang="en-US" sz="1600" dirty="0"/>
          </a:p>
          <a:p>
            <a:pPr marL="342900" indent="-342900" algn="l">
              <a:lnSpc>
                <a:spcPts val="2200"/>
              </a:lnSpc>
              <a:buSzPct val="100000"/>
              <a:buChar char="•"/>
            </a:pPr>
            <a:r>
              <a:rPr lang="en-US" sz="1600" dirty="0">
                <a:latin typeface="Lato" pitchFamily="34" charset="0"/>
                <a:ea typeface="Lato" pitchFamily="34" charset="-122"/>
                <a:cs typeface="Lato" pitchFamily="34" charset="-120"/>
              </a:rPr>
              <a:t>Generates exam-focused summaries</a:t>
            </a:r>
            <a:endParaRPr lang="en-US" sz="1600" dirty="0"/>
          </a:p>
          <a:p>
            <a:pPr marL="342900" indent="-342900" algn="l">
              <a:lnSpc>
                <a:spcPts val="2200"/>
              </a:lnSpc>
              <a:buSzPct val="100000"/>
              <a:buChar char="•"/>
            </a:pPr>
            <a:r>
              <a:rPr lang="en-US" sz="1600" dirty="0">
                <a:latin typeface="Lato" pitchFamily="34" charset="0"/>
                <a:ea typeface="Lato" pitchFamily="34" charset="-122"/>
                <a:cs typeface="Lato" pitchFamily="34" charset="-120"/>
              </a:rPr>
              <a:t>Detects student emotional and attention states</a:t>
            </a:r>
            <a:endParaRPr lang="en-US" sz="1600" dirty="0"/>
          </a:p>
          <a:p>
            <a:pPr marL="342900" indent="-342900" algn="l">
              <a:lnSpc>
                <a:spcPts val="2200"/>
              </a:lnSpc>
              <a:buSzPct val="100000"/>
              <a:buChar char="•"/>
            </a:pPr>
            <a:r>
              <a:rPr lang="en-US" sz="1600" dirty="0">
                <a:latin typeface="Lato" pitchFamily="34" charset="0"/>
                <a:ea typeface="Lato" pitchFamily="34" charset="-122"/>
                <a:cs typeface="Lato" pitchFamily="34" charset="-120"/>
              </a:rPr>
              <a:t>Provides adaptive study scheduling</a:t>
            </a:r>
            <a:endParaRPr lang="en-US" sz="1600" dirty="0"/>
          </a:p>
          <a:p>
            <a:pPr marL="342900" indent="-342900" algn="l">
              <a:lnSpc>
                <a:spcPts val="2200"/>
              </a:lnSpc>
              <a:buSzPct val="100000"/>
              <a:buChar char="•"/>
            </a:pPr>
            <a:r>
              <a:rPr lang="en-US" sz="1600" dirty="0">
                <a:latin typeface="Lato" pitchFamily="34" charset="0"/>
                <a:ea typeface="Lato" pitchFamily="34" charset="-122"/>
                <a:cs typeface="Lato" pitchFamily="34" charset="-120"/>
              </a:rPr>
              <a:t>Integrates multiple AI technologies</a:t>
            </a:r>
            <a:endParaRPr lang="en-US" sz="1600" dirty="0"/>
          </a:p>
        </p:txBody>
      </p:sp>
      <p:sp>
        <p:nvSpPr>
          <p:cNvPr id="16" name="Text 13"/>
          <p:cNvSpPr/>
          <p:nvPr/>
        </p:nvSpPr>
        <p:spPr>
          <a:xfrm>
            <a:off x="4787146" y="5197793"/>
            <a:ext cx="2126456" cy="265747"/>
          </a:xfrm>
          <a:prstGeom prst="rect">
            <a:avLst/>
          </a:prstGeom>
          <a:noFill/>
          <a:ln/>
        </p:spPr>
        <p:txBody>
          <a:bodyPr wrap="none" lIns="0" tIns="0" rIns="0" bIns="0" rtlCol="0" anchor="t"/>
          <a:lstStyle/>
          <a:p>
            <a:pPr marL="0" indent="0" algn="l">
              <a:lnSpc>
                <a:spcPts val="2050"/>
              </a:lnSpc>
              <a:buNone/>
            </a:pPr>
            <a:r>
              <a:rPr lang="en-US" sz="1650" b="1" dirty="0">
                <a:latin typeface="Lato Bold" pitchFamily="34" charset="0"/>
                <a:ea typeface="Lato Bold" pitchFamily="34" charset="-122"/>
                <a:cs typeface="Lato Bold" pitchFamily="34" charset="-120"/>
              </a:rPr>
              <a:t>Expected Benefits</a:t>
            </a:r>
            <a:endParaRPr lang="en-US" sz="1650" dirty="0"/>
          </a:p>
        </p:txBody>
      </p:sp>
      <p:sp>
        <p:nvSpPr>
          <p:cNvPr id="17" name="Text 14"/>
          <p:cNvSpPr/>
          <p:nvPr/>
        </p:nvSpPr>
        <p:spPr>
          <a:xfrm>
            <a:off x="4787146" y="5591056"/>
            <a:ext cx="3570684" cy="1194119"/>
          </a:xfrm>
          <a:prstGeom prst="rect">
            <a:avLst/>
          </a:prstGeom>
          <a:noFill/>
          <a:ln/>
        </p:spPr>
        <p:txBody>
          <a:bodyPr wrap="square" lIns="0" tIns="0" rIns="0" bIns="0" rtlCol="0" anchor="t"/>
          <a:lstStyle/>
          <a:p>
            <a:pPr marL="342900" indent="-342900" algn="l">
              <a:lnSpc>
                <a:spcPts val="2200"/>
              </a:lnSpc>
              <a:buSzPct val="100000"/>
              <a:buChar char="•"/>
            </a:pPr>
            <a:r>
              <a:rPr lang="en-US" sz="1600" dirty="0">
                <a:latin typeface="Lato" pitchFamily="34" charset="0"/>
                <a:ea typeface="Lato" pitchFamily="34" charset="-122"/>
                <a:cs typeface="Lato" pitchFamily="34" charset="-120"/>
              </a:rPr>
              <a:t>Improved learning outcomes</a:t>
            </a:r>
            <a:endParaRPr lang="en-US" sz="1600" dirty="0"/>
          </a:p>
          <a:p>
            <a:pPr marL="342900" indent="-342900" algn="l">
              <a:lnSpc>
                <a:spcPts val="2200"/>
              </a:lnSpc>
              <a:buSzPct val="100000"/>
              <a:buChar char="•"/>
            </a:pPr>
            <a:r>
              <a:rPr lang="en-US" sz="1600" dirty="0">
                <a:latin typeface="Lato" pitchFamily="34" charset="0"/>
                <a:ea typeface="Lato" pitchFamily="34" charset="-122"/>
                <a:cs typeface="Lato" pitchFamily="34" charset="-120"/>
              </a:rPr>
              <a:t>Personalised study support</a:t>
            </a:r>
            <a:endParaRPr lang="en-US" sz="1600" dirty="0"/>
          </a:p>
          <a:p>
            <a:pPr marL="342900" indent="-342900" algn="l">
              <a:lnSpc>
                <a:spcPts val="2200"/>
              </a:lnSpc>
              <a:buSzPct val="100000"/>
              <a:buChar char="•"/>
            </a:pPr>
            <a:r>
              <a:rPr lang="en-US" sz="1600" dirty="0">
                <a:latin typeface="Lato" pitchFamily="34" charset="0"/>
                <a:ea typeface="Lato" pitchFamily="34" charset="-122"/>
                <a:cs typeface="Lato" pitchFamily="34" charset="-120"/>
              </a:rPr>
              <a:t>Reduced cognitive overload</a:t>
            </a:r>
            <a:endParaRPr lang="en-US" sz="1600" dirty="0"/>
          </a:p>
          <a:p>
            <a:pPr marL="342900" indent="-342900" algn="l">
              <a:lnSpc>
                <a:spcPts val="2200"/>
              </a:lnSpc>
              <a:buSzPct val="100000"/>
              <a:buChar char="•"/>
            </a:pPr>
            <a:r>
              <a:rPr lang="en-US" sz="1600" dirty="0">
                <a:latin typeface="Lato" pitchFamily="34" charset="0"/>
                <a:ea typeface="Lato" pitchFamily="34" charset="-122"/>
                <a:cs typeface="Lato" pitchFamily="34" charset="-120"/>
              </a:rPr>
              <a:t>Enhanced student engagement</a:t>
            </a:r>
            <a:endParaRPr lang="en-US" sz="1600" dirty="0"/>
          </a:p>
        </p:txBody>
      </p:sp>
      <p:sp>
        <p:nvSpPr>
          <p:cNvPr id="18" name="Rectangle 17">
            <a:extLst>
              <a:ext uri="{FF2B5EF4-FFF2-40B4-BE49-F238E27FC236}">
                <a16:creationId xmlns:a16="http://schemas.microsoft.com/office/drawing/2014/main" id="{97E2F89B-EC06-42F4-7A35-5608E93ADEC0}"/>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R26-SE-022</a:t>
            </a:r>
            <a:endParaRPr lang="en-US" sz="1600"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5902036" y="784979"/>
            <a:ext cx="8291946" cy="2159530"/>
          </a:xfrm>
          <a:prstGeom prst="rect">
            <a:avLst/>
          </a:prstGeom>
          <a:noFill/>
          <a:ln/>
        </p:spPr>
        <p:txBody>
          <a:bodyPr wrap="square" lIns="0" tIns="0" rIns="0" bIns="0" rtlCol="0" anchor="t"/>
          <a:lstStyle/>
          <a:p>
            <a:pPr marL="0" indent="0">
              <a:lnSpc>
                <a:spcPts val="5550"/>
              </a:lnSpc>
              <a:buNone/>
            </a:pPr>
            <a:r>
              <a:rPr lang="en-US" sz="3800" b="1" dirty="0">
                <a:latin typeface="Lato Bold" pitchFamily="34" charset="0"/>
                <a:ea typeface="Lato Bold" pitchFamily="34" charset="-122"/>
                <a:cs typeface="Lato Bold" pitchFamily="34" charset="-120"/>
              </a:rPr>
              <a:t>Component 1 - Confidence‑Aware Hallucination‑Controlled LLM Tutoring</a:t>
            </a:r>
            <a:endParaRPr lang="en-US" sz="3800" dirty="0"/>
          </a:p>
        </p:txBody>
      </p:sp>
      <p:sp>
        <p:nvSpPr>
          <p:cNvPr id="4" name="Shape 1"/>
          <p:cNvSpPr/>
          <p:nvPr/>
        </p:nvSpPr>
        <p:spPr>
          <a:xfrm>
            <a:off x="6280190" y="3025068"/>
            <a:ext cx="2367558" cy="3484364"/>
          </a:xfrm>
          <a:prstGeom prst="roundRect">
            <a:avLst>
              <a:gd name="adj" fmla="val 1437"/>
            </a:avLst>
          </a:prstGeom>
          <a:solidFill>
            <a:srgbClr val="E5DFD2"/>
          </a:solidFill>
          <a:ln/>
        </p:spPr>
        <p:txBody>
          <a:bodyPr/>
          <a:lstStyle/>
          <a:p>
            <a:endParaRPr lang="en-US"/>
          </a:p>
        </p:txBody>
      </p:sp>
      <p:sp>
        <p:nvSpPr>
          <p:cNvPr id="5" name="Text 2"/>
          <p:cNvSpPr/>
          <p:nvPr/>
        </p:nvSpPr>
        <p:spPr>
          <a:xfrm>
            <a:off x="6507004" y="3251882"/>
            <a:ext cx="1913930" cy="354330"/>
          </a:xfrm>
          <a:prstGeom prst="rect">
            <a:avLst/>
          </a:prstGeom>
          <a:noFill/>
          <a:ln/>
        </p:spPr>
        <p:txBody>
          <a:bodyPr wrap="none" lIns="0" tIns="0" rIns="0" bIns="0" rtlCol="0" anchor="t"/>
          <a:lstStyle/>
          <a:p>
            <a:pPr marL="0" indent="0" algn="l">
              <a:lnSpc>
                <a:spcPts val="2750"/>
              </a:lnSpc>
              <a:buNone/>
            </a:pPr>
            <a:r>
              <a:rPr lang="en-US" sz="2200" b="1" dirty="0">
                <a:latin typeface="Lato Bold" pitchFamily="34" charset="0"/>
                <a:ea typeface="Lato Bold" pitchFamily="34" charset="-122"/>
                <a:cs typeface="Lato Bold" pitchFamily="34" charset="-120"/>
              </a:rPr>
              <a:t>Problem</a:t>
            </a:r>
            <a:endParaRPr lang="en-US" sz="2200" dirty="0"/>
          </a:p>
        </p:txBody>
      </p:sp>
      <p:sp>
        <p:nvSpPr>
          <p:cNvPr id="6" name="Text 3"/>
          <p:cNvSpPr/>
          <p:nvPr/>
        </p:nvSpPr>
        <p:spPr>
          <a:xfrm>
            <a:off x="6400799" y="3742300"/>
            <a:ext cx="2130137" cy="2177415"/>
          </a:xfrm>
          <a:prstGeom prst="rect">
            <a:avLst/>
          </a:prstGeom>
          <a:noFill/>
          <a:ln/>
        </p:spPr>
        <p:txBody>
          <a:bodyPr wrap="square" lIns="0" tIns="0" rIns="0" bIns="0" rtlCol="0" anchor="t"/>
          <a:lstStyle/>
          <a:p>
            <a:pPr marL="285750" indent="-285750" algn="l">
              <a:lnSpc>
                <a:spcPts val="2850"/>
              </a:lnSpc>
              <a:buFont typeface="Wingdings" panose="05000000000000000000" pitchFamily="2" charset="2"/>
              <a:buChar char="ü"/>
            </a:pPr>
            <a:r>
              <a:rPr lang="en-US" sz="1600" dirty="0">
                <a:latin typeface="Lato" pitchFamily="34" charset="0"/>
                <a:ea typeface="Lato" pitchFamily="34" charset="-122"/>
                <a:cs typeface="Lato" pitchFamily="34" charset="-120"/>
              </a:rPr>
              <a:t>LLM tutors can hallucinate</a:t>
            </a:r>
            <a:endParaRPr lang="en-US" sz="1600" dirty="0"/>
          </a:p>
          <a:p>
            <a:pPr marL="285750" indent="-285750" algn="l">
              <a:lnSpc>
                <a:spcPts val="2850"/>
              </a:lnSpc>
              <a:buFont typeface="Wingdings" panose="05000000000000000000" pitchFamily="2" charset="2"/>
              <a:buChar char="ü"/>
            </a:pPr>
            <a:r>
              <a:rPr lang="en-US" sz="1600" dirty="0">
                <a:latin typeface="Lato" pitchFamily="34" charset="0"/>
                <a:ea typeface="Lato" pitchFamily="34" charset="-122"/>
                <a:cs typeface="Lato" pitchFamily="34" charset="-120"/>
              </a:rPr>
              <a:t>Incorrect academic explanations risk learning outcomes</a:t>
            </a:r>
            <a:endParaRPr lang="en-US" sz="1600" dirty="0"/>
          </a:p>
        </p:txBody>
      </p:sp>
      <p:sp>
        <p:nvSpPr>
          <p:cNvPr id="7" name="Shape 4"/>
          <p:cNvSpPr/>
          <p:nvPr/>
        </p:nvSpPr>
        <p:spPr>
          <a:xfrm>
            <a:off x="8874562" y="3025068"/>
            <a:ext cx="2367558" cy="3484364"/>
          </a:xfrm>
          <a:prstGeom prst="roundRect">
            <a:avLst>
              <a:gd name="adj" fmla="val 1437"/>
            </a:avLst>
          </a:prstGeom>
          <a:solidFill>
            <a:srgbClr val="E5DFD2"/>
          </a:solidFill>
          <a:ln/>
        </p:spPr>
        <p:txBody>
          <a:bodyPr/>
          <a:lstStyle/>
          <a:p>
            <a:endParaRPr lang="en-US"/>
          </a:p>
        </p:txBody>
      </p:sp>
      <p:sp>
        <p:nvSpPr>
          <p:cNvPr id="8" name="Text 5"/>
          <p:cNvSpPr/>
          <p:nvPr/>
        </p:nvSpPr>
        <p:spPr>
          <a:xfrm>
            <a:off x="9101376" y="3251882"/>
            <a:ext cx="1913930" cy="354330"/>
          </a:xfrm>
          <a:prstGeom prst="rect">
            <a:avLst/>
          </a:prstGeom>
          <a:noFill/>
          <a:ln/>
        </p:spPr>
        <p:txBody>
          <a:bodyPr wrap="none" lIns="0" tIns="0" rIns="0" bIns="0" rtlCol="0" anchor="t"/>
          <a:lstStyle/>
          <a:p>
            <a:pPr marL="0" indent="0" algn="l">
              <a:lnSpc>
                <a:spcPts val="2750"/>
              </a:lnSpc>
              <a:buNone/>
            </a:pPr>
            <a:r>
              <a:rPr lang="en-US" sz="2200" b="1" dirty="0">
                <a:latin typeface="Lato Bold" pitchFamily="34" charset="0"/>
                <a:ea typeface="Lato Bold" pitchFamily="34" charset="-122"/>
                <a:cs typeface="Lato Bold" pitchFamily="34" charset="-120"/>
              </a:rPr>
              <a:t>Novelty</a:t>
            </a:r>
            <a:endParaRPr lang="en-US" sz="2200" dirty="0"/>
          </a:p>
        </p:txBody>
      </p:sp>
      <p:sp>
        <p:nvSpPr>
          <p:cNvPr id="9" name="Text 6"/>
          <p:cNvSpPr/>
          <p:nvPr/>
        </p:nvSpPr>
        <p:spPr>
          <a:xfrm>
            <a:off x="9060873" y="3742300"/>
            <a:ext cx="2037561" cy="2540318"/>
          </a:xfrm>
          <a:prstGeom prst="rect">
            <a:avLst/>
          </a:prstGeom>
          <a:noFill/>
          <a:ln/>
        </p:spPr>
        <p:txBody>
          <a:bodyPr wrap="square" lIns="0" tIns="0" rIns="0" bIns="0" rtlCol="0" anchor="t"/>
          <a:lstStyle/>
          <a:p>
            <a:pPr marL="285750" indent="-285750" algn="l">
              <a:lnSpc>
                <a:spcPts val="2850"/>
              </a:lnSpc>
              <a:buFont typeface="Wingdings" panose="05000000000000000000" pitchFamily="2" charset="2"/>
              <a:buChar char="ü"/>
            </a:pPr>
            <a:r>
              <a:rPr lang="en-US" sz="1600" dirty="0">
                <a:latin typeface="Lato" pitchFamily="34" charset="0"/>
                <a:ea typeface="Lato" pitchFamily="34" charset="-122"/>
                <a:cs typeface="Lato" pitchFamily="34" charset="-120"/>
              </a:rPr>
              <a:t>Confidence‑aware responses</a:t>
            </a:r>
            <a:endParaRPr lang="en-US" sz="1600" dirty="0"/>
          </a:p>
          <a:p>
            <a:pPr marL="285750" indent="-285750" algn="l">
              <a:lnSpc>
                <a:spcPts val="2850"/>
              </a:lnSpc>
              <a:buFont typeface="Wingdings" panose="05000000000000000000" pitchFamily="2" charset="2"/>
              <a:buChar char="ü"/>
            </a:pPr>
            <a:r>
              <a:rPr lang="en-US" sz="1600" dirty="0">
                <a:latin typeface="Lato" pitchFamily="34" charset="0"/>
                <a:ea typeface="Lato" pitchFamily="34" charset="-122"/>
                <a:cs typeface="Lato" pitchFamily="34" charset="-120"/>
              </a:rPr>
              <a:t>Adaptive response control</a:t>
            </a:r>
            <a:endParaRPr lang="en-US" sz="1600" dirty="0"/>
          </a:p>
          <a:p>
            <a:pPr marL="285750" indent="-285750" algn="l">
              <a:lnSpc>
                <a:spcPts val="2850"/>
              </a:lnSpc>
              <a:buFont typeface="Wingdings" panose="05000000000000000000" pitchFamily="2" charset="2"/>
              <a:buChar char="ü"/>
            </a:pPr>
            <a:r>
              <a:rPr lang="en-US" sz="1600" dirty="0">
                <a:latin typeface="Lato" pitchFamily="34" charset="0"/>
                <a:ea typeface="Lato" pitchFamily="34" charset="-122"/>
                <a:cs typeface="Lato" pitchFamily="34" charset="-120"/>
              </a:rPr>
              <a:t>Course‑grounded RAG explanations</a:t>
            </a:r>
            <a:endParaRPr lang="en-US" sz="1600" dirty="0"/>
          </a:p>
        </p:txBody>
      </p:sp>
      <p:sp>
        <p:nvSpPr>
          <p:cNvPr id="10" name="Shape 7"/>
          <p:cNvSpPr/>
          <p:nvPr/>
        </p:nvSpPr>
        <p:spPr>
          <a:xfrm>
            <a:off x="11468933" y="3025068"/>
            <a:ext cx="2367558" cy="3484364"/>
          </a:xfrm>
          <a:prstGeom prst="roundRect">
            <a:avLst>
              <a:gd name="adj" fmla="val 1437"/>
            </a:avLst>
          </a:prstGeom>
          <a:solidFill>
            <a:srgbClr val="E5DFD2"/>
          </a:solidFill>
          <a:ln/>
        </p:spPr>
        <p:txBody>
          <a:bodyPr/>
          <a:lstStyle/>
          <a:p>
            <a:endParaRPr lang="en-US"/>
          </a:p>
        </p:txBody>
      </p:sp>
      <p:sp>
        <p:nvSpPr>
          <p:cNvPr id="11" name="Text 8"/>
          <p:cNvSpPr/>
          <p:nvPr/>
        </p:nvSpPr>
        <p:spPr>
          <a:xfrm>
            <a:off x="11695748" y="3251882"/>
            <a:ext cx="1913930" cy="354330"/>
          </a:xfrm>
          <a:prstGeom prst="rect">
            <a:avLst/>
          </a:prstGeom>
          <a:noFill/>
          <a:ln/>
        </p:spPr>
        <p:txBody>
          <a:bodyPr wrap="none" lIns="0" tIns="0" rIns="0" bIns="0" rtlCol="0" anchor="t"/>
          <a:lstStyle/>
          <a:p>
            <a:pPr marL="0" indent="0" algn="l">
              <a:lnSpc>
                <a:spcPts val="2750"/>
              </a:lnSpc>
              <a:buNone/>
            </a:pPr>
            <a:r>
              <a:rPr lang="en-US" sz="2200" b="1" dirty="0">
                <a:latin typeface="Lato Bold" pitchFamily="34" charset="0"/>
                <a:ea typeface="Lato Bold" pitchFamily="34" charset="-122"/>
                <a:cs typeface="Lato Bold" pitchFamily="34" charset="-120"/>
              </a:rPr>
              <a:t>Objectives</a:t>
            </a:r>
            <a:endParaRPr lang="en-US" sz="2200" dirty="0"/>
          </a:p>
        </p:txBody>
      </p:sp>
      <p:sp>
        <p:nvSpPr>
          <p:cNvPr id="12" name="Text 9"/>
          <p:cNvSpPr/>
          <p:nvPr/>
        </p:nvSpPr>
        <p:spPr>
          <a:xfrm>
            <a:off x="11591837" y="3742300"/>
            <a:ext cx="2140743" cy="2177415"/>
          </a:xfrm>
          <a:prstGeom prst="rect">
            <a:avLst/>
          </a:prstGeom>
          <a:noFill/>
          <a:ln/>
        </p:spPr>
        <p:txBody>
          <a:bodyPr wrap="square" lIns="0" tIns="0" rIns="0" bIns="0" rtlCol="0" anchor="t"/>
          <a:lstStyle/>
          <a:p>
            <a:pPr marL="285750" indent="-285750" algn="l">
              <a:lnSpc>
                <a:spcPts val="2850"/>
              </a:lnSpc>
              <a:buFont typeface="Wingdings" panose="05000000000000000000" pitchFamily="2" charset="2"/>
              <a:buChar char="ü"/>
            </a:pPr>
            <a:r>
              <a:rPr lang="en-US" sz="1600" dirty="0">
                <a:latin typeface="Lato" pitchFamily="34" charset="0"/>
                <a:ea typeface="Lato" pitchFamily="34" charset="-122"/>
                <a:cs typeface="Lato" pitchFamily="34" charset="-120"/>
              </a:rPr>
              <a:t>Reduce hallucination rate</a:t>
            </a:r>
            <a:endParaRPr lang="en-US" sz="1600" dirty="0"/>
          </a:p>
          <a:p>
            <a:pPr marL="285750" indent="-285750" algn="l">
              <a:lnSpc>
                <a:spcPts val="2850"/>
              </a:lnSpc>
              <a:buFont typeface="Wingdings" panose="05000000000000000000" pitchFamily="2" charset="2"/>
              <a:buChar char="ü"/>
            </a:pPr>
            <a:r>
              <a:rPr lang="en-US" sz="1600" dirty="0">
                <a:latin typeface="Lato" pitchFamily="34" charset="0"/>
                <a:ea typeface="Lato" pitchFamily="34" charset="-122"/>
                <a:cs typeface="Lato" pitchFamily="34" charset="-120"/>
              </a:rPr>
              <a:t>Improve reliability</a:t>
            </a:r>
            <a:endParaRPr lang="en-US" sz="1600" dirty="0"/>
          </a:p>
          <a:p>
            <a:pPr marL="285750" indent="-285750" algn="l">
              <a:lnSpc>
                <a:spcPts val="2850"/>
              </a:lnSpc>
              <a:buFont typeface="Wingdings" panose="05000000000000000000" pitchFamily="2" charset="2"/>
              <a:buChar char="ü"/>
            </a:pPr>
            <a:r>
              <a:rPr lang="en-US" sz="1600" dirty="0">
                <a:latin typeface="Lato" pitchFamily="34" charset="0"/>
                <a:ea typeface="Lato" pitchFamily="34" charset="-122"/>
                <a:cs typeface="Lato" pitchFamily="34" charset="-120"/>
              </a:rPr>
              <a:t>Ground answers in course materials</a:t>
            </a:r>
            <a:endParaRPr lang="en-US" sz="1600" dirty="0"/>
          </a:p>
        </p:txBody>
      </p:sp>
      <p:sp>
        <p:nvSpPr>
          <p:cNvPr id="14" name="Rectangle 13">
            <a:extLst>
              <a:ext uri="{FF2B5EF4-FFF2-40B4-BE49-F238E27FC236}">
                <a16:creationId xmlns:a16="http://schemas.microsoft.com/office/drawing/2014/main" id="{25D18EC5-F151-A3AA-7DCF-C66B43EB0040}"/>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IT22120120    |    </a:t>
            </a:r>
            <a:r>
              <a:rPr lang="en-US" sz="1600" dirty="0" err="1">
                <a:solidFill>
                  <a:schemeClr val="tx1"/>
                </a:solidFill>
                <a:latin typeface="Lato" pitchFamily="34" charset="0"/>
                <a:ea typeface="Lato" pitchFamily="34" charset="-122"/>
                <a:cs typeface="Lato" pitchFamily="34" charset="-120"/>
              </a:rPr>
              <a:t>Dilmith</a:t>
            </a:r>
            <a:r>
              <a:rPr lang="en-US" sz="1600" dirty="0">
                <a:solidFill>
                  <a:schemeClr val="tx1"/>
                </a:solidFill>
                <a:latin typeface="Lato" pitchFamily="34" charset="0"/>
                <a:ea typeface="Lato" pitchFamily="34" charset="-122"/>
                <a:cs typeface="Lato" pitchFamily="34" charset="-120"/>
              </a:rPr>
              <a:t> I.H.S.    |    R26-SE-022</a:t>
            </a:r>
            <a:endParaRPr lang="en-US" sz="1600"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0656" y="1316748"/>
            <a:ext cx="3144365" cy="496133"/>
          </a:xfrm>
          <a:prstGeom prst="rect">
            <a:avLst/>
          </a:prstGeom>
          <a:noFill/>
          <a:ln/>
        </p:spPr>
        <p:txBody>
          <a:bodyPr wrap="none" lIns="0" tIns="0" rIns="0" bIns="0" rtlCol="0" anchor="t"/>
          <a:lstStyle/>
          <a:p>
            <a:pPr marL="0" indent="0" algn="l">
              <a:lnSpc>
                <a:spcPts val="3900"/>
              </a:lnSpc>
              <a:buNone/>
            </a:pPr>
            <a:r>
              <a:rPr lang="en-US" sz="3000" b="1" dirty="0">
                <a:latin typeface="Lato Bold" pitchFamily="34" charset="0"/>
                <a:ea typeface="Lato Bold" pitchFamily="34" charset="-122"/>
                <a:cs typeface="Lato Bold" pitchFamily="34" charset="-120"/>
              </a:rPr>
              <a:t>Methodology</a:t>
            </a:r>
            <a:endParaRPr lang="en-US" sz="3000" dirty="0"/>
          </a:p>
        </p:txBody>
      </p:sp>
      <p:pic>
        <p:nvPicPr>
          <p:cNvPr id="3" name="Image 0" descr="preencoded.png"/>
          <p:cNvPicPr>
            <a:picLocks noChangeAspect="1"/>
          </p:cNvPicPr>
          <p:nvPr/>
        </p:nvPicPr>
        <p:blipFill>
          <a:blip r:embed="rId3"/>
          <a:stretch>
            <a:fillRect/>
          </a:stretch>
        </p:blipFill>
        <p:spPr>
          <a:xfrm>
            <a:off x="1382632" y="2211088"/>
            <a:ext cx="5104777" cy="5104777"/>
          </a:xfrm>
          <a:prstGeom prst="rect">
            <a:avLst/>
          </a:prstGeom>
        </p:spPr>
      </p:pic>
      <p:grpSp>
        <p:nvGrpSpPr>
          <p:cNvPr id="21" name="Group 20">
            <a:extLst>
              <a:ext uri="{FF2B5EF4-FFF2-40B4-BE49-F238E27FC236}">
                <a16:creationId xmlns:a16="http://schemas.microsoft.com/office/drawing/2014/main" id="{2C15DF80-6B3A-042A-7A60-6D1A70AA12D3}"/>
              </a:ext>
            </a:extLst>
          </p:cNvPr>
          <p:cNvGrpSpPr/>
          <p:nvPr/>
        </p:nvGrpSpPr>
        <p:grpSpPr>
          <a:xfrm>
            <a:off x="7870068" y="4763477"/>
            <a:ext cx="4744606" cy="1064076"/>
            <a:chOff x="7717670" y="1982695"/>
            <a:chExt cx="4744606" cy="1064076"/>
          </a:xfrm>
        </p:grpSpPr>
        <p:sp>
          <p:nvSpPr>
            <p:cNvPr id="4" name="Text 1"/>
            <p:cNvSpPr/>
            <p:nvPr/>
          </p:nvSpPr>
          <p:spPr>
            <a:xfrm>
              <a:off x="7717671" y="1982695"/>
              <a:ext cx="174581" cy="264014"/>
            </a:xfrm>
            <a:prstGeom prst="rect">
              <a:avLst/>
            </a:prstGeom>
            <a:noFill/>
            <a:ln/>
          </p:spPr>
          <p:txBody>
            <a:bodyPr wrap="none" lIns="0" tIns="0" rIns="0" bIns="0" rtlCol="0" anchor="t"/>
            <a:lstStyle/>
            <a:p>
              <a:pPr marL="0" indent="0" algn="l">
                <a:lnSpc>
                  <a:spcPts val="1700"/>
                </a:lnSpc>
                <a:buNone/>
              </a:pPr>
              <a:r>
                <a:rPr lang="en-US" sz="1600" b="1" dirty="0">
                  <a:latin typeface="Lato Light" pitchFamily="34" charset="0"/>
                  <a:ea typeface="Lato Light" pitchFamily="34" charset="-122"/>
                  <a:cs typeface="Lato Light" pitchFamily="34" charset="-120"/>
                </a:rPr>
                <a:t>03</a:t>
              </a:r>
              <a:endParaRPr lang="en-US" sz="1600" b="1" dirty="0"/>
            </a:p>
          </p:txBody>
        </p:sp>
        <p:sp>
          <p:nvSpPr>
            <p:cNvPr id="5" name="Shape 2"/>
            <p:cNvSpPr/>
            <p:nvPr/>
          </p:nvSpPr>
          <p:spPr>
            <a:xfrm>
              <a:off x="7717671" y="2252244"/>
              <a:ext cx="4744605" cy="30427"/>
            </a:xfrm>
            <a:prstGeom prst="rect">
              <a:avLst/>
            </a:prstGeom>
            <a:solidFill>
              <a:srgbClr val="282824"/>
            </a:solidFill>
            <a:ln/>
          </p:spPr>
          <p:txBody>
            <a:bodyPr/>
            <a:lstStyle/>
            <a:p>
              <a:endParaRPr lang="en-US"/>
            </a:p>
          </p:txBody>
        </p:sp>
        <p:sp>
          <p:nvSpPr>
            <p:cNvPr id="6" name="Text 3"/>
            <p:cNvSpPr/>
            <p:nvPr/>
          </p:nvSpPr>
          <p:spPr>
            <a:xfrm>
              <a:off x="7717671" y="2361679"/>
              <a:ext cx="2183118" cy="330098"/>
            </a:xfrm>
            <a:prstGeom prst="rect">
              <a:avLst/>
            </a:prstGeom>
            <a:noFill/>
            <a:ln/>
          </p:spPr>
          <p:txBody>
            <a:bodyPr wrap="none" lIns="0" tIns="0" rIns="0" bIns="0" rtlCol="0" anchor="t"/>
            <a:lstStyle/>
            <a:p>
              <a:pPr>
                <a:lnSpc>
                  <a:spcPts val="1950"/>
                </a:lnSpc>
              </a:pPr>
              <a:r>
                <a:rPr lang="en-US" sz="2000" b="1" dirty="0">
                  <a:latin typeface="Lato Bold" pitchFamily="34" charset="0"/>
                  <a:ea typeface="Lato Bold" pitchFamily="34" charset="-122"/>
                  <a:cs typeface="Lato Bold" pitchFamily="34" charset="-120"/>
                </a:rPr>
                <a:t>Response Control</a:t>
              </a:r>
              <a:endParaRPr lang="en-US" sz="2000" dirty="0"/>
            </a:p>
          </p:txBody>
        </p:sp>
        <p:sp>
          <p:nvSpPr>
            <p:cNvPr id="7" name="Text 4"/>
            <p:cNvSpPr/>
            <p:nvPr/>
          </p:nvSpPr>
          <p:spPr>
            <a:xfrm>
              <a:off x="7717670" y="2759302"/>
              <a:ext cx="4744605" cy="287469"/>
            </a:xfrm>
            <a:prstGeom prst="rect">
              <a:avLst/>
            </a:prstGeom>
            <a:noFill/>
            <a:ln/>
          </p:spPr>
          <p:txBody>
            <a:bodyPr wrap="none" lIns="0" tIns="0" rIns="0" bIns="0" rtlCol="0" anchor="t"/>
            <a:lstStyle/>
            <a:p>
              <a:pPr>
                <a:lnSpc>
                  <a:spcPts val="1700"/>
                </a:lnSpc>
              </a:pPr>
              <a:r>
                <a:rPr lang="en-US" sz="1600" dirty="0">
                  <a:latin typeface="Lato" pitchFamily="34" charset="0"/>
                  <a:ea typeface="Lato" pitchFamily="34" charset="-122"/>
                  <a:cs typeface="Lato" pitchFamily="34" charset="-120"/>
                </a:rPr>
                <a:t>Adaptive output: answer, hint, or clarification</a:t>
              </a:r>
              <a:endParaRPr lang="en-US" sz="1600" dirty="0"/>
            </a:p>
          </p:txBody>
        </p:sp>
      </p:grpSp>
      <p:grpSp>
        <p:nvGrpSpPr>
          <p:cNvPr id="22" name="Group 21">
            <a:extLst>
              <a:ext uri="{FF2B5EF4-FFF2-40B4-BE49-F238E27FC236}">
                <a16:creationId xmlns:a16="http://schemas.microsoft.com/office/drawing/2014/main" id="{8247A916-2009-7A22-73F9-0A1454916FE0}"/>
              </a:ext>
            </a:extLst>
          </p:cNvPr>
          <p:cNvGrpSpPr/>
          <p:nvPr/>
        </p:nvGrpSpPr>
        <p:grpSpPr>
          <a:xfrm>
            <a:off x="7870069" y="3473208"/>
            <a:ext cx="4744606" cy="1064076"/>
            <a:chOff x="7717670" y="1982695"/>
            <a:chExt cx="4744606" cy="1064076"/>
          </a:xfrm>
        </p:grpSpPr>
        <p:sp>
          <p:nvSpPr>
            <p:cNvPr id="23" name="Text 1">
              <a:extLst>
                <a:ext uri="{FF2B5EF4-FFF2-40B4-BE49-F238E27FC236}">
                  <a16:creationId xmlns:a16="http://schemas.microsoft.com/office/drawing/2014/main" id="{807A143E-FDDD-5AA7-67D0-4744065E020B}"/>
                </a:ext>
              </a:extLst>
            </p:cNvPr>
            <p:cNvSpPr/>
            <p:nvPr/>
          </p:nvSpPr>
          <p:spPr>
            <a:xfrm>
              <a:off x="7717671" y="1982695"/>
              <a:ext cx="174581" cy="264014"/>
            </a:xfrm>
            <a:prstGeom prst="rect">
              <a:avLst/>
            </a:prstGeom>
            <a:noFill/>
            <a:ln/>
          </p:spPr>
          <p:txBody>
            <a:bodyPr wrap="none" lIns="0" tIns="0" rIns="0" bIns="0" rtlCol="0" anchor="t"/>
            <a:lstStyle/>
            <a:p>
              <a:pPr marL="0" indent="0" algn="l">
                <a:lnSpc>
                  <a:spcPts val="1700"/>
                </a:lnSpc>
                <a:buNone/>
              </a:pPr>
              <a:r>
                <a:rPr lang="en-US" sz="1600" b="1" dirty="0">
                  <a:latin typeface="Lato Light" pitchFamily="34" charset="0"/>
                  <a:ea typeface="Lato Light" pitchFamily="34" charset="-122"/>
                  <a:cs typeface="Lato Light" pitchFamily="34" charset="-120"/>
                </a:rPr>
                <a:t>02</a:t>
              </a:r>
              <a:endParaRPr lang="en-US" sz="1600" b="1" dirty="0"/>
            </a:p>
          </p:txBody>
        </p:sp>
        <p:sp>
          <p:nvSpPr>
            <p:cNvPr id="24" name="Shape 2">
              <a:extLst>
                <a:ext uri="{FF2B5EF4-FFF2-40B4-BE49-F238E27FC236}">
                  <a16:creationId xmlns:a16="http://schemas.microsoft.com/office/drawing/2014/main" id="{B49FBC1D-D08C-1CF3-3519-AD502E6FD22B}"/>
                </a:ext>
              </a:extLst>
            </p:cNvPr>
            <p:cNvSpPr/>
            <p:nvPr/>
          </p:nvSpPr>
          <p:spPr>
            <a:xfrm>
              <a:off x="7717671" y="2252244"/>
              <a:ext cx="4744605" cy="30427"/>
            </a:xfrm>
            <a:prstGeom prst="rect">
              <a:avLst/>
            </a:prstGeom>
            <a:solidFill>
              <a:srgbClr val="282824"/>
            </a:solidFill>
            <a:ln/>
          </p:spPr>
          <p:txBody>
            <a:bodyPr/>
            <a:lstStyle/>
            <a:p>
              <a:endParaRPr lang="en-US"/>
            </a:p>
          </p:txBody>
        </p:sp>
        <p:sp>
          <p:nvSpPr>
            <p:cNvPr id="25" name="Text 3">
              <a:extLst>
                <a:ext uri="{FF2B5EF4-FFF2-40B4-BE49-F238E27FC236}">
                  <a16:creationId xmlns:a16="http://schemas.microsoft.com/office/drawing/2014/main" id="{1862E6AF-3A70-CB79-7D65-40B57A9F9725}"/>
                </a:ext>
              </a:extLst>
            </p:cNvPr>
            <p:cNvSpPr/>
            <p:nvPr/>
          </p:nvSpPr>
          <p:spPr>
            <a:xfrm>
              <a:off x="7717671" y="2361679"/>
              <a:ext cx="2183118" cy="330098"/>
            </a:xfrm>
            <a:prstGeom prst="rect">
              <a:avLst/>
            </a:prstGeom>
            <a:noFill/>
            <a:ln/>
          </p:spPr>
          <p:txBody>
            <a:bodyPr wrap="none" lIns="0" tIns="0" rIns="0" bIns="0" rtlCol="0" anchor="t"/>
            <a:lstStyle/>
            <a:p>
              <a:pPr>
                <a:lnSpc>
                  <a:spcPts val="1950"/>
                </a:lnSpc>
              </a:pPr>
              <a:r>
                <a:rPr lang="en-US" sz="2000" b="1" dirty="0">
                  <a:latin typeface="Lato Bold" pitchFamily="34" charset="0"/>
                  <a:ea typeface="Lato Bold" pitchFamily="34" charset="-122"/>
                  <a:cs typeface="Lato Bold" pitchFamily="34" charset="-120"/>
                </a:rPr>
                <a:t>Uncertainty Estimation</a:t>
              </a:r>
              <a:endParaRPr lang="en-US" sz="2000" dirty="0"/>
            </a:p>
          </p:txBody>
        </p:sp>
        <p:sp>
          <p:nvSpPr>
            <p:cNvPr id="26" name="Text 4">
              <a:extLst>
                <a:ext uri="{FF2B5EF4-FFF2-40B4-BE49-F238E27FC236}">
                  <a16:creationId xmlns:a16="http://schemas.microsoft.com/office/drawing/2014/main" id="{4A556EBA-D681-D90A-609A-14CEB0F58632}"/>
                </a:ext>
              </a:extLst>
            </p:cNvPr>
            <p:cNvSpPr/>
            <p:nvPr/>
          </p:nvSpPr>
          <p:spPr>
            <a:xfrm>
              <a:off x="7717670" y="2759302"/>
              <a:ext cx="4744605" cy="287469"/>
            </a:xfrm>
            <a:prstGeom prst="rect">
              <a:avLst/>
            </a:prstGeom>
            <a:noFill/>
            <a:ln/>
          </p:spPr>
          <p:txBody>
            <a:bodyPr wrap="none" lIns="0" tIns="0" rIns="0" bIns="0" rtlCol="0" anchor="t"/>
            <a:lstStyle/>
            <a:p>
              <a:pPr>
                <a:lnSpc>
                  <a:spcPts val="1700"/>
                </a:lnSpc>
              </a:pPr>
              <a:r>
                <a:rPr lang="en-US" sz="1600" dirty="0">
                  <a:latin typeface="Lato" pitchFamily="34" charset="0"/>
                  <a:ea typeface="Lato" pitchFamily="34" charset="-122"/>
                  <a:cs typeface="Lato" pitchFamily="34" charset="-120"/>
                </a:rPr>
                <a:t>Log‑prob scoring · Entropy analysis · Self‑consistency</a:t>
              </a:r>
              <a:endParaRPr lang="en-US" sz="1600" dirty="0"/>
            </a:p>
          </p:txBody>
        </p:sp>
      </p:grpSp>
      <p:grpSp>
        <p:nvGrpSpPr>
          <p:cNvPr id="33" name="Group 32">
            <a:extLst>
              <a:ext uri="{FF2B5EF4-FFF2-40B4-BE49-F238E27FC236}">
                <a16:creationId xmlns:a16="http://schemas.microsoft.com/office/drawing/2014/main" id="{FFA6F02B-D120-DE56-8548-9777A864EBE1}"/>
              </a:ext>
            </a:extLst>
          </p:cNvPr>
          <p:cNvGrpSpPr/>
          <p:nvPr/>
        </p:nvGrpSpPr>
        <p:grpSpPr>
          <a:xfrm>
            <a:off x="7870067" y="6018691"/>
            <a:ext cx="4744606" cy="1064076"/>
            <a:chOff x="7717670" y="1982695"/>
            <a:chExt cx="4744606" cy="1064076"/>
          </a:xfrm>
        </p:grpSpPr>
        <p:sp>
          <p:nvSpPr>
            <p:cNvPr id="34" name="Text 1">
              <a:extLst>
                <a:ext uri="{FF2B5EF4-FFF2-40B4-BE49-F238E27FC236}">
                  <a16:creationId xmlns:a16="http://schemas.microsoft.com/office/drawing/2014/main" id="{E8E21F46-B18A-D228-68BF-D9B71B1A4C4A}"/>
                </a:ext>
              </a:extLst>
            </p:cNvPr>
            <p:cNvSpPr/>
            <p:nvPr/>
          </p:nvSpPr>
          <p:spPr>
            <a:xfrm>
              <a:off x="7717671" y="1982695"/>
              <a:ext cx="174581" cy="264014"/>
            </a:xfrm>
            <a:prstGeom prst="rect">
              <a:avLst/>
            </a:prstGeom>
            <a:noFill/>
            <a:ln/>
          </p:spPr>
          <p:txBody>
            <a:bodyPr wrap="none" lIns="0" tIns="0" rIns="0" bIns="0" rtlCol="0" anchor="t"/>
            <a:lstStyle/>
            <a:p>
              <a:pPr marL="0" indent="0" algn="l">
                <a:lnSpc>
                  <a:spcPts val="1700"/>
                </a:lnSpc>
                <a:buNone/>
              </a:pPr>
              <a:r>
                <a:rPr lang="en-US" sz="1600" b="1" dirty="0">
                  <a:latin typeface="Lato Light" pitchFamily="34" charset="0"/>
                  <a:ea typeface="Lato Light" pitchFamily="34" charset="-122"/>
                  <a:cs typeface="Lato Light" pitchFamily="34" charset="-120"/>
                </a:rPr>
                <a:t>04</a:t>
              </a:r>
              <a:endParaRPr lang="en-US" sz="1400" b="1" dirty="0"/>
            </a:p>
          </p:txBody>
        </p:sp>
        <p:sp>
          <p:nvSpPr>
            <p:cNvPr id="35" name="Shape 2">
              <a:extLst>
                <a:ext uri="{FF2B5EF4-FFF2-40B4-BE49-F238E27FC236}">
                  <a16:creationId xmlns:a16="http://schemas.microsoft.com/office/drawing/2014/main" id="{F37452AB-9393-1540-ACE5-44A6C788AE58}"/>
                </a:ext>
              </a:extLst>
            </p:cNvPr>
            <p:cNvSpPr/>
            <p:nvPr/>
          </p:nvSpPr>
          <p:spPr>
            <a:xfrm>
              <a:off x="7717671" y="2252244"/>
              <a:ext cx="4744605" cy="30427"/>
            </a:xfrm>
            <a:prstGeom prst="rect">
              <a:avLst/>
            </a:prstGeom>
            <a:solidFill>
              <a:srgbClr val="282824"/>
            </a:solidFill>
            <a:ln/>
          </p:spPr>
          <p:txBody>
            <a:bodyPr/>
            <a:lstStyle/>
            <a:p>
              <a:endParaRPr lang="en-US"/>
            </a:p>
          </p:txBody>
        </p:sp>
        <p:sp>
          <p:nvSpPr>
            <p:cNvPr id="36" name="Text 3">
              <a:extLst>
                <a:ext uri="{FF2B5EF4-FFF2-40B4-BE49-F238E27FC236}">
                  <a16:creationId xmlns:a16="http://schemas.microsoft.com/office/drawing/2014/main" id="{EC9C5002-B0DC-5702-8130-2C71C293A051}"/>
                </a:ext>
              </a:extLst>
            </p:cNvPr>
            <p:cNvSpPr/>
            <p:nvPr/>
          </p:nvSpPr>
          <p:spPr>
            <a:xfrm>
              <a:off x="7717671" y="2361679"/>
              <a:ext cx="2183118" cy="330098"/>
            </a:xfrm>
            <a:prstGeom prst="rect">
              <a:avLst/>
            </a:prstGeom>
            <a:noFill/>
            <a:ln/>
          </p:spPr>
          <p:txBody>
            <a:bodyPr wrap="none" lIns="0" tIns="0" rIns="0" bIns="0" rtlCol="0" anchor="t"/>
            <a:lstStyle/>
            <a:p>
              <a:pPr>
                <a:lnSpc>
                  <a:spcPts val="1950"/>
                </a:lnSpc>
              </a:pPr>
              <a:r>
                <a:rPr lang="en-US" sz="2000" b="1" dirty="0">
                  <a:latin typeface="Lato Bold" pitchFamily="34" charset="0"/>
                  <a:ea typeface="Lato Bold" pitchFamily="34" charset="-122"/>
                  <a:cs typeface="Lato Bold" pitchFamily="34" charset="-120"/>
                </a:rPr>
                <a:t>Tech Stack</a:t>
              </a:r>
              <a:endParaRPr lang="en-US" sz="2000" dirty="0"/>
            </a:p>
          </p:txBody>
        </p:sp>
        <p:sp>
          <p:nvSpPr>
            <p:cNvPr id="37" name="Text 4">
              <a:extLst>
                <a:ext uri="{FF2B5EF4-FFF2-40B4-BE49-F238E27FC236}">
                  <a16:creationId xmlns:a16="http://schemas.microsoft.com/office/drawing/2014/main" id="{0748F544-1503-6D67-5655-0B539EB0ABA3}"/>
                </a:ext>
              </a:extLst>
            </p:cNvPr>
            <p:cNvSpPr/>
            <p:nvPr/>
          </p:nvSpPr>
          <p:spPr>
            <a:xfrm>
              <a:off x="7717670" y="2759302"/>
              <a:ext cx="4744605" cy="287469"/>
            </a:xfrm>
            <a:prstGeom prst="rect">
              <a:avLst/>
            </a:prstGeom>
            <a:noFill/>
            <a:ln/>
          </p:spPr>
          <p:txBody>
            <a:bodyPr wrap="none" lIns="0" tIns="0" rIns="0" bIns="0" rtlCol="0" anchor="t"/>
            <a:lstStyle/>
            <a:p>
              <a:pPr>
                <a:lnSpc>
                  <a:spcPts val="1700"/>
                </a:lnSpc>
              </a:pPr>
              <a:r>
                <a:rPr lang="en-US" sz="1600" dirty="0">
                  <a:latin typeface="Lato" pitchFamily="34" charset="0"/>
                  <a:ea typeface="Lato" pitchFamily="34" charset="-122"/>
                  <a:cs typeface="Lato" pitchFamily="34" charset="-120"/>
                </a:rPr>
                <a:t>Python · </a:t>
              </a:r>
              <a:r>
                <a:rPr lang="en-US" sz="1600" dirty="0" err="1">
                  <a:latin typeface="Lato" pitchFamily="34" charset="0"/>
                  <a:ea typeface="Lato" pitchFamily="34" charset="-122"/>
                  <a:cs typeface="Lato" pitchFamily="34" charset="-120"/>
                </a:rPr>
                <a:t>FastAPI</a:t>
              </a:r>
              <a:r>
                <a:rPr lang="en-US" sz="1600" dirty="0">
                  <a:latin typeface="Lato" pitchFamily="34" charset="0"/>
                  <a:ea typeface="Lato" pitchFamily="34" charset="-122"/>
                  <a:cs typeface="Lato" pitchFamily="34" charset="-120"/>
                </a:rPr>
                <a:t> · </a:t>
              </a:r>
              <a:r>
                <a:rPr lang="en-US" sz="1600" dirty="0" err="1">
                  <a:latin typeface="Lato" pitchFamily="34" charset="0"/>
                  <a:ea typeface="Lato" pitchFamily="34" charset="-122"/>
                  <a:cs typeface="Lato" pitchFamily="34" charset="-120"/>
                </a:rPr>
                <a:t>HuggingFace</a:t>
              </a:r>
              <a:r>
                <a:rPr lang="en-US" sz="1600" dirty="0">
                  <a:latin typeface="Lato" pitchFamily="34" charset="0"/>
                  <a:ea typeface="Lato" pitchFamily="34" charset="-122"/>
                  <a:cs typeface="Lato" pitchFamily="34" charset="-120"/>
                </a:rPr>
                <a:t> · </a:t>
              </a:r>
              <a:r>
                <a:rPr lang="en-US" sz="1600" dirty="0" err="1">
                  <a:latin typeface="Lato" pitchFamily="34" charset="0"/>
                  <a:ea typeface="Lato" pitchFamily="34" charset="-122"/>
                  <a:cs typeface="Lato" pitchFamily="34" charset="-120"/>
                </a:rPr>
                <a:t>PyTorch</a:t>
              </a:r>
              <a:r>
                <a:rPr lang="en-US" sz="1600" dirty="0">
                  <a:latin typeface="Lato" pitchFamily="34" charset="0"/>
                  <a:ea typeface="Lato" pitchFamily="34" charset="-122"/>
                  <a:cs typeface="Lato" pitchFamily="34" charset="-120"/>
                </a:rPr>
                <a:t> · FAISS/</a:t>
              </a:r>
              <a:r>
                <a:rPr lang="en-US" sz="1600" dirty="0" err="1">
                  <a:latin typeface="Lato" pitchFamily="34" charset="0"/>
                  <a:ea typeface="Lato" pitchFamily="34" charset="-122"/>
                  <a:cs typeface="Lato" pitchFamily="34" charset="-120"/>
                </a:rPr>
                <a:t>ChromaDB</a:t>
              </a:r>
              <a:endParaRPr lang="en-US" sz="1600" dirty="0"/>
            </a:p>
          </p:txBody>
        </p:sp>
      </p:grpSp>
      <p:grpSp>
        <p:nvGrpSpPr>
          <p:cNvPr id="39" name="Group 38">
            <a:extLst>
              <a:ext uri="{FF2B5EF4-FFF2-40B4-BE49-F238E27FC236}">
                <a16:creationId xmlns:a16="http://schemas.microsoft.com/office/drawing/2014/main" id="{402EE08E-51E6-7D2A-D6BD-E5CEA425F042}"/>
              </a:ext>
            </a:extLst>
          </p:cNvPr>
          <p:cNvGrpSpPr/>
          <p:nvPr/>
        </p:nvGrpSpPr>
        <p:grpSpPr>
          <a:xfrm>
            <a:off x="7870070" y="2253311"/>
            <a:ext cx="4744606" cy="1064076"/>
            <a:chOff x="7717670" y="1982695"/>
            <a:chExt cx="4744606" cy="1064076"/>
          </a:xfrm>
        </p:grpSpPr>
        <p:sp>
          <p:nvSpPr>
            <p:cNvPr id="40" name="Text 1">
              <a:extLst>
                <a:ext uri="{FF2B5EF4-FFF2-40B4-BE49-F238E27FC236}">
                  <a16:creationId xmlns:a16="http://schemas.microsoft.com/office/drawing/2014/main" id="{70E4ADAA-7FB0-84F0-522D-753BDF4BD006}"/>
                </a:ext>
              </a:extLst>
            </p:cNvPr>
            <p:cNvSpPr/>
            <p:nvPr/>
          </p:nvSpPr>
          <p:spPr>
            <a:xfrm>
              <a:off x="7717671" y="1982695"/>
              <a:ext cx="174581" cy="264014"/>
            </a:xfrm>
            <a:prstGeom prst="rect">
              <a:avLst/>
            </a:prstGeom>
            <a:noFill/>
            <a:ln/>
          </p:spPr>
          <p:txBody>
            <a:bodyPr wrap="none" lIns="0" tIns="0" rIns="0" bIns="0" rtlCol="0" anchor="t"/>
            <a:lstStyle/>
            <a:p>
              <a:pPr marL="0" indent="0" algn="l">
                <a:lnSpc>
                  <a:spcPts val="1700"/>
                </a:lnSpc>
                <a:buNone/>
              </a:pPr>
              <a:r>
                <a:rPr lang="en-US" sz="1600" b="1" dirty="0">
                  <a:latin typeface="Lato Light" pitchFamily="34" charset="0"/>
                  <a:ea typeface="Lato Light" pitchFamily="34" charset="-122"/>
                  <a:cs typeface="Lato Light" pitchFamily="34" charset="-120"/>
                </a:rPr>
                <a:t>01</a:t>
              </a:r>
              <a:endParaRPr lang="en-US" sz="1600" b="1" dirty="0"/>
            </a:p>
          </p:txBody>
        </p:sp>
        <p:sp>
          <p:nvSpPr>
            <p:cNvPr id="41" name="Shape 2">
              <a:extLst>
                <a:ext uri="{FF2B5EF4-FFF2-40B4-BE49-F238E27FC236}">
                  <a16:creationId xmlns:a16="http://schemas.microsoft.com/office/drawing/2014/main" id="{2CAE3587-3887-228B-6427-095C07B377E7}"/>
                </a:ext>
              </a:extLst>
            </p:cNvPr>
            <p:cNvSpPr/>
            <p:nvPr/>
          </p:nvSpPr>
          <p:spPr>
            <a:xfrm>
              <a:off x="7717671" y="2252244"/>
              <a:ext cx="4744605" cy="30427"/>
            </a:xfrm>
            <a:prstGeom prst="rect">
              <a:avLst/>
            </a:prstGeom>
            <a:solidFill>
              <a:srgbClr val="282824"/>
            </a:solidFill>
            <a:ln/>
          </p:spPr>
          <p:txBody>
            <a:bodyPr/>
            <a:lstStyle/>
            <a:p>
              <a:endParaRPr lang="en-US"/>
            </a:p>
          </p:txBody>
        </p:sp>
        <p:sp>
          <p:nvSpPr>
            <p:cNvPr id="42" name="Text 3">
              <a:extLst>
                <a:ext uri="{FF2B5EF4-FFF2-40B4-BE49-F238E27FC236}">
                  <a16:creationId xmlns:a16="http://schemas.microsoft.com/office/drawing/2014/main" id="{F4C27D88-9639-D386-3EC2-BC42DD86DEB1}"/>
                </a:ext>
              </a:extLst>
            </p:cNvPr>
            <p:cNvSpPr/>
            <p:nvPr/>
          </p:nvSpPr>
          <p:spPr>
            <a:xfrm>
              <a:off x="7717671" y="2361679"/>
              <a:ext cx="2183118" cy="330098"/>
            </a:xfrm>
            <a:prstGeom prst="rect">
              <a:avLst/>
            </a:prstGeom>
            <a:noFill/>
            <a:ln/>
          </p:spPr>
          <p:txBody>
            <a:bodyPr wrap="none" lIns="0" tIns="0" rIns="0" bIns="0" rtlCol="0" anchor="t"/>
            <a:lstStyle/>
            <a:p>
              <a:pPr marL="0" indent="0" algn="l">
                <a:lnSpc>
                  <a:spcPts val="1950"/>
                </a:lnSpc>
                <a:buNone/>
              </a:pPr>
              <a:r>
                <a:rPr lang="en-US" sz="2000" b="1" dirty="0">
                  <a:latin typeface="Lato Bold" pitchFamily="34" charset="0"/>
                  <a:ea typeface="Lato Bold" pitchFamily="34" charset="-122"/>
                  <a:cs typeface="Lato Bold" pitchFamily="34" charset="-120"/>
                </a:rPr>
                <a:t>Retrieval</a:t>
              </a:r>
              <a:endParaRPr lang="en-US" sz="2000" dirty="0"/>
            </a:p>
          </p:txBody>
        </p:sp>
        <p:sp>
          <p:nvSpPr>
            <p:cNvPr id="43" name="Text 4">
              <a:extLst>
                <a:ext uri="{FF2B5EF4-FFF2-40B4-BE49-F238E27FC236}">
                  <a16:creationId xmlns:a16="http://schemas.microsoft.com/office/drawing/2014/main" id="{7907374D-1038-2C24-B36B-EEC587C64EDA}"/>
                </a:ext>
              </a:extLst>
            </p:cNvPr>
            <p:cNvSpPr/>
            <p:nvPr/>
          </p:nvSpPr>
          <p:spPr>
            <a:xfrm>
              <a:off x="7717670" y="2759302"/>
              <a:ext cx="4744605" cy="287469"/>
            </a:xfrm>
            <a:prstGeom prst="rect">
              <a:avLst/>
            </a:prstGeom>
            <a:noFill/>
            <a:ln/>
          </p:spPr>
          <p:txBody>
            <a:bodyPr wrap="none" lIns="0" tIns="0" rIns="0" bIns="0" rtlCol="0" anchor="t"/>
            <a:lstStyle/>
            <a:p>
              <a:pPr marL="0" indent="0" algn="l">
                <a:lnSpc>
                  <a:spcPts val="1700"/>
                </a:lnSpc>
                <a:buNone/>
              </a:pPr>
              <a:r>
                <a:rPr lang="en-US" sz="1600" dirty="0">
                  <a:latin typeface="Lato" pitchFamily="34" charset="0"/>
                  <a:ea typeface="Lato" pitchFamily="34" charset="-122"/>
                  <a:cs typeface="Lato" pitchFamily="34" charset="-120"/>
                </a:rPr>
                <a:t>RAG with FAISS / ChromaDB</a:t>
              </a:r>
              <a:endParaRPr lang="en-US" sz="1600" dirty="0"/>
            </a:p>
          </p:txBody>
        </p:sp>
      </p:grpSp>
      <p:sp>
        <p:nvSpPr>
          <p:cNvPr id="44" name="Text 0">
            <a:extLst>
              <a:ext uri="{FF2B5EF4-FFF2-40B4-BE49-F238E27FC236}">
                <a16:creationId xmlns:a16="http://schemas.microsoft.com/office/drawing/2014/main" id="{CA6F4D83-5C54-CC00-2209-CFF941DAEDD4}"/>
              </a:ext>
            </a:extLst>
          </p:cNvPr>
          <p:cNvSpPr/>
          <p:nvPr/>
        </p:nvSpPr>
        <p:spPr>
          <a:xfrm>
            <a:off x="793790" y="497336"/>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Confidence‑Aware Hallucination‑Controlled LLM Tutoring</a:t>
            </a:r>
            <a:endParaRPr lang="en-US" sz="3800" dirty="0"/>
          </a:p>
        </p:txBody>
      </p:sp>
      <p:sp>
        <p:nvSpPr>
          <p:cNvPr id="46" name="Rectangle 45">
            <a:extLst>
              <a:ext uri="{FF2B5EF4-FFF2-40B4-BE49-F238E27FC236}">
                <a16:creationId xmlns:a16="http://schemas.microsoft.com/office/drawing/2014/main" id="{6C1080BC-D5AC-85E9-FD08-7072B790748B}"/>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IT22120120    |    </a:t>
            </a:r>
            <a:r>
              <a:rPr lang="en-US" sz="1600" dirty="0" err="1">
                <a:solidFill>
                  <a:schemeClr val="tx1"/>
                </a:solidFill>
                <a:latin typeface="Lato" pitchFamily="34" charset="0"/>
                <a:ea typeface="Lato" pitchFamily="34" charset="-122"/>
                <a:cs typeface="Lato" pitchFamily="34" charset="-120"/>
              </a:rPr>
              <a:t>Dilmith</a:t>
            </a:r>
            <a:r>
              <a:rPr lang="en-US" sz="1600" dirty="0">
                <a:solidFill>
                  <a:schemeClr val="tx1"/>
                </a:solidFill>
                <a:latin typeface="Lato" pitchFamily="34" charset="0"/>
                <a:ea typeface="Lato" pitchFamily="34" charset="-122"/>
                <a:cs typeface="Lato" pitchFamily="34" charset="-120"/>
              </a:rPr>
              <a:t> I.H.S.    |    R26-SE-022</a:t>
            </a:r>
            <a:endParaRPr lang="en-US" sz="1600"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Shape 1"/>
          <p:cNvSpPr/>
          <p:nvPr/>
        </p:nvSpPr>
        <p:spPr>
          <a:xfrm>
            <a:off x="793790" y="1930598"/>
            <a:ext cx="4277201" cy="1882140"/>
          </a:xfrm>
          <a:prstGeom prst="roundRect">
            <a:avLst>
              <a:gd name="adj" fmla="val 5830"/>
            </a:avLst>
          </a:prstGeom>
          <a:solidFill>
            <a:srgbClr val="EFECE6"/>
          </a:solidFill>
          <a:ln w="22860">
            <a:solidFill>
              <a:srgbClr val="CBC5B8"/>
            </a:solidFill>
            <a:prstDash val="solid"/>
          </a:ln>
        </p:spPr>
        <p:txBody>
          <a:bodyPr/>
          <a:lstStyle/>
          <a:p>
            <a:endParaRPr lang="en-US"/>
          </a:p>
        </p:txBody>
      </p:sp>
      <p:sp>
        <p:nvSpPr>
          <p:cNvPr id="4" name="Shape 2"/>
          <p:cNvSpPr/>
          <p:nvPr/>
        </p:nvSpPr>
        <p:spPr>
          <a:xfrm>
            <a:off x="770930" y="1930598"/>
            <a:ext cx="91440" cy="1882140"/>
          </a:xfrm>
          <a:prstGeom prst="roundRect">
            <a:avLst>
              <a:gd name="adj" fmla="val 29767"/>
            </a:avLst>
          </a:prstGeom>
          <a:solidFill>
            <a:srgbClr val="282824"/>
          </a:solidFill>
          <a:ln/>
        </p:spPr>
        <p:txBody>
          <a:bodyPr/>
          <a:lstStyle/>
          <a:p>
            <a:endParaRPr lang="en-US"/>
          </a:p>
        </p:txBody>
      </p:sp>
      <p:sp>
        <p:nvSpPr>
          <p:cNvPr id="5" name="Text 3"/>
          <p:cNvSpPr/>
          <p:nvPr/>
        </p:nvSpPr>
        <p:spPr>
          <a:xfrm>
            <a:off x="1066681" y="2134910"/>
            <a:ext cx="2268260" cy="283488"/>
          </a:xfrm>
          <a:prstGeom prst="rect">
            <a:avLst/>
          </a:prstGeom>
          <a:noFill/>
          <a:ln/>
        </p:spPr>
        <p:txBody>
          <a:bodyPr wrap="none" lIns="0" tIns="0" rIns="0" bIns="0" rtlCol="0" anchor="t"/>
          <a:lstStyle/>
          <a:p>
            <a:pPr marL="0" indent="0" algn="l">
              <a:lnSpc>
                <a:spcPts val="2200"/>
              </a:lnSpc>
              <a:buNone/>
            </a:pPr>
            <a:r>
              <a:rPr lang="en-US" sz="2000" b="1" dirty="0">
                <a:latin typeface="Lato Bold" pitchFamily="34" charset="0"/>
                <a:ea typeface="Lato Bold" pitchFamily="34" charset="-122"/>
                <a:cs typeface="Lato Bold" pitchFamily="34" charset="-120"/>
              </a:rPr>
              <a:t>Evaluation Metrics</a:t>
            </a:r>
            <a:endParaRPr lang="en-US" sz="2000" dirty="0"/>
          </a:p>
        </p:txBody>
      </p:sp>
      <p:sp>
        <p:nvSpPr>
          <p:cNvPr id="6" name="Text 4"/>
          <p:cNvSpPr/>
          <p:nvPr/>
        </p:nvSpPr>
        <p:spPr>
          <a:xfrm>
            <a:off x="1066681" y="2563535"/>
            <a:ext cx="3799999" cy="1044893"/>
          </a:xfrm>
          <a:prstGeom prst="rect">
            <a:avLst/>
          </a:prstGeom>
          <a:noFill/>
          <a:ln/>
        </p:spPr>
        <p:txBody>
          <a:bodyPr wrap="square" lIns="0" tIns="0" rIns="0" bIns="0" rtlCol="0" anchor="t"/>
          <a:lstStyle/>
          <a:p>
            <a:pPr marL="285750" indent="-285750" algn="l">
              <a:lnSpc>
                <a:spcPts val="2050"/>
              </a:lnSpc>
              <a:buFont typeface="Wingdings" panose="05000000000000000000" pitchFamily="2" charset="2"/>
              <a:buChar char="ü"/>
            </a:pPr>
            <a:r>
              <a:rPr lang="en-US" sz="1600" dirty="0">
                <a:latin typeface="Lato" pitchFamily="34" charset="0"/>
                <a:ea typeface="Lato" pitchFamily="34" charset="-122"/>
                <a:cs typeface="Lato" pitchFamily="34" charset="-120"/>
              </a:rPr>
              <a:t>Hallucination rate</a:t>
            </a:r>
            <a:endParaRPr lang="en-US" sz="1600" dirty="0"/>
          </a:p>
          <a:p>
            <a:pPr marL="285750" indent="-285750" algn="l">
              <a:lnSpc>
                <a:spcPts val="2050"/>
              </a:lnSpc>
              <a:buFont typeface="Wingdings" panose="05000000000000000000" pitchFamily="2" charset="2"/>
              <a:buChar char="ü"/>
            </a:pPr>
            <a:r>
              <a:rPr lang="en-US" sz="1600" dirty="0">
                <a:latin typeface="Lato" pitchFamily="34" charset="0"/>
                <a:ea typeface="Lato" pitchFamily="34" charset="-122"/>
                <a:cs typeface="Lato" pitchFamily="34" charset="-120"/>
              </a:rPr>
              <a:t>Answer accuracy</a:t>
            </a:r>
            <a:endParaRPr lang="en-US" sz="1600" dirty="0"/>
          </a:p>
          <a:p>
            <a:pPr marL="285750" indent="-285750" algn="l">
              <a:lnSpc>
                <a:spcPts val="2050"/>
              </a:lnSpc>
              <a:buFont typeface="Wingdings" panose="05000000000000000000" pitchFamily="2" charset="2"/>
              <a:buChar char="ü"/>
            </a:pPr>
            <a:r>
              <a:rPr lang="en-US" sz="1600" dirty="0">
                <a:latin typeface="Lato" pitchFamily="34" charset="0"/>
                <a:ea typeface="Lato" pitchFamily="34" charset="-122"/>
                <a:cs typeface="Lato" pitchFamily="34" charset="-120"/>
              </a:rPr>
              <a:t>Response reliability</a:t>
            </a:r>
            <a:endParaRPr lang="en-US" sz="1600" dirty="0"/>
          </a:p>
          <a:p>
            <a:pPr marL="285750" indent="-285750" algn="l">
              <a:lnSpc>
                <a:spcPts val="2050"/>
              </a:lnSpc>
              <a:buFont typeface="Wingdings" panose="05000000000000000000" pitchFamily="2" charset="2"/>
              <a:buChar char="ü"/>
            </a:pPr>
            <a:r>
              <a:rPr lang="en-US" sz="1600" dirty="0">
                <a:latin typeface="Lato" pitchFamily="34" charset="0"/>
                <a:ea typeface="Lato" pitchFamily="34" charset="-122"/>
                <a:cs typeface="Lato" pitchFamily="34" charset="-120"/>
              </a:rPr>
              <a:t>Student feedback</a:t>
            </a:r>
            <a:endParaRPr lang="en-US" sz="1600" dirty="0"/>
          </a:p>
        </p:txBody>
      </p:sp>
      <p:sp>
        <p:nvSpPr>
          <p:cNvPr id="7" name="Shape 5"/>
          <p:cNvSpPr/>
          <p:nvPr/>
        </p:nvSpPr>
        <p:spPr>
          <a:xfrm>
            <a:off x="793790" y="3957876"/>
            <a:ext cx="4277201" cy="1620917"/>
          </a:xfrm>
          <a:prstGeom prst="roundRect">
            <a:avLst>
              <a:gd name="adj" fmla="val 6770"/>
            </a:avLst>
          </a:prstGeom>
          <a:solidFill>
            <a:srgbClr val="EFECE6"/>
          </a:solidFill>
          <a:ln w="22860">
            <a:solidFill>
              <a:srgbClr val="CBC5B8"/>
            </a:solidFill>
            <a:prstDash val="solid"/>
          </a:ln>
        </p:spPr>
        <p:txBody>
          <a:bodyPr/>
          <a:lstStyle/>
          <a:p>
            <a:endParaRPr lang="en-US"/>
          </a:p>
        </p:txBody>
      </p:sp>
      <p:sp>
        <p:nvSpPr>
          <p:cNvPr id="8" name="Shape 6"/>
          <p:cNvSpPr/>
          <p:nvPr/>
        </p:nvSpPr>
        <p:spPr>
          <a:xfrm>
            <a:off x="770930" y="3957876"/>
            <a:ext cx="91440" cy="1620917"/>
          </a:xfrm>
          <a:prstGeom prst="roundRect">
            <a:avLst>
              <a:gd name="adj" fmla="val 29767"/>
            </a:avLst>
          </a:prstGeom>
          <a:solidFill>
            <a:srgbClr val="282824"/>
          </a:solidFill>
          <a:ln/>
        </p:spPr>
        <p:txBody>
          <a:bodyPr/>
          <a:lstStyle/>
          <a:p>
            <a:endParaRPr lang="en-US"/>
          </a:p>
        </p:txBody>
      </p:sp>
      <p:sp>
        <p:nvSpPr>
          <p:cNvPr id="9" name="Text 7"/>
          <p:cNvSpPr/>
          <p:nvPr/>
        </p:nvSpPr>
        <p:spPr>
          <a:xfrm>
            <a:off x="1066681" y="4162187"/>
            <a:ext cx="2268260" cy="283488"/>
          </a:xfrm>
          <a:prstGeom prst="rect">
            <a:avLst/>
          </a:prstGeom>
          <a:noFill/>
          <a:ln/>
        </p:spPr>
        <p:txBody>
          <a:bodyPr wrap="none" lIns="0" tIns="0" rIns="0" bIns="0" rtlCol="0" anchor="t"/>
          <a:lstStyle/>
          <a:p>
            <a:pPr marL="0" indent="0" algn="l">
              <a:lnSpc>
                <a:spcPts val="2200"/>
              </a:lnSpc>
              <a:buNone/>
            </a:pPr>
            <a:r>
              <a:rPr lang="en-US" sz="2000" b="1" dirty="0">
                <a:latin typeface="Lato Bold" pitchFamily="34" charset="0"/>
                <a:ea typeface="Lato Bold" pitchFamily="34" charset="-122"/>
                <a:cs typeface="Lato Bold" pitchFamily="34" charset="-120"/>
              </a:rPr>
              <a:t>Data Sources</a:t>
            </a:r>
            <a:endParaRPr lang="en-US" sz="2000" dirty="0"/>
          </a:p>
        </p:txBody>
      </p:sp>
      <p:sp>
        <p:nvSpPr>
          <p:cNvPr id="10" name="Text 8"/>
          <p:cNvSpPr/>
          <p:nvPr/>
        </p:nvSpPr>
        <p:spPr>
          <a:xfrm>
            <a:off x="1066681" y="4590812"/>
            <a:ext cx="3799999" cy="783669"/>
          </a:xfrm>
          <a:prstGeom prst="rect">
            <a:avLst/>
          </a:prstGeom>
          <a:noFill/>
          <a:ln/>
        </p:spPr>
        <p:txBody>
          <a:bodyPr wrap="square" lIns="0" tIns="0" rIns="0" bIns="0" rtlCol="0" anchor="t"/>
          <a:lstStyle/>
          <a:p>
            <a:pPr marL="285750" indent="-285750" algn="l">
              <a:lnSpc>
                <a:spcPts val="2050"/>
              </a:lnSpc>
              <a:buFont typeface="Wingdings" panose="05000000000000000000" pitchFamily="2" charset="2"/>
              <a:buChar char="ü"/>
            </a:pPr>
            <a:r>
              <a:rPr lang="en-US" sz="1600" dirty="0">
                <a:latin typeface="Lato" pitchFamily="34" charset="0"/>
                <a:ea typeface="Lato" pitchFamily="34" charset="-122"/>
                <a:cs typeface="Lato" pitchFamily="34" charset="-120"/>
              </a:rPr>
              <a:t>Lecture slides</a:t>
            </a:r>
            <a:endParaRPr lang="en-US" sz="1600" dirty="0"/>
          </a:p>
          <a:p>
            <a:pPr marL="285750" indent="-285750" algn="l">
              <a:lnSpc>
                <a:spcPts val="2050"/>
              </a:lnSpc>
              <a:buFont typeface="Wingdings" panose="05000000000000000000" pitchFamily="2" charset="2"/>
              <a:buChar char="ü"/>
            </a:pPr>
            <a:r>
              <a:rPr lang="en-US" sz="1600" dirty="0">
                <a:latin typeface="Lato" pitchFamily="34" charset="0"/>
                <a:ea typeface="Lato" pitchFamily="34" charset="-122"/>
                <a:cs typeface="Lato" pitchFamily="34" charset="-120"/>
              </a:rPr>
              <a:t>Textbooks</a:t>
            </a:r>
            <a:endParaRPr lang="en-US" sz="1600" dirty="0"/>
          </a:p>
          <a:p>
            <a:pPr marL="285750" indent="-285750" algn="l">
              <a:lnSpc>
                <a:spcPts val="2050"/>
              </a:lnSpc>
              <a:buFont typeface="Wingdings" panose="05000000000000000000" pitchFamily="2" charset="2"/>
              <a:buChar char="ü"/>
            </a:pPr>
            <a:r>
              <a:rPr lang="en-US" sz="1600" dirty="0">
                <a:latin typeface="Lato" pitchFamily="34" charset="0"/>
                <a:ea typeface="Lato" pitchFamily="34" charset="-122"/>
                <a:cs typeface="Lato" pitchFamily="34" charset="-120"/>
              </a:rPr>
              <a:t>Course learning outcomes</a:t>
            </a:r>
            <a:endParaRPr lang="en-US" sz="1600" dirty="0"/>
          </a:p>
        </p:txBody>
      </p:sp>
      <p:sp>
        <p:nvSpPr>
          <p:cNvPr id="11" name="Shape 9"/>
          <p:cNvSpPr/>
          <p:nvPr/>
        </p:nvSpPr>
        <p:spPr>
          <a:xfrm>
            <a:off x="793790" y="5723930"/>
            <a:ext cx="4277201" cy="1359694"/>
          </a:xfrm>
          <a:prstGeom prst="roundRect">
            <a:avLst>
              <a:gd name="adj" fmla="val 8070"/>
            </a:avLst>
          </a:prstGeom>
          <a:solidFill>
            <a:srgbClr val="EFECE6"/>
          </a:solidFill>
          <a:ln w="22860">
            <a:solidFill>
              <a:srgbClr val="CBC5B8"/>
            </a:solidFill>
            <a:prstDash val="solid"/>
          </a:ln>
        </p:spPr>
        <p:txBody>
          <a:bodyPr/>
          <a:lstStyle/>
          <a:p>
            <a:endParaRPr lang="en-US" dirty="0"/>
          </a:p>
        </p:txBody>
      </p:sp>
      <p:sp>
        <p:nvSpPr>
          <p:cNvPr id="12" name="Shape 10"/>
          <p:cNvSpPr/>
          <p:nvPr/>
        </p:nvSpPr>
        <p:spPr>
          <a:xfrm>
            <a:off x="770930" y="5723930"/>
            <a:ext cx="91440" cy="1359694"/>
          </a:xfrm>
          <a:prstGeom prst="roundRect">
            <a:avLst>
              <a:gd name="adj" fmla="val 29767"/>
            </a:avLst>
          </a:prstGeom>
          <a:solidFill>
            <a:srgbClr val="282824"/>
          </a:solidFill>
          <a:ln/>
        </p:spPr>
        <p:txBody>
          <a:bodyPr/>
          <a:lstStyle/>
          <a:p>
            <a:endParaRPr lang="en-US"/>
          </a:p>
        </p:txBody>
      </p:sp>
      <p:sp>
        <p:nvSpPr>
          <p:cNvPr id="13" name="Text 11"/>
          <p:cNvSpPr/>
          <p:nvPr/>
        </p:nvSpPr>
        <p:spPr>
          <a:xfrm>
            <a:off x="1066681" y="5928241"/>
            <a:ext cx="2268260" cy="283488"/>
          </a:xfrm>
          <a:prstGeom prst="rect">
            <a:avLst/>
          </a:prstGeom>
          <a:noFill/>
          <a:ln/>
        </p:spPr>
        <p:txBody>
          <a:bodyPr wrap="none" lIns="0" tIns="0" rIns="0" bIns="0" rtlCol="0" anchor="t"/>
          <a:lstStyle/>
          <a:p>
            <a:pPr marL="0" indent="0" algn="l">
              <a:lnSpc>
                <a:spcPts val="2200"/>
              </a:lnSpc>
              <a:buNone/>
            </a:pPr>
            <a:r>
              <a:rPr lang="en-US" sz="2000" b="1" dirty="0">
                <a:latin typeface="Lato Bold" pitchFamily="34" charset="0"/>
                <a:ea typeface="Lato Bold" pitchFamily="34" charset="-122"/>
                <a:cs typeface="Lato Bold" pitchFamily="34" charset="-120"/>
              </a:rPr>
              <a:t>Ethics</a:t>
            </a:r>
            <a:endParaRPr lang="en-US" sz="2000" dirty="0"/>
          </a:p>
        </p:txBody>
      </p:sp>
      <p:sp>
        <p:nvSpPr>
          <p:cNvPr id="14" name="Text 12"/>
          <p:cNvSpPr/>
          <p:nvPr/>
        </p:nvSpPr>
        <p:spPr>
          <a:xfrm>
            <a:off x="1066681" y="6356866"/>
            <a:ext cx="3799999" cy="522446"/>
          </a:xfrm>
          <a:prstGeom prst="rect">
            <a:avLst/>
          </a:prstGeom>
          <a:noFill/>
          <a:ln/>
        </p:spPr>
        <p:txBody>
          <a:bodyPr wrap="square" lIns="0" tIns="0" rIns="0" bIns="0" rtlCol="0" anchor="t"/>
          <a:lstStyle/>
          <a:p>
            <a:pPr marL="285750" indent="-285750" algn="l">
              <a:lnSpc>
                <a:spcPts val="2050"/>
              </a:lnSpc>
              <a:buFont typeface="Wingdings" panose="05000000000000000000" pitchFamily="2" charset="2"/>
              <a:buChar char="ü"/>
            </a:pPr>
            <a:r>
              <a:rPr lang="en-US" sz="1600" dirty="0">
                <a:latin typeface="Lato" pitchFamily="34" charset="0"/>
                <a:ea typeface="Lato" pitchFamily="34" charset="-122"/>
                <a:cs typeface="Lato" pitchFamily="34" charset="-120"/>
              </a:rPr>
              <a:t>Academic materials only</a:t>
            </a:r>
            <a:endParaRPr lang="en-US" sz="1600" dirty="0"/>
          </a:p>
          <a:p>
            <a:pPr marL="285750" indent="-285750" algn="l">
              <a:lnSpc>
                <a:spcPts val="2050"/>
              </a:lnSpc>
              <a:buFont typeface="Wingdings" panose="05000000000000000000" pitchFamily="2" charset="2"/>
              <a:buChar char="ü"/>
            </a:pPr>
            <a:r>
              <a:rPr lang="en-US" sz="1600" dirty="0">
                <a:latin typeface="Lato" pitchFamily="34" charset="0"/>
                <a:ea typeface="Lato" pitchFamily="34" charset="-122"/>
                <a:cs typeface="Lato" pitchFamily="34" charset="-120"/>
              </a:rPr>
              <a:t>No student personal data collected</a:t>
            </a:r>
            <a:endParaRPr lang="en-US" sz="1600" dirty="0"/>
          </a:p>
        </p:txBody>
      </p:sp>
      <p:pic>
        <p:nvPicPr>
          <p:cNvPr id="15" name="Image 0" descr="preencoded.png"/>
          <p:cNvPicPr>
            <a:picLocks noChangeAspect="1"/>
          </p:cNvPicPr>
          <p:nvPr/>
        </p:nvPicPr>
        <p:blipFill>
          <a:blip r:embed="rId3"/>
          <a:stretch>
            <a:fillRect/>
          </a:stretch>
        </p:blipFill>
        <p:spPr>
          <a:xfrm>
            <a:off x="6353532" y="2649022"/>
            <a:ext cx="6658213" cy="3716179"/>
          </a:xfrm>
          <a:prstGeom prst="rect">
            <a:avLst/>
          </a:prstGeom>
        </p:spPr>
      </p:pic>
      <p:sp>
        <p:nvSpPr>
          <p:cNvPr id="17" name="Text 0">
            <a:extLst>
              <a:ext uri="{FF2B5EF4-FFF2-40B4-BE49-F238E27FC236}">
                <a16:creationId xmlns:a16="http://schemas.microsoft.com/office/drawing/2014/main" id="{F9257397-B626-5FE7-440D-579AF41F5762}"/>
              </a:ext>
            </a:extLst>
          </p:cNvPr>
          <p:cNvSpPr/>
          <p:nvPr/>
        </p:nvSpPr>
        <p:spPr>
          <a:xfrm>
            <a:off x="793790" y="497336"/>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Confidence‑Aware Hallucination‑Controlled LLM Tutoring</a:t>
            </a:r>
            <a:endParaRPr lang="en-US" sz="3800" dirty="0"/>
          </a:p>
        </p:txBody>
      </p:sp>
      <p:sp>
        <p:nvSpPr>
          <p:cNvPr id="18" name="Text 0">
            <a:extLst>
              <a:ext uri="{FF2B5EF4-FFF2-40B4-BE49-F238E27FC236}">
                <a16:creationId xmlns:a16="http://schemas.microsoft.com/office/drawing/2014/main" id="{BC042AFB-3CE0-33F1-04BC-4E43F351C1F8}"/>
              </a:ext>
            </a:extLst>
          </p:cNvPr>
          <p:cNvSpPr/>
          <p:nvPr/>
        </p:nvSpPr>
        <p:spPr>
          <a:xfrm>
            <a:off x="816650" y="1159423"/>
            <a:ext cx="3144365" cy="496133"/>
          </a:xfrm>
          <a:prstGeom prst="rect">
            <a:avLst/>
          </a:prstGeom>
          <a:noFill/>
          <a:ln/>
        </p:spPr>
        <p:txBody>
          <a:bodyPr wrap="none" lIns="0" tIns="0" rIns="0" bIns="0" rtlCol="0" anchor="t"/>
          <a:lstStyle/>
          <a:p>
            <a:pPr>
              <a:lnSpc>
                <a:spcPts val="4450"/>
              </a:lnSpc>
            </a:pPr>
            <a:r>
              <a:rPr lang="en-US" sz="3000" b="1" dirty="0">
                <a:latin typeface="Lato Bold" pitchFamily="34" charset="0"/>
                <a:ea typeface="Lato Bold" pitchFamily="34" charset="-122"/>
                <a:cs typeface="Lato Bold" pitchFamily="34" charset="-120"/>
              </a:rPr>
              <a:t>Validation &amp; Ethics</a:t>
            </a:r>
            <a:endParaRPr lang="en-US" sz="3000" dirty="0"/>
          </a:p>
        </p:txBody>
      </p:sp>
      <p:sp>
        <p:nvSpPr>
          <p:cNvPr id="19" name="Rectangle 18">
            <a:extLst>
              <a:ext uri="{FF2B5EF4-FFF2-40B4-BE49-F238E27FC236}">
                <a16:creationId xmlns:a16="http://schemas.microsoft.com/office/drawing/2014/main" id="{CF2E73DD-9C0A-5949-5BB2-D70B1D073C92}"/>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IT22120120    |    </a:t>
            </a:r>
            <a:r>
              <a:rPr lang="en-US" sz="1600" dirty="0" err="1">
                <a:solidFill>
                  <a:schemeClr val="tx1"/>
                </a:solidFill>
                <a:latin typeface="Lato" pitchFamily="34" charset="0"/>
                <a:ea typeface="Lato" pitchFamily="34" charset="-122"/>
                <a:cs typeface="Lato" pitchFamily="34" charset="-120"/>
              </a:rPr>
              <a:t>Dilmith</a:t>
            </a:r>
            <a:r>
              <a:rPr lang="en-US" sz="1600" dirty="0">
                <a:solidFill>
                  <a:schemeClr val="tx1"/>
                </a:solidFill>
                <a:latin typeface="Lato" pitchFamily="34" charset="0"/>
                <a:ea typeface="Lato" pitchFamily="34" charset="-122"/>
                <a:cs typeface="Lato" pitchFamily="34" charset="-120"/>
              </a:rPr>
              <a:t> I.H.S.    |    R26-SE-022</a:t>
            </a:r>
            <a:endParaRPr lang="en-US" sz="1600" dirty="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761643" y="1547098"/>
            <a:ext cx="13106995" cy="5652016"/>
          </a:xfrm>
          <a:prstGeom prst="rect">
            <a:avLst/>
          </a:prstGeom>
        </p:spPr>
      </p:pic>
      <p:sp>
        <p:nvSpPr>
          <p:cNvPr id="4" name="Text 1"/>
          <p:cNvSpPr/>
          <p:nvPr/>
        </p:nvSpPr>
        <p:spPr>
          <a:xfrm>
            <a:off x="1643630" y="6127280"/>
            <a:ext cx="2973524" cy="371690"/>
          </a:xfrm>
          <a:prstGeom prst="rect">
            <a:avLst/>
          </a:prstGeom>
          <a:noFill/>
          <a:ln/>
        </p:spPr>
        <p:txBody>
          <a:bodyPr wrap="none" lIns="0" tIns="0" rIns="0" bIns="0" rtlCol="0" anchor="t"/>
          <a:lstStyle/>
          <a:p>
            <a:pPr marL="0" indent="0" algn="l">
              <a:lnSpc>
                <a:spcPts val="2900"/>
              </a:lnSpc>
              <a:buNone/>
            </a:pPr>
            <a:r>
              <a:rPr lang="en-US" sz="2300" b="1" dirty="0">
                <a:solidFill>
                  <a:srgbClr val="FFFFFF"/>
                </a:solidFill>
                <a:latin typeface="Lato Bold" pitchFamily="34" charset="0"/>
                <a:ea typeface="Lato Bold" pitchFamily="34" charset="-122"/>
                <a:cs typeface="Lato Bold" pitchFamily="34" charset="-120"/>
              </a:rPr>
              <a:t>Adaptive Response</a:t>
            </a:r>
            <a:endParaRPr lang="en-US" sz="2300" dirty="0"/>
          </a:p>
        </p:txBody>
      </p:sp>
      <p:sp>
        <p:nvSpPr>
          <p:cNvPr id="5" name="Text 2"/>
          <p:cNvSpPr/>
          <p:nvPr/>
        </p:nvSpPr>
        <p:spPr>
          <a:xfrm>
            <a:off x="1643630" y="4818930"/>
            <a:ext cx="2973524" cy="371690"/>
          </a:xfrm>
          <a:prstGeom prst="rect">
            <a:avLst/>
          </a:prstGeom>
          <a:noFill/>
          <a:ln/>
        </p:spPr>
        <p:txBody>
          <a:bodyPr wrap="none" lIns="0" tIns="0" rIns="0" bIns="0" rtlCol="0" anchor="t"/>
          <a:lstStyle/>
          <a:p>
            <a:pPr marL="0" indent="0" algn="l">
              <a:lnSpc>
                <a:spcPts val="2900"/>
              </a:lnSpc>
              <a:buNone/>
            </a:pPr>
            <a:r>
              <a:rPr lang="en-US" sz="2300" b="1" dirty="0">
                <a:solidFill>
                  <a:srgbClr val="FFFFFF"/>
                </a:solidFill>
                <a:latin typeface="Lato Bold" pitchFamily="34" charset="0"/>
                <a:ea typeface="Lato Bold" pitchFamily="34" charset="-122"/>
                <a:cs typeface="Lato Bold" pitchFamily="34" charset="-120"/>
              </a:rPr>
              <a:t>Confidence Eval</a:t>
            </a:r>
            <a:endParaRPr lang="en-US" sz="2300" dirty="0"/>
          </a:p>
        </p:txBody>
      </p:sp>
      <p:sp>
        <p:nvSpPr>
          <p:cNvPr id="6" name="Text 3"/>
          <p:cNvSpPr/>
          <p:nvPr/>
        </p:nvSpPr>
        <p:spPr>
          <a:xfrm>
            <a:off x="1643630" y="3523795"/>
            <a:ext cx="2973524" cy="371690"/>
          </a:xfrm>
          <a:prstGeom prst="rect">
            <a:avLst/>
          </a:prstGeom>
          <a:noFill/>
          <a:ln/>
        </p:spPr>
        <p:txBody>
          <a:bodyPr wrap="none" lIns="0" tIns="0" rIns="0" bIns="0" rtlCol="0" anchor="t"/>
          <a:lstStyle/>
          <a:p>
            <a:pPr marL="0" indent="0" algn="l">
              <a:lnSpc>
                <a:spcPts val="2900"/>
              </a:lnSpc>
              <a:buNone/>
            </a:pPr>
            <a:r>
              <a:rPr lang="en-US" sz="2300" b="1" dirty="0">
                <a:solidFill>
                  <a:srgbClr val="FFFFFF"/>
                </a:solidFill>
                <a:latin typeface="Lato Bold" pitchFamily="34" charset="0"/>
                <a:ea typeface="Lato Bold" pitchFamily="34" charset="-122"/>
                <a:cs typeface="Lato Bold" pitchFamily="34" charset="-120"/>
              </a:rPr>
              <a:t>Vector Retrieval</a:t>
            </a:r>
            <a:endParaRPr lang="en-US" sz="2300" dirty="0"/>
          </a:p>
        </p:txBody>
      </p:sp>
      <p:sp>
        <p:nvSpPr>
          <p:cNvPr id="7" name="Text 4"/>
          <p:cNvSpPr/>
          <p:nvPr/>
        </p:nvSpPr>
        <p:spPr>
          <a:xfrm>
            <a:off x="1643630" y="2215445"/>
            <a:ext cx="2973524" cy="371690"/>
          </a:xfrm>
          <a:prstGeom prst="rect">
            <a:avLst/>
          </a:prstGeom>
          <a:noFill/>
          <a:ln/>
        </p:spPr>
        <p:txBody>
          <a:bodyPr wrap="none" lIns="0" tIns="0" rIns="0" bIns="0" rtlCol="0" anchor="t"/>
          <a:lstStyle/>
          <a:p>
            <a:pPr marL="0" indent="0" algn="l">
              <a:lnSpc>
                <a:spcPts val="2900"/>
              </a:lnSpc>
              <a:buNone/>
            </a:pPr>
            <a:r>
              <a:rPr lang="en-US" sz="2300" b="1" dirty="0">
                <a:solidFill>
                  <a:srgbClr val="FFFFFF"/>
                </a:solidFill>
                <a:latin typeface="Lato Bold" pitchFamily="34" charset="0"/>
                <a:ea typeface="Lato Bold" pitchFamily="34" charset="-122"/>
                <a:cs typeface="Lato Bold" pitchFamily="34" charset="-120"/>
              </a:rPr>
              <a:t>Student Question</a:t>
            </a:r>
            <a:endParaRPr lang="en-US" sz="2300" dirty="0"/>
          </a:p>
        </p:txBody>
      </p:sp>
      <p:sp>
        <p:nvSpPr>
          <p:cNvPr id="8" name="Text 5"/>
          <p:cNvSpPr/>
          <p:nvPr/>
        </p:nvSpPr>
        <p:spPr>
          <a:xfrm>
            <a:off x="707231" y="7204210"/>
            <a:ext cx="13215938" cy="305633"/>
          </a:xfrm>
          <a:prstGeom prst="rect">
            <a:avLst/>
          </a:prstGeom>
          <a:noFill/>
          <a:ln/>
        </p:spPr>
        <p:txBody>
          <a:bodyPr wrap="none" lIns="0" tIns="0" rIns="0" bIns="0" rtlCol="0" anchor="t"/>
          <a:lstStyle/>
          <a:p>
            <a:pPr marL="0" indent="0" algn="l">
              <a:lnSpc>
                <a:spcPts val="2400"/>
              </a:lnSpc>
              <a:buNone/>
            </a:pPr>
            <a:r>
              <a:rPr lang="en-US" sz="1600" dirty="0">
                <a:latin typeface="Lato" pitchFamily="34" charset="0"/>
                <a:ea typeface="Lato" pitchFamily="34" charset="-122"/>
                <a:cs typeface="Lato" pitchFamily="34" charset="-120"/>
              </a:rPr>
              <a:t>Adaptive decision thresholds map confidence scores to response strategies. High confidence → direct; Medium → hint; Low → clarification.</a:t>
            </a:r>
            <a:endParaRPr lang="en-US" sz="1600" dirty="0"/>
          </a:p>
        </p:txBody>
      </p:sp>
      <p:sp>
        <p:nvSpPr>
          <p:cNvPr id="10" name="Text 0">
            <a:extLst>
              <a:ext uri="{FF2B5EF4-FFF2-40B4-BE49-F238E27FC236}">
                <a16:creationId xmlns:a16="http://schemas.microsoft.com/office/drawing/2014/main" id="{E2BEFB9D-9859-7874-E7B8-9FF10E3C9F4D}"/>
              </a:ext>
            </a:extLst>
          </p:cNvPr>
          <p:cNvSpPr/>
          <p:nvPr/>
        </p:nvSpPr>
        <p:spPr>
          <a:xfrm>
            <a:off x="793790" y="497336"/>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Confidence‑Aware Hallucination‑Controlled LLM Tutoring</a:t>
            </a:r>
            <a:endParaRPr lang="en-US" sz="3800" dirty="0"/>
          </a:p>
        </p:txBody>
      </p:sp>
      <p:sp>
        <p:nvSpPr>
          <p:cNvPr id="11" name="Text 0">
            <a:extLst>
              <a:ext uri="{FF2B5EF4-FFF2-40B4-BE49-F238E27FC236}">
                <a16:creationId xmlns:a16="http://schemas.microsoft.com/office/drawing/2014/main" id="{064A293B-A6E7-7A15-F3C4-500CF8BC3376}"/>
              </a:ext>
            </a:extLst>
          </p:cNvPr>
          <p:cNvSpPr/>
          <p:nvPr/>
        </p:nvSpPr>
        <p:spPr>
          <a:xfrm>
            <a:off x="816650" y="1107468"/>
            <a:ext cx="3144365" cy="496133"/>
          </a:xfrm>
          <a:prstGeom prst="rect">
            <a:avLst/>
          </a:prstGeom>
          <a:noFill/>
          <a:ln/>
        </p:spPr>
        <p:txBody>
          <a:bodyPr wrap="none" lIns="0" tIns="0" rIns="0" bIns="0" rtlCol="0" anchor="t"/>
          <a:lstStyle/>
          <a:p>
            <a:pPr>
              <a:lnSpc>
                <a:spcPts val="4950"/>
              </a:lnSpc>
            </a:pPr>
            <a:r>
              <a:rPr lang="en-US" sz="3000" b="1" dirty="0">
                <a:solidFill>
                  <a:srgbClr val="282824"/>
                </a:solidFill>
                <a:latin typeface="Lato Bold" pitchFamily="34" charset="0"/>
                <a:ea typeface="Lato Bold" pitchFamily="34" charset="-122"/>
                <a:cs typeface="Lato Bold" pitchFamily="34" charset="-120"/>
              </a:rPr>
              <a:t>Implementation Overview</a:t>
            </a:r>
            <a:endParaRPr lang="en-US" sz="3000" dirty="0"/>
          </a:p>
        </p:txBody>
      </p:sp>
      <p:sp>
        <p:nvSpPr>
          <p:cNvPr id="12" name="Rectangle 11">
            <a:extLst>
              <a:ext uri="{FF2B5EF4-FFF2-40B4-BE49-F238E27FC236}">
                <a16:creationId xmlns:a16="http://schemas.microsoft.com/office/drawing/2014/main" id="{7448A21A-7DC1-53B3-D5F4-56A12DC9A124}"/>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IT22120120    |    </a:t>
            </a:r>
            <a:r>
              <a:rPr lang="en-US" sz="1600" dirty="0" err="1">
                <a:solidFill>
                  <a:schemeClr val="tx1"/>
                </a:solidFill>
                <a:latin typeface="Lato" pitchFamily="34" charset="0"/>
                <a:ea typeface="Lato" pitchFamily="34" charset="-122"/>
                <a:cs typeface="Lato" pitchFamily="34" charset="-120"/>
              </a:rPr>
              <a:t>Dilmith</a:t>
            </a:r>
            <a:r>
              <a:rPr lang="en-US" sz="1600" dirty="0">
                <a:solidFill>
                  <a:schemeClr val="tx1"/>
                </a:solidFill>
                <a:latin typeface="Lato" pitchFamily="34" charset="0"/>
                <a:ea typeface="Lato" pitchFamily="34" charset="-122"/>
                <a:cs typeface="Lato" pitchFamily="34" charset="-120"/>
              </a:rPr>
              <a:t> I.H.S.    |    R26-SE-022</a:t>
            </a:r>
            <a:endParaRPr lang="en-US" sz="1600"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5777346" y="841296"/>
            <a:ext cx="8059266" cy="2088940"/>
          </a:xfrm>
          <a:prstGeom prst="rect">
            <a:avLst/>
          </a:prstGeom>
          <a:noFill/>
          <a:ln/>
        </p:spPr>
        <p:txBody>
          <a:bodyPr wrap="square" lIns="0" tIns="0" rIns="0" bIns="0" rtlCol="0" anchor="t"/>
          <a:lstStyle/>
          <a:p>
            <a:pPr marL="0" indent="0" algn="l">
              <a:lnSpc>
                <a:spcPts val="5000"/>
              </a:lnSpc>
              <a:buNone/>
            </a:pPr>
            <a:r>
              <a:rPr lang="en-US" sz="3800" b="1" dirty="0">
                <a:latin typeface="Lato Bold" pitchFamily="34" charset="0"/>
                <a:ea typeface="Lato Bold" pitchFamily="34" charset="-122"/>
                <a:cs typeface="Lato Bold" pitchFamily="34" charset="-120"/>
              </a:rPr>
              <a:t>Component 2 -Learning‑Objective‑Aware Lecture Summarisation &amp; Flashcards</a:t>
            </a:r>
            <a:endParaRPr lang="en-US" sz="3800" dirty="0"/>
          </a:p>
        </p:txBody>
      </p:sp>
      <p:sp>
        <p:nvSpPr>
          <p:cNvPr id="4" name="Shape 1"/>
          <p:cNvSpPr/>
          <p:nvPr/>
        </p:nvSpPr>
        <p:spPr>
          <a:xfrm>
            <a:off x="6280189" y="3307496"/>
            <a:ext cx="3686294" cy="1767959"/>
          </a:xfrm>
          <a:prstGeom prst="roundRect">
            <a:avLst>
              <a:gd name="adj" fmla="val 1732"/>
            </a:avLst>
          </a:prstGeom>
          <a:solidFill>
            <a:srgbClr val="E5DFD2"/>
          </a:solidFill>
          <a:ln/>
        </p:spPr>
        <p:txBody>
          <a:bodyPr/>
          <a:lstStyle/>
          <a:p>
            <a:endParaRPr lang="en-US"/>
          </a:p>
        </p:txBody>
      </p:sp>
      <p:sp>
        <p:nvSpPr>
          <p:cNvPr id="5" name="Text 2"/>
          <p:cNvSpPr/>
          <p:nvPr/>
        </p:nvSpPr>
        <p:spPr>
          <a:xfrm>
            <a:off x="6484262" y="3511569"/>
            <a:ext cx="2551748" cy="318849"/>
          </a:xfrm>
          <a:prstGeom prst="rect">
            <a:avLst/>
          </a:prstGeom>
          <a:noFill/>
          <a:ln/>
        </p:spPr>
        <p:txBody>
          <a:bodyPr wrap="none" lIns="0" tIns="0" rIns="0" bIns="0" rtlCol="0" anchor="t"/>
          <a:lstStyle/>
          <a:p>
            <a:pPr marL="0" indent="0" algn="l">
              <a:lnSpc>
                <a:spcPts val="2500"/>
              </a:lnSpc>
              <a:buNone/>
            </a:pPr>
            <a:r>
              <a:rPr lang="en-US" sz="2000" b="1" dirty="0">
                <a:latin typeface="Lato Bold" pitchFamily="34" charset="0"/>
                <a:ea typeface="Lato Bold" pitchFamily="34" charset="-122"/>
                <a:cs typeface="Lato Bold" pitchFamily="34" charset="-120"/>
              </a:rPr>
              <a:t>Problem</a:t>
            </a:r>
            <a:endParaRPr lang="en-US" sz="2000" dirty="0"/>
          </a:p>
        </p:txBody>
      </p:sp>
      <p:sp>
        <p:nvSpPr>
          <p:cNvPr id="6" name="Text 3"/>
          <p:cNvSpPr/>
          <p:nvPr/>
        </p:nvSpPr>
        <p:spPr>
          <a:xfrm>
            <a:off x="6484262" y="3940551"/>
            <a:ext cx="3278148" cy="620554"/>
          </a:xfrm>
          <a:prstGeom prst="rect">
            <a:avLst/>
          </a:prstGeom>
          <a:noFill/>
          <a:ln/>
        </p:spPr>
        <p:txBody>
          <a:bodyPr wrap="square" lIns="0" tIns="0" rIns="0" bIns="0" rtlCol="0" anchor="t"/>
          <a:lstStyle/>
          <a:p>
            <a:pPr marL="285750" indent="-285750" algn="l">
              <a:lnSpc>
                <a:spcPts val="2400"/>
              </a:lnSpc>
              <a:buFont typeface="Wingdings" panose="05000000000000000000" pitchFamily="2" charset="2"/>
              <a:buChar char="ü"/>
            </a:pPr>
            <a:r>
              <a:rPr lang="en-US" sz="1600" dirty="0">
                <a:latin typeface="Lato" pitchFamily="34" charset="0"/>
                <a:ea typeface="Lato" pitchFamily="34" charset="-122"/>
                <a:cs typeface="Lato" pitchFamily="34" charset="-120"/>
              </a:rPr>
              <a:t>Students struggle to revise large lecture volumes</a:t>
            </a:r>
            <a:endParaRPr lang="en-US" sz="1600" dirty="0"/>
          </a:p>
        </p:txBody>
      </p:sp>
      <p:sp>
        <p:nvSpPr>
          <p:cNvPr id="7" name="Shape 4"/>
          <p:cNvSpPr/>
          <p:nvPr/>
        </p:nvSpPr>
        <p:spPr>
          <a:xfrm>
            <a:off x="10150196" y="3307496"/>
            <a:ext cx="3686413" cy="1767959"/>
          </a:xfrm>
          <a:prstGeom prst="roundRect">
            <a:avLst>
              <a:gd name="adj" fmla="val 1732"/>
            </a:avLst>
          </a:prstGeom>
          <a:solidFill>
            <a:srgbClr val="E5DFD2"/>
          </a:solidFill>
          <a:ln/>
        </p:spPr>
        <p:txBody>
          <a:bodyPr/>
          <a:lstStyle/>
          <a:p>
            <a:endParaRPr lang="en-US"/>
          </a:p>
        </p:txBody>
      </p:sp>
      <p:sp>
        <p:nvSpPr>
          <p:cNvPr id="8" name="Text 5"/>
          <p:cNvSpPr/>
          <p:nvPr/>
        </p:nvSpPr>
        <p:spPr>
          <a:xfrm>
            <a:off x="10354269" y="3511569"/>
            <a:ext cx="3033236" cy="318849"/>
          </a:xfrm>
          <a:prstGeom prst="rect">
            <a:avLst/>
          </a:prstGeom>
          <a:noFill/>
          <a:ln/>
        </p:spPr>
        <p:txBody>
          <a:bodyPr wrap="none" lIns="0" tIns="0" rIns="0" bIns="0" rtlCol="0" anchor="t"/>
          <a:lstStyle/>
          <a:p>
            <a:pPr marL="0" indent="0" algn="l">
              <a:lnSpc>
                <a:spcPts val="2500"/>
              </a:lnSpc>
              <a:buNone/>
            </a:pPr>
            <a:r>
              <a:rPr lang="en-US" sz="2000" b="1" dirty="0">
                <a:latin typeface="Lato Bold" pitchFamily="34" charset="0"/>
                <a:ea typeface="Lato Bold" pitchFamily="34" charset="-122"/>
                <a:cs typeface="Lato Bold" pitchFamily="34" charset="-120"/>
              </a:rPr>
              <a:t>Limitations (Current Tools)</a:t>
            </a:r>
            <a:endParaRPr lang="en-US" sz="2000" dirty="0"/>
          </a:p>
        </p:txBody>
      </p:sp>
      <p:sp>
        <p:nvSpPr>
          <p:cNvPr id="9" name="Text 6"/>
          <p:cNvSpPr/>
          <p:nvPr/>
        </p:nvSpPr>
        <p:spPr>
          <a:xfrm>
            <a:off x="10354269" y="3940551"/>
            <a:ext cx="3278267" cy="930831"/>
          </a:xfrm>
          <a:prstGeom prst="rect">
            <a:avLst/>
          </a:prstGeom>
          <a:noFill/>
          <a:ln/>
        </p:spPr>
        <p:txBody>
          <a:bodyPr wrap="square" lIns="0" tIns="0" rIns="0" bIns="0" rtlCol="0" anchor="t"/>
          <a:lstStyle/>
          <a:p>
            <a:pPr marL="285750" indent="-285750" algn="l">
              <a:lnSpc>
                <a:spcPts val="2400"/>
              </a:lnSpc>
              <a:buFont typeface="Wingdings" panose="05000000000000000000" pitchFamily="2" charset="2"/>
              <a:buChar char="ü"/>
            </a:pPr>
            <a:r>
              <a:rPr lang="en-US" sz="1600" dirty="0">
                <a:latin typeface="Lato" pitchFamily="34" charset="0"/>
                <a:ea typeface="Lato" pitchFamily="34" charset="-122"/>
                <a:cs typeface="Lato" pitchFamily="34" charset="-120"/>
              </a:rPr>
              <a:t>Generic summaries</a:t>
            </a:r>
            <a:endParaRPr lang="en-US" sz="1600" dirty="0"/>
          </a:p>
          <a:p>
            <a:pPr marL="285750" indent="-285750" algn="l">
              <a:lnSpc>
                <a:spcPts val="2400"/>
              </a:lnSpc>
              <a:buFont typeface="Wingdings" panose="05000000000000000000" pitchFamily="2" charset="2"/>
              <a:buChar char="ü"/>
            </a:pPr>
            <a:r>
              <a:rPr lang="en-US" sz="1600" dirty="0">
                <a:latin typeface="Lato" pitchFamily="34" charset="0"/>
                <a:ea typeface="Lato" pitchFamily="34" charset="-122"/>
                <a:cs typeface="Lato" pitchFamily="34" charset="-120"/>
              </a:rPr>
              <a:t>Misaligned with objectives</a:t>
            </a:r>
            <a:endParaRPr lang="en-US" sz="1600" dirty="0"/>
          </a:p>
          <a:p>
            <a:pPr marL="285750" indent="-285750" algn="l">
              <a:lnSpc>
                <a:spcPts val="2400"/>
              </a:lnSpc>
              <a:buFont typeface="Wingdings" panose="05000000000000000000" pitchFamily="2" charset="2"/>
              <a:buChar char="ü"/>
            </a:pPr>
            <a:r>
              <a:rPr lang="en-US" sz="1600" dirty="0">
                <a:latin typeface="Lato" pitchFamily="34" charset="0"/>
                <a:ea typeface="Lato" pitchFamily="34" charset="-122"/>
                <a:cs typeface="Lato" pitchFamily="34" charset="-120"/>
              </a:rPr>
              <a:t>Weak exam prep support</a:t>
            </a:r>
            <a:endParaRPr lang="en-US" sz="1600" dirty="0"/>
          </a:p>
        </p:txBody>
      </p:sp>
      <p:sp>
        <p:nvSpPr>
          <p:cNvPr id="10" name="Shape 7"/>
          <p:cNvSpPr/>
          <p:nvPr/>
        </p:nvSpPr>
        <p:spPr>
          <a:xfrm>
            <a:off x="6280189" y="5259168"/>
            <a:ext cx="7556421" cy="1767959"/>
          </a:xfrm>
          <a:prstGeom prst="roundRect">
            <a:avLst>
              <a:gd name="adj" fmla="val 1732"/>
            </a:avLst>
          </a:prstGeom>
          <a:solidFill>
            <a:srgbClr val="E5DFD2"/>
          </a:solidFill>
          <a:ln/>
        </p:spPr>
        <p:txBody>
          <a:bodyPr/>
          <a:lstStyle/>
          <a:p>
            <a:endParaRPr lang="en-US"/>
          </a:p>
        </p:txBody>
      </p:sp>
      <p:sp>
        <p:nvSpPr>
          <p:cNvPr id="11" name="Text 8"/>
          <p:cNvSpPr/>
          <p:nvPr/>
        </p:nvSpPr>
        <p:spPr>
          <a:xfrm>
            <a:off x="6484262" y="5463241"/>
            <a:ext cx="2551748" cy="318849"/>
          </a:xfrm>
          <a:prstGeom prst="rect">
            <a:avLst/>
          </a:prstGeom>
          <a:noFill/>
          <a:ln/>
        </p:spPr>
        <p:txBody>
          <a:bodyPr wrap="none" lIns="0" tIns="0" rIns="0" bIns="0" rtlCol="0" anchor="t"/>
          <a:lstStyle/>
          <a:p>
            <a:pPr marL="0" indent="0" algn="l">
              <a:lnSpc>
                <a:spcPts val="2500"/>
              </a:lnSpc>
              <a:buNone/>
            </a:pPr>
            <a:r>
              <a:rPr lang="en-US" sz="2000" b="1" dirty="0">
                <a:latin typeface="Lato Bold" pitchFamily="34" charset="0"/>
                <a:ea typeface="Lato Bold" pitchFamily="34" charset="-122"/>
                <a:cs typeface="Lato Bold" pitchFamily="34" charset="-120"/>
              </a:rPr>
              <a:t>Novelty &amp; Objectives</a:t>
            </a:r>
            <a:endParaRPr lang="en-US" sz="2000" dirty="0"/>
          </a:p>
        </p:txBody>
      </p:sp>
      <p:sp>
        <p:nvSpPr>
          <p:cNvPr id="12" name="Text 9"/>
          <p:cNvSpPr/>
          <p:nvPr/>
        </p:nvSpPr>
        <p:spPr>
          <a:xfrm>
            <a:off x="6484262" y="5892224"/>
            <a:ext cx="7148274" cy="930831"/>
          </a:xfrm>
          <a:prstGeom prst="rect">
            <a:avLst/>
          </a:prstGeom>
          <a:noFill/>
          <a:ln/>
        </p:spPr>
        <p:txBody>
          <a:bodyPr wrap="square" lIns="0" tIns="0" rIns="0" bIns="0" rtlCol="0" anchor="t"/>
          <a:lstStyle/>
          <a:p>
            <a:pPr marL="285750" indent="-285750" algn="l">
              <a:lnSpc>
                <a:spcPts val="2400"/>
              </a:lnSpc>
              <a:buFont typeface="Wingdings" panose="05000000000000000000" pitchFamily="2" charset="2"/>
              <a:buChar char="ü"/>
            </a:pPr>
            <a:r>
              <a:rPr lang="en-US" sz="1600" dirty="0">
                <a:latin typeface="Lato" pitchFamily="34" charset="0"/>
                <a:ea typeface="Lato" pitchFamily="34" charset="-122"/>
                <a:cs typeface="Lato" pitchFamily="34" charset="-120"/>
              </a:rPr>
              <a:t>Objective‑aware summaries</a:t>
            </a:r>
            <a:endParaRPr lang="en-US" sz="1600" dirty="0"/>
          </a:p>
          <a:p>
            <a:pPr marL="285750" indent="-285750" algn="l">
              <a:lnSpc>
                <a:spcPts val="2400"/>
              </a:lnSpc>
              <a:buFont typeface="Wingdings" panose="05000000000000000000" pitchFamily="2" charset="2"/>
              <a:buChar char="ü"/>
            </a:pPr>
            <a:r>
              <a:rPr lang="en-US" sz="1600" dirty="0">
                <a:latin typeface="Lato" pitchFamily="34" charset="0"/>
                <a:ea typeface="Lato" pitchFamily="34" charset="-122"/>
                <a:cs typeface="Lato" pitchFamily="34" charset="-120"/>
              </a:rPr>
              <a:t>Exam‑oriented AI flashcards</a:t>
            </a:r>
            <a:endParaRPr lang="en-US" sz="1600" dirty="0"/>
          </a:p>
          <a:p>
            <a:pPr marL="285750" indent="-285750" algn="l">
              <a:lnSpc>
                <a:spcPts val="2400"/>
              </a:lnSpc>
              <a:buFont typeface="Wingdings" panose="05000000000000000000" pitchFamily="2" charset="2"/>
              <a:buChar char="ü"/>
            </a:pPr>
            <a:r>
              <a:rPr lang="en-US" sz="1600" dirty="0">
                <a:latin typeface="Lato" pitchFamily="34" charset="0"/>
                <a:ea typeface="Lato" pitchFamily="34" charset="-122"/>
                <a:cs typeface="Lato" pitchFamily="34" charset="-120"/>
              </a:rPr>
              <a:t>Identify key concepts &amp; active‑recall prompts</a:t>
            </a:r>
            <a:endParaRPr lang="en-US" sz="1600" dirty="0"/>
          </a:p>
        </p:txBody>
      </p:sp>
      <p:sp>
        <p:nvSpPr>
          <p:cNvPr id="14" name="Rectangle 13">
            <a:extLst>
              <a:ext uri="{FF2B5EF4-FFF2-40B4-BE49-F238E27FC236}">
                <a16:creationId xmlns:a16="http://schemas.microsoft.com/office/drawing/2014/main" id="{DF97E60D-271B-370D-62B4-D8867DE06BF0}"/>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IT22187178    |    </a:t>
            </a:r>
            <a:r>
              <a:rPr lang="en-US" sz="1600" dirty="0" err="1">
                <a:solidFill>
                  <a:schemeClr val="tx1"/>
                </a:solidFill>
                <a:latin typeface="Lato" pitchFamily="34" charset="0"/>
                <a:ea typeface="Lato" pitchFamily="34" charset="-122"/>
                <a:cs typeface="Lato" pitchFamily="34" charset="-120"/>
              </a:rPr>
              <a:t>Vijithapala</a:t>
            </a:r>
            <a:r>
              <a:rPr lang="en-US" sz="1600" dirty="0">
                <a:solidFill>
                  <a:schemeClr val="tx1"/>
                </a:solidFill>
                <a:latin typeface="Lato" pitchFamily="34" charset="0"/>
                <a:ea typeface="Lato" pitchFamily="34" charset="-122"/>
                <a:cs typeface="Lato" pitchFamily="34" charset="-120"/>
              </a:rPr>
              <a:t> T.G.K.G.    |    R26-SE-022</a:t>
            </a:r>
            <a:endParaRPr lang="en-US" sz="1600"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005840" y="2026801"/>
            <a:ext cx="3817025" cy="5089327"/>
          </a:xfrm>
          <a:prstGeom prst="rect">
            <a:avLst/>
          </a:prstGeom>
        </p:spPr>
      </p:pic>
      <p:sp>
        <p:nvSpPr>
          <p:cNvPr id="5" name="Text 1"/>
          <p:cNvSpPr/>
          <p:nvPr/>
        </p:nvSpPr>
        <p:spPr>
          <a:xfrm>
            <a:off x="5540572" y="3105150"/>
            <a:ext cx="3489127" cy="438429"/>
          </a:xfrm>
          <a:prstGeom prst="rect">
            <a:avLst/>
          </a:prstGeom>
          <a:noFill/>
          <a:ln/>
        </p:spPr>
        <p:txBody>
          <a:bodyPr wrap="square" lIns="0" tIns="0" rIns="0" bIns="0" rtlCol="0" anchor="t"/>
          <a:lstStyle/>
          <a:p>
            <a:pPr marL="0" indent="0" algn="l">
              <a:lnSpc>
                <a:spcPts val="2500"/>
              </a:lnSpc>
              <a:buNone/>
            </a:pPr>
            <a:r>
              <a:rPr lang="en-US" sz="2000" b="1" dirty="0">
                <a:latin typeface="Lato Bold" pitchFamily="34" charset="0"/>
                <a:ea typeface="Lato Bold" pitchFamily="34" charset="-122"/>
                <a:cs typeface="Lato Bold" pitchFamily="34" charset="-120"/>
              </a:rPr>
              <a:t>Slide &amp; Transcript Processing</a:t>
            </a:r>
            <a:endParaRPr lang="en-US" sz="2000" dirty="0"/>
          </a:p>
        </p:txBody>
      </p:sp>
      <p:sp>
        <p:nvSpPr>
          <p:cNvPr id="6" name="Text 2"/>
          <p:cNvSpPr/>
          <p:nvPr/>
        </p:nvSpPr>
        <p:spPr>
          <a:xfrm>
            <a:off x="5540573" y="3521910"/>
            <a:ext cx="2614732" cy="843438"/>
          </a:xfrm>
          <a:prstGeom prst="rect">
            <a:avLst/>
          </a:prstGeom>
          <a:noFill/>
          <a:ln/>
        </p:spPr>
        <p:txBody>
          <a:bodyPr wrap="square" lIns="0" tIns="0" rIns="0" bIns="0" rtlCol="0" anchor="t"/>
          <a:lstStyle/>
          <a:p>
            <a:pPr marL="285750" indent="-285750" algn="l">
              <a:lnSpc>
                <a:spcPts val="2400"/>
              </a:lnSpc>
              <a:buFont typeface="Arial" panose="020B0604020202020204" pitchFamily="34" charset="0"/>
              <a:buChar char="•"/>
            </a:pPr>
            <a:r>
              <a:rPr lang="en-US" sz="1600" dirty="0">
                <a:latin typeface="Lato" pitchFamily="34" charset="0"/>
                <a:ea typeface="Lato" pitchFamily="34" charset="-122"/>
                <a:cs typeface="Lato" pitchFamily="34" charset="-120"/>
              </a:rPr>
              <a:t>Slide extraction </a:t>
            </a:r>
          </a:p>
          <a:p>
            <a:pPr marL="285750" indent="-285750" algn="l">
              <a:lnSpc>
                <a:spcPts val="2400"/>
              </a:lnSpc>
              <a:buFont typeface="Arial" panose="020B0604020202020204" pitchFamily="34" charset="0"/>
              <a:buChar char="•"/>
            </a:pPr>
            <a:r>
              <a:rPr lang="en-US" sz="1600" dirty="0">
                <a:latin typeface="Lato" pitchFamily="34" charset="0"/>
                <a:ea typeface="Lato" pitchFamily="34" charset="-122"/>
                <a:cs typeface="Lato" pitchFamily="34" charset="-120"/>
              </a:rPr>
              <a:t>OCR</a:t>
            </a:r>
          </a:p>
          <a:p>
            <a:pPr marL="285750" indent="-285750" algn="l">
              <a:lnSpc>
                <a:spcPts val="2400"/>
              </a:lnSpc>
              <a:buFont typeface="Arial" panose="020B0604020202020204" pitchFamily="34" charset="0"/>
              <a:buChar char="•"/>
            </a:pPr>
            <a:r>
              <a:rPr lang="en-US" sz="1600" dirty="0">
                <a:latin typeface="Lato" pitchFamily="34" charset="0"/>
                <a:ea typeface="Lato" pitchFamily="34" charset="-122"/>
                <a:cs typeface="Lato" pitchFamily="34" charset="-120"/>
              </a:rPr>
              <a:t>Transcript cleaning</a:t>
            </a:r>
            <a:endParaRPr lang="en-US" sz="1600" dirty="0"/>
          </a:p>
        </p:txBody>
      </p:sp>
      <p:pic>
        <p:nvPicPr>
          <p:cNvPr id="7" name="Image 2"/>
          <p:cNvPicPr>
            <a:picLocks noChangeAspect="1"/>
          </p:cNvPicPr>
          <p:nvPr/>
        </p:nvPicPr>
        <p:blipFill>
          <a:blip r:embed="rId4"/>
          <a:srcRect/>
          <a:stretch/>
        </p:blipFill>
        <p:spPr>
          <a:xfrm>
            <a:off x="10339263" y="2020885"/>
            <a:ext cx="843558" cy="843558"/>
          </a:xfrm>
          <a:prstGeom prst="rect">
            <a:avLst/>
          </a:prstGeom>
        </p:spPr>
      </p:pic>
      <p:sp>
        <p:nvSpPr>
          <p:cNvPr id="8" name="Text 3"/>
          <p:cNvSpPr/>
          <p:nvPr/>
        </p:nvSpPr>
        <p:spPr>
          <a:xfrm>
            <a:off x="10078576" y="3110508"/>
            <a:ext cx="2614851" cy="411402"/>
          </a:xfrm>
          <a:prstGeom prst="rect">
            <a:avLst/>
          </a:prstGeom>
          <a:noFill/>
          <a:ln/>
        </p:spPr>
        <p:txBody>
          <a:bodyPr wrap="square" lIns="0" tIns="0" rIns="0" bIns="0" rtlCol="0" anchor="t"/>
          <a:lstStyle/>
          <a:p>
            <a:pPr marL="0" indent="0" algn="l">
              <a:lnSpc>
                <a:spcPts val="2500"/>
              </a:lnSpc>
              <a:buNone/>
            </a:pPr>
            <a:r>
              <a:rPr lang="en-US" sz="2000" b="1" dirty="0">
                <a:latin typeface="Lato Bold" pitchFamily="34" charset="0"/>
                <a:ea typeface="Lato Bold" pitchFamily="34" charset="-122"/>
                <a:cs typeface="Lato Bold" pitchFamily="34" charset="-120"/>
              </a:rPr>
              <a:t>Summarization Models</a:t>
            </a:r>
            <a:endParaRPr lang="en-US" sz="2000" dirty="0"/>
          </a:p>
        </p:txBody>
      </p:sp>
      <p:sp>
        <p:nvSpPr>
          <p:cNvPr id="9" name="Text 4"/>
          <p:cNvSpPr/>
          <p:nvPr/>
        </p:nvSpPr>
        <p:spPr>
          <a:xfrm>
            <a:off x="10136083" y="3526570"/>
            <a:ext cx="3299362" cy="620554"/>
          </a:xfrm>
          <a:prstGeom prst="rect">
            <a:avLst/>
          </a:prstGeom>
          <a:noFill/>
          <a:ln/>
        </p:spPr>
        <p:txBody>
          <a:bodyPr wrap="square" lIns="0" tIns="0" rIns="0" bIns="0" rtlCol="0" anchor="t"/>
          <a:lstStyle/>
          <a:p>
            <a:pPr marL="285750" indent="-285750" algn="l">
              <a:lnSpc>
                <a:spcPts val="2400"/>
              </a:lnSpc>
              <a:buFont typeface="Arial" panose="020B0604020202020204" pitchFamily="34" charset="0"/>
              <a:buChar char="•"/>
            </a:pPr>
            <a:r>
              <a:rPr lang="en-US" sz="1600" dirty="0">
                <a:latin typeface="Lato" pitchFamily="34" charset="0"/>
                <a:ea typeface="Lato" pitchFamily="34" charset="-122"/>
                <a:cs typeface="Lato" pitchFamily="34" charset="-120"/>
              </a:rPr>
              <a:t>Transformer models (BART / T5) tuned for academic text</a:t>
            </a:r>
            <a:endParaRPr lang="en-US" sz="1600" dirty="0"/>
          </a:p>
        </p:txBody>
      </p:sp>
      <p:sp>
        <p:nvSpPr>
          <p:cNvPr id="11" name="Text 5"/>
          <p:cNvSpPr/>
          <p:nvPr/>
        </p:nvSpPr>
        <p:spPr>
          <a:xfrm>
            <a:off x="10078576" y="5987653"/>
            <a:ext cx="2551748" cy="318849"/>
          </a:xfrm>
          <a:prstGeom prst="rect">
            <a:avLst/>
          </a:prstGeom>
          <a:noFill/>
          <a:ln/>
        </p:spPr>
        <p:txBody>
          <a:bodyPr wrap="none" lIns="0" tIns="0" rIns="0" bIns="0" rtlCol="0" anchor="t"/>
          <a:lstStyle/>
          <a:p>
            <a:pPr marL="0" indent="0" algn="l">
              <a:lnSpc>
                <a:spcPts val="2500"/>
              </a:lnSpc>
              <a:buNone/>
            </a:pPr>
            <a:r>
              <a:rPr lang="en-US" sz="2000" b="1" dirty="0">
                <a:latin typeface="Lato Bold" pitchFamily="34" charset="0"/>
                <a:ea typeface="Lato Bold" pitchFamily="34" charset="-122"/>
                <a:cs typeface="Lato Bold" pitchFamily="34" charset="-120"/>
              </a:rPr>
              <a:t>Alignment</a:t>
            </a:r>
            <a:endParaRPr lang="en-US" sz="2000" dirty="0"/>
          </a:p>
        </p:txBody>
      </p:sp>
      <p:sp>
        <p:nvSpPr>
          <p:cNvPr id="14" name="Text 7"/>
          <p:cNvSpPr/>
          <p:nvPr/>
        </p:nvSpPr>
        <p:spPr>
          <a:xfrm>
            <a:off x="5540573" y="5987653"/>
            <a:ext cx="2551748" cy="318849"/>
          </a:xfrm>
          <a:prstGeom prst="rect">
            <a:avLst/>
          </a:prstGeom>
          <a:noFill/>
          <a:ln/>
        </p:spPr>
        <p:txBody>
          <a:bodyPr wrap="none" lIns="0" tIns="0" rIns="0" bIns="0" rtlCol="0" anchor="t"/>
          <a:lstStyle/>
          <a:p>
            <a:pPr marL="0" indent="0" algn="l">
              <a:lnSpc>
                <a:spcPts val="2500"/>
              </a:lnSpc>
              <a:buNone/>
            </a:pPr>
            <a:r>
              <a:rPr lang="en-US" sz="2000" b="1" dirty="0">
                <a:latin typeface="Lato Bold" pitchFamily="34" charset="0"/>
                <a:ea typeface="Lato Bold" pitchFamily="34" charset="-122"/>
                <a:cs typeface="Lato Bold" pitchFamily="34" charset="-120"/>
              </a:rPr>
              <a:t>Flashcards</a:t>
            </a:r>
            <a:endParaRPr lang="en-US" sz="2000" dirty="0"/>
          </a:p>
        </p:txBody>
      </p:sp>
      <p:sp>
        <p:nvSpPr>
          <p:cNvPr id="15" name="Text 8"/>
          <p:cNvSpPr/>
          <p:nvPr/>
        </p:nvSpPr>
        <p:spPr>
          <a:xfrm>
            <a:off x="5540572" y="6448652"/>
            <a:ext cx="3281309" cy="620554"/>
          </a:xfrm>
          <a:prstGeom prst="rect">
            <a:avLst/>
          </a:prstGeom>
          <a:noFill/>
          <a:ln/>
        </p:spPr>
        <p:txBody>
          <a:bodyPr wrap="square" lIns="0" tIns="0" rIns="0" bIns="0" rtlCol="0" anchor="t"/>
          <a:lstStyle/>
          <a:p>
            <a:pPr marL="285750" indent="-285750" algn="l">
              <a:lnSpc>
                <a:spcPts val="2400"/>
              </a:lnSpc>
              <a:buFont typeface="Arial" panose="020B0604020202020204" pitchFamily="34" charset="0"/>
              <a:buChar char="•"/>
            </a:pPr>
            <a:r>
              <a:rPr lang="en-US" sz="1600" dirty="0">
                <a:latin typeface="Lato" pitchFamily="34" charset="0"/>
                <a:ea typeface="Lato" pitchFamily="34" charset="-122"/>
                <a:cs typeface="Lato" pitchFamily="34" charset="-120"/>
              </a:rPr>
              <a:t>QA pair generation focused on active recall</a:t>
            </a:r>
            <a:endParaRPr lang="en-US" sz="1600" dirty="0"/>
          </a:p>
        </p:txBody>
      </p:sp>
      <p:sp>
        <p:nvSpPr>
          <p:cNvPr id="17" name="Text 2">
            <a:extLst>
              <a:ext uri="{FF2B5EF4-FFF2-40B4-BE49-F238E27FC236}">
                <a16:creationId xmlns:a16="http://schemas.microsoft.com/office/drawing/2014/main" id="{A6E51CFD-3113-F419-D7E6-A3AB2630BA95}"/>
              </a:ext>
            </a:extLst>
          </p:cNvPr>
          <p:cNvSpPr/>
          <p:nvPr/>
        </p:nvSpPr>
        <p:spPr>
          <a:xfrm>
            <a:off x="10078695" y="6448652"/>
            <a:ext cx="2614732" cy="843438"/>
          </a:xfrm>
          <a:prstGeom prst="rect">
            <a:avLst/>
          </a:prstGeom>
          <a:noFill/>
          <a:ln/>
        </p:spPr>
        <p:txBody>
          <a:bodyPr wrap="square" lIns="0" tIns="0" rIns="0" bIns="0" rtlCol="0" anchor="t"/>
          <a:lstStyle/>
          <a:p>
            <a:pPr marL="285750" indent="-285750" algn="l">
              <a:lnSpc>
                <a:spcPts val="2400"/>
              </a:lnSpc>
              <a:buFont typeface="Arial" panose="020B0604020202020204" pitchFamily="34" charset="0"/>
              <a:buChar char="•"/>
            </a:pPr>
            <a:r>
              <a:rPr lang="en-US" sz="1600" dirty="0">
                <a:latin typeface="Lato" pitchFamily="34" charset="0"/>
                <a:ea typeface="Lato" pitchFamily="34" charset="-122"/>
                <a:cs typeface="Lato" pitchFamily="34" charset="-120"/>
              </a:rPr>
              <a:t>Semantic similarity</a:t>
            </a:r>
          </a:p>
          <a:p>
            <a:pPr marL="285750" indent="-285750" algn="l">
              <a:lnSpc>
                <a:spcPts val="2400"/>
              </a:lnSpc>
              <a:buFont typeface="Arial" panose="020B0604020202020204" pitchFamily="34" charset="0"/>
              <a:buChar char="•"/>
            </a:pPr>
            <a:r>
              <a:rPr lang="en-US" sz="1600" dirty="0">
                <a:latin typeface="Lato" pitchFamily="34" charset="0"/>
                <a:ea typeface="Lato" pitchFamily="34" charset="-122"/>
                <a:cs typeface="Lato" pitchFamily="34" charset="-120"/>
              </a:rPr>
              <a:t>Embedding comparisons to objectives</a:t>
            </a:r>
          </a:p>
        </p:txBody>
      </p:sp>
      <p:pic>
        <p:nvPicPr>
          <p:cNvPr id="20" name="Picture 19">
            <a:extLst>
              <a:ext uri="{FF2B5EF4-FFF2-40B4-BE49-F238E27FC236}">
                <a16:creationId xmlns:a16="http://schemas.microsoft.com/office/drawing/2014/main" id="{FA74798D-AC18-762F-2926-63B34354A41B}"/>
              </a:ext>
            </a:extLst>
          </p:cNvPr>
          <p:cNvPicPr>
            <a:picLocks noChangeAspect="1"/>
          </p:cNvPicPr>
          <p:nvPr/>
        </p:nvPicPr>
        <p:blipFill>
          <a:blip r:embed="rId5"/>
          <a:stretch>
            <a:fillRect/>
          </a:stretch>
        </p:blipFill>
        <p:spPr>
          <a:xfrm>
            <a:off x="5731656" y="4816011"/>
            <a:ext cx="1029492" cy="1029492"/>
          </a:xfrm>
          <a:prstGeom prst="rect">
            <a:avLst/>
          </a:prstGeom>
        </p:spPr>
      </p:pic>
      <p:pic>
        <p:nvPicPr>
          <p:cNvPr id="22" name="Picture 21">
            <a:extLst>
              <a:ext uri="{FF2B5EF4-FFF2-40B4-BE49-F238E27FC236}">
                <a16:creationId xmlns:a16="http://schemas.microsoft.com/office/drawing/2014/main" id="{1EF7E33F-53D9-B7B5-11AD-47212CCD3BA5}"/>
              </a:ext>
            </a:extLst>
          </p:cNvPr>
          <p:cNvPicPr>
            <a:picLocks noChangeAspect="1"/>
          </p:cNvPicPr>
          <p:nvPr/>
        </p:nvPicPr>
        <p:blipFill>
          <a:blip r:embed="rId6"/>
          <a:stretch>
            <a:fillRect/>
          </a:stretch>
        </p:blipFill>
        <p:spPr>
          <a:xfrm>
            <a:off x="5698873" y="1886136"/>
            <a:ext cx="1062275" cy="1062275"/>
          </a:xfrm>
          <a:prstGeom prst="rect">
            <a:avLst/>
          </a:prstGeom>
        </p:spPr>
      </p:pic>
      <p:pic>
        <p:nvPicPr>
          <p:cNvPr id="24" name="Picture 23">
            <a:extLst>
              <a:ext uri="{FF2B5EF4-FFF2-40B4-BE49-F238E27FC236}">
                <a16:creationId xmlns:a16="http://schemas.microsoft.com/office/drawing/2014/main" id="{189AB444-A826-D28B-8255-62796508F042}"/>
              </a:ext>
            </a:extLst>
          </p:cNvPr>
          <p:cNvPicPr>
            <a:picLocks noChangeAspect="1"/>
          </p:cNvPicPr>
          <p:nvPr/>
        </p:nvPicPr>
        <p:blipFill>
          <a:blip r:embed="rId7"/>
          <a:stretch>
            <a:fillRect/>
          </a:stretch>
        </p:blipFill>
        <p:spPr>
          <a:xfrm>
            <a:off x="10178539" y="4612116"/>
            <a:ext cx="1207462" cy="1207462"/>
          </a:xfrm>
          <a:prstGeom prst="rect">
            <a:avLst/>
          </a:prstGeom>
        </p:spPr>
      </p:pic>
      <p:sp>
        <p:nvSpPr>
          <p:cNvPr id="26" name="Text 0">
            <a:extLst>
              <a:ext uri="{FF2B5EF4-FFF2-40B4-BE49-F238E27FC236}">
                <a16:creationId xmlns:a16="http://schemas.microsoft.com/office/drawing/2014/main" id="{8C0B136E-0EAD-0630-374F-F7A0ADA808FD}"/>
              </a:ext>
            </a:extLst>
          </p:cNvPr>
          <p:cNvSpPr/>
          <p:nvPr/>
        </p:nvSpPr>
        <p:spPr>
          <a:xfrm>
            <a:off x="790656" y="1316748"/>
            <a:ext cx="3144365" cy="496133"/>
          </a:xfrm>
          <a:prstGeom prst="rect">
            <a:avLst/>
          </a:prstGeom>
          <a:noFill/>
          <a:ln/>
        </p:spPr>
        <p:txBody>
          <a:bodyPr wrap="none" lIns="0" tIns="0" rIns="0" bIns="0" rtlCol="0" anchor="t"/>
          <a:lstStyle/>
          <a:p>
            <a:pPr marL="0" indent="0" algn="l">
              <a:lnSpc>
                <a:spcPts val="3900"/>
              </a:lnSpc>
              <a:buNone/>
            </a:pPr>
            <a:r>
              <a:rPr lang="en-US" sz="3000" b="1" dirty="0">
                <a:latin typeface="Lato Bold" pitchFamily="34" charset="0"/>
                <a:ea typeface="Lato Bold" pitchFamily="34" charset="-122"/>
                <a:cs typeface="Lato Bold" pitchFamily="34" charset="-120"/>
              </a:rPr>
              <a:t>Methodology</a:t>
            </a:r>
            <a:endParaRPr lang="en-US" sz="3000" dirty="0"/>
          </a:p>
        </p:txBody>
      </p:sp>
      <p:sp>
        <p:nvSpPr>
          <p:cNvPr id="27" name="Text 0">
            <a:extLst>
              <a:ext uri="{FF2B5EF4-FFF2-40B4-BE49-F238E27FC236}">
                <a16:creationId xmlns:a16="http://schemas.microsoft.com/office/drawing/2014/main" id="{5457310A-1414-A122-7A33-D1F6E4A4E530}"/>
              </a:ext>
            </a:extLst>
          </p:cNvPr>
          <p:cNvSpPr/>
          <p:nvPr/>
        </p:nvSpPr>
        <p:spPr>
          <a:xfrm>
            <a:off x="793790" y="497336"/>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Learning‑Objective‑Aware Lecture Summarization &amp; Flashcards</a:t>
            </a:r>
            <a:endParaRPr lang="en-US" sz="3800" dirty="0"/>
          </a:p>
        </p:txBody>
      </p:sp>
      <p:sp>
        <p:nvSpPr>
          <p:cNvPr id="28" name="Rectangle 27">
            <a:extLst>
              <a:ext uri="{FF2B5EF4-FFF2-40B4-BE49-F238E27FC236}">
                <a16:creationId xmlns:a16="http://schemas.microsoft.com/office/drawing/2014/main" id="{7FDFF0C3-9D51-9D67-FE1D-45EE9C8E0A64}"/>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IT22187178    |    </a:t>
            </a:r>
            <a:r>
              <a:rPr lang="en-US" sz="1600" dirty="0" err="1">
                <a:solidFill>
                  <a:schemeClr val="tx1"/>
                </a:solidFill>
                <a:latin typeface="Lato" pitchFamily="34" charset="0"/>
                <a:ea typeface="Lato" pitchFamily="34" charset="-122"/>
                <a:cs typeface="Lato" pitchFamily="34" charset="-120"/>
              </a:rPr>
              <a:t>Vijithapala</a:t>
            </a:r>
            <a:r>
              <a:rPr lang="en-US" sz="1600" dirty="0">
                <a:solidFill>
                  <a:schemeClr val="tx1"/>
                </a:solidFill>
                <a:latin typeface="Lato" pitchFamily="34" charset="0"/>
                <a:ea typeface="Lato" pitchFamily="34" charset="-122"/>
                <a:cs typeface="Lato" pitchFamily="34" charset="-120"/>
              </a:rPr>
              <a:t> T.G.K.G.    |    R26-SE-022</a:t>
            </a:r>
            <a:endParaRPr lang="en-US" sz="1600"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Shape 1"/>
          <p:cNvSpPr/>
          <p:nvPr/>
        </p:nvSpPr>
        <p:spPr>
          <a:xfrm>
            <a:off x="793790" y="1791414"/>
            <a:ext cx="4313277" cy="1911787"/>
          </a:xfrm>
          <a:prstGeom prst="roundRect">
            <a:avLst>
              <a:gd name="adj" fmla="val 1246"/>
            </a:avLst>
          </a:prstGeom>
          <a:solidFill>
            <a:srgbClr val="E5DFD2"/>
          </a:solidFill>
          <a:ln/>
        </p:spPr>
        <p:txBody>
          <a:bodyPr/>
          <a:lstStyle/>
          <a:p>
            <a:endParaRPr lang="en-US" dirty="0"/>
          </a:p>
        </p:txBody>
      </p:sp>
      <p:sp>
        <p:nvSpPr>
          <p:cNvPr id="4" name="Shape 2"/>
          <p:cNvSpPr/>
          <p:nvPr/>
        </p:nvSpPr>
        <p:spPr>
          <a:xfrm>
            <a:off x="4472107" y="1976893"/>
            <a:ext cx="476250" cy="476250"/>
          </a:xfrm>
          <a:prstGeom prst="roundRect">
            <a:avLst>
              <a:gd name="adj" fmla="val 19198080"/>
            </a:avLst>
          </a:prstGeom>
          <a:solidFill>
            <a:srgbClr val="282824"/>
          </a:solidFill>
          <a:ln/>
        </p:spPr>
        <p:txBody>
          <a:bodyPr/>
          <a:lstStyle/>
          <a:p>
            <a:endParaRPr lang="en-US"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03076" y="2139034"/>
            <a:ext cx="214313" cy="214312"/>
          </a:xfrm>
          <a:prstGeom prst="rect">
            <a:avLst/>
          </a:prstGeom>
        </p:spPr>
      </p:pic>
      <p:sp>
        <p:nvSpPr>
          <p:cNvPr id="6" name="Text 3"/>
          <p:cNvSpPr/>
          <p:nvPr/>
        </p:nvSpPr>
        <p:spPr>
          <a:xfrm>
            <a:off x="952500" y="2009386"/>
            <a:ext cx="2331027" cy="259296"/>
          </a:xfrm>
          <a:prstGeom prst="rect">
            <a:avLst/>
          </a:prstGeom>
          <a:noFill/>
          <a:ln/>
        </p:spPr>
        <p:txBody>
          <a:bodyPr wrap="none" lIns="0" tIns="0" rIns="0" bIns="0" rtlCol="0" anchor="t"/>
          <a:lstStyle/>
          <a:p>
            <a:pPr marL="0" indent="0" algn="l">
              <a:lnSpc>
                <a:spcPts val="1950"/>
              </a:lnSpc>
              <a:buNone/>
            </a:pPr>
            <a:r>
              <a:rPr lang="en-US" sz="2400" b="1" dirty="0">
                <a:latin typeface="Lato Bold" pitchFamily="34" charset="0"/>
                <a:ea typeface="Lato Bold" pitchFamily="34" charset="-122"/>
                <a:cs typeface="Lato Bold" pitchFamily="34" charset="-120"/>
              </a:rPr>
              <a:t>Evaluation</a:t>
            </a:r>
            <a:r>
              <a:rPr lang="en-US" sz="2000" b="1" dirty="0">
                <a:latin typeface="Lato Bold" pitchFamily="34" charset="0"/>
                <a:ea typeface="Lato Bold" pitchFamily="34" charset="-122"/>
                <a:cs typeface="Lato Bold" pitchFamily="34" charset="-120"/>
              </a:rPr>
              <a:t> Metrics</a:t>
            </a:r>
            <a:endParaRPr lang="en-US" sz="2000" dirty="0"/>
          </a:p>
        </p:txBody>
      </p:sp>
      <p:sp>
        <p:nvSpPr>
          <p:cNvPr id="7" name="Text 4"/>
          <p:cNvSpPr/>
          <p:nvPr/>
        </p:nvSpPr>
        <p:spPr>
          <a:xfrm>
            <a:off x="939224" y="2417347"/>
            <a:ext cx="3995857" cy="1136309"/>
          </a:xfrm>
          <a:prstGeom prst="rect">
            <a:avLst/>
          </a:prstGeom>
          <a:noFill/>
          <a:ln/>
        </p:spPr>
        <p:txBody>
          <a:bodyPr wrap="square" lIns="0" tIns="0" rIns="0" bIns="0" rtlCol="0" anchor="t"/>
          <a:lstStyle/>
          <a:p>
            <a:pPr marL="285750" indent="-285750" algn="l">
              <a:lnSpc>
                <a:spcPct val="150000"/>
              </a:lnSpc>
              <a:buFont typeface="Wingdings" panose="05000000000000000000" pitchFamily="2" charset="2"/>
              <a:buChar char="ü"/>
            </a:pPr>
            <a:r>
              <a:rPr lang="en-US" sz="1600" dirty="0">
                <a:latin typeface="Lato" pitchFamily="34" charset="0"/>
                <a:ea typeface="Lato" pitchFamily="34" charset="-122"/>
                <a:cs typeface="Lato" pitchFamily="34" charset="-120"/>
              </a:rPr>
              <a:t>Summary quality</a:t>
            </a:r>
            <a:endParaRPr lang="en-US" sz="1600" dirty="0"/>
          </a:p>
          <a:p>
            <a:pPr marL="285750" indent="-285750" algn="l">
              <a:lnSpc>
                <a:spcPct val="150000"/>
              </a:lnSpc>
              <a:buFont typeface="Wingdings" panose="05000000000000000000" pitchFamily="2" charset="2"/>
              <a:buChar char="ü"/>
            </a:pPr>
            <a:r>
              <a:rPr lang="en-US" sz="1600" dirty="0">
                <a:latin typeface="Lato" pitchFamily="34" charset="0"/>
                <a:ea typeface="Lato" pitchFamily="34" charset="-122"/>
                <a:cs typeface="Lato" pitchFamily="34" charset="-120"/>
              </a:rPr>
              <a:t>Flashcard usefulness</a:t>
            </a:r>
            <a:endParaRPr lang="en-US" sz="1600" dirty="0"/>
          </a:p>
          <a:p>
            <a:pPr marL="285750" indent="-285750" algn="l">
              <a:lnSpc>
                <a:spcPct val="150000"/>
              </a:lnSpc>
              <a:buFont typeface="Wingdings" panose="05000000000000000000" pitchFamily="2" charset="2"/>
              <a:buChar char="ü"/>
            </a:pPr>
            <a:r>
              <a:rPr lang="en-US" sz="1600" dirty="0">
                <a:latin typeface="Lato" pitchFamily="34" charset="0"/>
                <a:ea typeface="Lato" pitchFamily="34" charset="-122"/>
                <a:cs typeface="Lato" pitchFamily="34" charset="-120"/>
              </a:rPr>
              <a:t>Revision efficiency</a:t>
            </a:r>
            <a:endParaRPr lang="en-US" sz="1600" dirty="0"/>
          </a:p>
        </p:txBody>
      </p:sp>
      <p:sp>
        <p:nvSpPr>
          <p:cNvPr id="8" name="Shape 5"/>
          <p:cNvSpPr/>
          <p:nvPr/>
        </p:nvSpPr>
        <p:spPr>
          <a:xfrm>
            <a:off x="793790" y="3814286"/>
            <a:ext cx="4313277" cy="1479828"/>
          </a:xfrm>
          <a:prstGeom prst="roundRect">
            <a:avLst>
              <a:gd name="adj" fmla="val 1609"/>
            </a:avLst>
          </a:prstGeom>
          <a:solidFill>
            <a:srgbClr val="E5DFD2"/>
          </a:solidFill>
          <a:ln/>
        </p:spPr>
        <p:txBody>
          <a:bodyPr/>
          <a:lstStyle/>
          <a:p>
            <a:endParaRPr lang="en-US"/>
          </a:p>
        </p:txBody>
      </p:sp>
      <p:sp>
        <p:nvSpPr>
          <p:cNvPr id="9" name="Shape 6"/>
          <p:cNvSpPr/>
          <p:nvPr/>
        </p:nvSpPr>
        <p:spPr>
          <a:xfrm>
            <a:off x="4472107" y="3994110"/>
            <a:ext cx="476250" cy="476250"/>
          </a:xfrm>
          <a:prstGeom prst="roundRect">
            <a:avLst>
              <a:gd name="adj" fmla="val 19198080"/>
            </a:avLst>
          </a:prstGeom>
          <a:solidFill>
            <a:srgbClr val="282824"/>
          </a:solidFill>
          <a:ln/>
        </p:spPr>
        <p:txBody>
          <a:bodyPr/>
          <a:lstStyle/>
          <a:p>
            <a:endParaRPr lang="en-US"/>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03076" y="4125078"/>
            <a:ext cx="214313" cy="214312"/>
          </a:xfrm>
          <a:prstGeom prst="rect">
            <a:avLst/>
          </a:prstGeom>
        </p:spPr>
      </p:pic>
      <p:sp>
        <p:nvSpPr>
          <p:cNvPr id="11" name="Text 7"/>
          <p:cNvSpPr/>
          <p:nvPr/>
        </p:nvSpPr>
        <p:spPr>
          <a:xfrm>
            <a:off x="939224" y="4076620"/>
            <a:ext cx="1984653" cy="248007"/>
          </a:xfrm>
          <a:prstGeom prst="rect">
            <a:avLst/>
          </a:prstGeom>
          <a:noFill/>
          <a:ln/>
        </p:spPr>
        <p:txBody>
          <a:bodyPr wrap="none" lIns="0" tIns="0" rIns="0" bIns="0" rtlCol="0" anchor="t"/>
          <a:lstStyle/>
          <a:p>
            <a:pPr marL="0" indent="0" algn="l">
              <a:lnSpc>
                <a:spcPts val="1950"/>
              </a:lnSpc>
              <a:buNone/>
            </a:pPr>
            <a:r>
              <a:rPr lang="en-US" sz="2200" b="1" dirty="0">
                <a:latin typeface="Lato Bold" pitchFamily="34" charset="0"/>
                <a:ea typeface="Lato Bold" pitchFamily="34" charset="-122"/>
                <a:cs typeface="Lato Bold" pitchFamily="34" charset="-120"/>
              </a:rPr>
              <a:t>Datasets</a:t>
            </a:r>
            <a:endParaRPr lang="en-US" sz="2200" dirty="0"/>
          </a:p>
        </p:txBody>
      </p:sp>
      <p:sp>
        <p:nvSpPr>
          <p:cNvPr id="12" name="Text 8"/>
          <p:cNvSpPr/>
          <p:nvPr/>
        </p:nvSpPr>
        <p:spPr>
          <a:xfrm>
            <a:off x="925948" y="4753193"/>
            <a:ext cx="3995857" cy="215979"/>
          </a:xfrm>
          <a:prstGeom prst="rect">
            <a:avLst/>
          </a:prstGeom>
          <a:noFill/>
          <a:ln/>
        </p:spPr>
        <p:txBody>
          <a:bodyPr wrap="none" lIns="0" tIns="0" rIns="0" bIns="0" rtlCol="0" anchor="t"/>
          <a:lstStyle/>
          <a:p>
            <a:pPr marL="285750" indent="-285750" algn="l">
              <a:lnSpc>
                <a:spcPts val="1700"/>
              </a:lnSpc>
              <a:buFont typeface="Wingdings" panose="05000000000000000000" pitchFamily="2" charset="2"/>
              <a:buChar char="ü"/>
            </a:pPr>
            <a:r>
              <a:rPr lang="en-US" sz="1600" dirty="0">
                <a:latin typeface="Lato" pitchFamily="34" charset="0"/>
                <a:ea typeface="Lato" pitchFamily="34" charset="-122"/>
                <a:cs typeface="Lato" pitchFamily="34" charset="-120"/>
              </a:rPr>
              <a:t>Lecture slides · Course syllabi · Transcripts</a:t>
            </a:r>
            <a:endParaRPr lang="en-US" sz="1600" dirty="0"/>
          </a:p>
        </p:txBody>
      </p:sp>
      <p:sp>
        <p:nvSpPr>
          <p:cNvPr id="13" name="Shape 9"/>
          <p:cNvSpPr/>
          <p:nvPr/>
        </p:nvSpPr>
        <p:spPr>
          <a:xfrm>
            <a:off x="793790" y="5405199"/>
            <a:ext cx="4313277" cy="1695807"/>
          </a:xfrm>
          <a:prstGeom prst="roundRect">
            <a:avLst>
              <a:gd name="adj" fmla="val 1404"/>
            </a:avLst>
          </a:prstGeom>
          <a:solidFill>
            <a:srgbClr val="E5DFD2"/>
          </a:solidFill>
          <a:ln/>
        </p:spPr>
        <p:txBody>
          <a:bodyPr/>
          <a:lstStyle/>
          <a:p>
            <a:endParaRPr lang="en-US"/>
          </a:p>
        </p:txBody>
      </p:sp>
      <p:sp>
        <p:nvSpPr>
          <p:cNvPr id="14" name="Shape 10"/>
          <p:cNvSpPr/>
          <p:nvPr/>
        </p:nvSpPr>
        <p:spPr>
          <a:xfrm>
            <a:off x="4472107" y="5563910"/>
            <a:ext cx="476250" cy="476250"/>
          </a:xfrm>
          <a:prstGeom prst="roundRect">
            <a:avLst>
              <a:gd name="adj" fmla="val 19198080"/>
            </a:avLst>
          </a:prstGeom>
          <a:solidFill>
            <a:srgbClr val="282824"/>
          </a:solidFill>
          <a:ln/>
        </p:spPr>
        <p:txBody>
          <a:bodyPr/>
          <a:lstStyle/>
          <a:p>
            <a:endParaRPr lang="en-US"/>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03076" y="5694878"/>
            <a:ext cx="214313" cy="214312"/>
          </a:xfrm>
          <a:prstGeom prst="rect">
            <a:avLst/>
          </a:prstGeom>
        </p:spPr>
      </p:pic>
      <p:sp>
        <p:nvSpPr>
          <p:cNvPr id="16" name="Text 11"/>
          <p:cNvSpPr/>
          <p:nvPr/>
        </p:nvSpPr>
        <p:spPr>
          <a:xfrm>
            <a:off x="925948" y="5625075"/>
            <a:ext cx="1984653" cy="248007"/>
          </a:xfrm>
          <a:prstGeom prst="rect">
            <a:avLst/>
          </a:prstGeom>
          <a:noFill/>
          <a:ln/>
        </p:spPr>
        <p:txBody>
          <a:bodyPr wrap="none" lIns="0" tIns="0" rIns="0" bIns="0" rtlCol="0" anchor="t"/>
          <a:lstStyle/>
          <a:p>
            <a:pPr marL="0" indent="0" algn="l">
              <a:lnSpc>
                <a:spcPts val="1950"/>
              </a:lnSpc>
              <a:buNone/>
            </a:pPr>
            <a:r>
              <a:rPr lang="en-US" sz="2200" b="1" dirty="0">
                <a:latin typeface="Lato Bold" pitchFamily="34" charset="0"/>
                <a:ea typeface="Lato Bold" pitchFamily="34" charset="-122"/>
                <a:cs typeface="Lato Bold" pitchFamily="34" charset="-120"/>
              </a:rPr>
              <a:t>Ethics</a:t>
            </a:r>
            <a:endParaRPr lang="en-US" sz="2200" dirty="0"/>
          </a:p>
        </p:txBody>
      </p:sp>
      <p:sp>
        <p:nvSpPr>
          <p:cNvPr id="17" name="Text 12"/>
          <p:cNvSpPr/>
          <p:nvPr/>
        </p:nvSpPr>
        <p:spPr>
          <a:xfrm>
            <a:off x="925947" y="6083355"/>
            <a:ext cx="3995857" cy="849973"/>
          </a:xfrm>
          <a:prstGeom prst="rect">
            <a:avLst/>
          </a:prstGeom>
          <a:noFill/>
          <a:ln/>
        </p:spPr>
        <p:txBody>
          <a:bodyPr wrap="square" lIns="0" tIns="0" rIns="0" bIns="0" rtlCol="0" anchor="t"/>
          <a:lstStyle/>
          <a:p>
            <a:pPr marL="285750" indent="-285750" algn="l">
              <a:lnSpc>
                <a:spcPct val="150000"/>
              </a:lnSpc>
              <a:buFont typeface="Wingdings" panose="05000000000000000000" pitchFamily="2" charset="2"/>
              <a:buChar char="ü"/>
            </a:pPr>
            <a:r>
              <a:rPr lang="en-US" sz="1600" dirty="0">
                <a:latin typeface="Lato" pitchFamily="34" charset="0"/>
                <a:ea typeface="Lato" pitchFamily="34" charset="-122"/>
                <a:cs typeface="Lato" pitchFamily="34" charset="-120"/>
              </a:rPr>
              <a:t>Academic materials only</a:t>
            </a:r>
            <a:endParaRPr lang="en-US" sz="1600" dirty="0"/>
          </a:p>
          <a:p>
            <a:pPr marL="285750" indent="-285750" algn="l">
              <a:lnSpc>
                <a:spcPct val="150000"/>
              </a:lnSpc>
              <a:buFont typeface="Wingdings" panose="05000000000000000000" pitchFamily="2" charset="2"/>
              <a:buChar char="ü"/>
            </a:pPr>
            <a:r>
              <a:rPr lang="en-US" sz="1600" dirty="0">
                <a:latin typeface="Lato" pitchFamily="34" charset="0"/>
                <a:ea typeface="Lato" pitchFamily="34" charset="-122"/>
                <a:cs typeface="Lato" pitchFamily="34" charset="-120"/>
              </a:rPr>
              <a:t>No student private data</a:t>
            </a:r>
            <a:endParaRPr lang="en-US" sz="1600" dirty="0"/>
          </a:p>
        </p:txBody>
      </p:sp>
      <p:pic>
        <p:nvPicPr>
          <p:cNvPr id="18" name="Image 3" descr="preencoded.png"/>
          <p:cNvPicPr>
            <a:picLocks noChangeAspect="1"/>
          </p:cNvPicPr>
          <p:nvPr/>
        </p:nvPicPr>
        <p:blipFill>
          <a:blip r:embed="rId9"/>
          <a:stretch>
            <a:fillRect/>
          </a:stretch>
        </p:blipFill>
        <p:spPr>
          <a:xfrm>
            <a:off x="6160138" y="2241135"/>
            <a:ext cx="7676472" cy="4284463"/>
          </a:xfrm>
          <a:prstGeom prst="rect">
            <a:avLst/>
          </a:prstGeom>
        </p:spPr>
      </p:pic>
      <p:sp>
        <p:nvSpPr>
          <p:cNvPr id="20" name="Text 0">
            <a:extLst>
              <a:ext uri="{FF2B5EF4-FFF2-40B4-BE49-F238E27FC236}">
                <a16:creationId xmlns:a16="http://schemas.microsoft.com/office/drawing/2014/main" id="{DAAC7825-B6B8-C9A4-F6AB-E4EBDF74BDDA}"/>
              </a:ext>
            </a:extLst>
          </p:cNvPr>
          <p:cNvSpPr/>
          <p:nvPr/>
        </p:nvSpPr>
        <p:spPr>
          <a:xfrm>
            <a:off x="793790" y="497336"/>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Learning‑Objective‑Aware Lecture Summarization &amp; Flashcards</a:t>
            </a:r>
            <a:endParaRPr lang="en-US" sz="3800" dirty="0"/>
          </a:p>
        </p:txBody>
      </p:sp>
      <p:sp>
        <p:nvSpPr>
          <p:cNvPr id="21" name="Text 0">
            <a:extLst>
              <a:ext uri="{FF2B5EF4-FFF2-40B4-BE49-F238E27FC236}">
                <a16:creationId xmlns:a16="http://schemas.microsoft.com/office/drawing/2014/main" id="{47209C39-D1EB-D755-143B-3CCC488E7595}"/>
              </a:ext>
            </a:extLst>
          </p:cNvPr>
          <p:cNvSpPr/>
          <p:nvPr/>
        </p:nvSpPr>
        <p:spPr>
          <a:xfrm>
            <a:off x="816650" y="1159423"/>
            <a:ext cx="3144365" cy="496133"/>
          </a:xfrm>
          <a:prstGeom prst="rect">
            <a:avLst/>
          </a:prstGeom>
          <a:noFill/>
          <a:ln/>
        </p:spPr>
        <p:txBody>
          <a:bodyPr wrap="none" lIns="0" tIns="0" rIns="0" bIns="0" rtlCol="0" anchor="t"/>
          <a:lstStyle/>
          <a:p>
            <a:pPr>
              <a:lnSpc>
                <a:spcPts val="4450"/>
              </a:lnSpc>
            </a:pPr>
            <a:r>
              <a:rPr lang="en-US" sz="3000" b="1" dirty="0">
                <a:latin typeface="Lato Bold" pitchFamily="34" charset="0"/>
                <a:ea typeface="Lato Bold" pitchFamily="34" charset="-122"/>
                <a:cs typeface="Lato Bold" pitchFamily="34" charset="-120"/>
              </a:rPr>
              <a:t>Validation &amp; Ethics</a:t>
            </a:r>
            <a:endParaRPr lang="en-US" sz="3000" dirty="0"/>
          </a:p>
        </p:txBody>
      </p:sp>
      <p:sp>
        <p:nvSpPr>
          <p:cNvPr id="22" name="Rectangle 21">
            <a:extLst>
              <a:ext uri="{FF2B5EF4-FFF2-40B4-BE49-F238E27FC236}">
                <a16:creationId xmlns:a16="http://schemas.microsoft.com/office/drawing/2014/main" id="{B1600FF0-81F2-D9AA-084A-A9C399A3910F}"/>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IT22187178    |    </a:t>
            </a:r>
            <a:r>
              <a:rPr lang="en-US" sz="1600" dirty="0" err="1">
                <a:solidFill>
                  <a:schemeClr val="tx1"/>
                </a:solidFill>
                <a:latin typeface="Lato" pitchFamily="34" charset="0"/>
                <a:ea typeface="Lato" pitchFamily="34" charset="-122"/>
                <a:cs typeface="Lato" pitchFamily="34" charset="-120"/>
              </a:rPr>
              <a:t>Vijithapala</a:t>
            </a:r>
            <a:r>
              <a:rPr lang="en-US" sz="1600" dirty="0">
                <a:solidFill>
                  <a:schemeClr val="tx1"/>
                </a:solidFill>
                <a:latin typeface="Lato" pitchFamily="34" charset="0"/>
                <a:ea typeface="Lato" pitchFamily="34" charset="-122"/>
                <a:cs typeface="Lato" pitchFamily="34" charset="-120"/>
              </a:rPr>
              <a:t> T.G.K.G.    |    R26-SE-022</a:t>
            </a:r>
            <a:endParaRPr lang="en-US" sz="1600"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3533418" y="1571149"/>
            <a:ext cx="7563445" cy="4132898"/>
          </a:xfrm>
          <a:prstGeom prst="rect">
            <a:avLst/>
          </a:prstGeom>
        </p:spPr>
      </p:pic>
      <p:sp>
        <p:nvSpPr>
          <p:cNvPr id="4" name="Text 1"/>
          <p:cNvSpPr/>
          <p:nvPr/>
        </p:nvSpPr>
        <p:spPr>
          <a:xfrm>
            <a:off x="4530829" y="3507657"/>
            <a:ext cx="1752481" cy="238433"/>
          </a:xfrm>
          <a:prstGeom prst="rect">
            <a:avLst/>
          </a:prstGeom>
          <a:noFill/>
          <a:ln/>
        </p:spPr>
        <p:txBody>
          <a:bodyPr wrap="none" lIns="0" tIns="0" rIns="0" bIns="0" rtlCol="0" anchor="t"/>
          <a:lstStyle/>
          <a:p>
            <a:pPr marL="0" indent="0" algn="ctr">
              <a:lnSpc>
                <a:spcPts val="1850"/>
              </a:lnSpc>
              <a:buNone/>
            </a:pPr>
            <a:r>
              <a:rPr lang="en-US" sz="1600" b="1" dirty="0">
                <a:latin typeface="Lato Bold" pitchFamily="34" charset="0"/>
                <a:ea typeface="Lato Bold" pitchFamily="34" charset="-122"/>
                <a:cs typeface="Lato Bold" pitchFamily="34" charset="-120"/>
              </a:rPr>
              <a:t>Text Extraction</a:t>
            </a:r>
            <a:endParaRPr lang="en-US" sz="1600" dirty="0"/>
          </a:p>
        </p:txBody>
      </p:sp>
      <p:sp>
        <p:nvSpPr>
          <p:cNvPr id="5" name="Text 2"/>
          <p:cNvSpPr/>
          <p:nvPr/>
        </p:nvSpPr>
        <p:spPr>
          <a:xfrm>
            <a:off x="8956142" y="3361550"/>
            <a:ext cx="1752480" cy="476866"/>
          </a:xfrm>
          <a:prstGeom prst="rect">
            <a:avLst/>
          </a:prstGeom>
          <a:noFill/>
          <a:ln/>
        </p:spPr>
        <p:txBody>
          <a:bodyPr wrap="square" lIns="0" tIns="0" rIns="0" bIns="0" rtlCol="0" anchor="t"/>
          <a:lstStyle/>
          <a:p>
            <a:pPr marL="0" indent="0" algn="ctr">
              <a:lnSpc>
                <a:spcPts val="1850"/>
              </a:lnSpc>
              <a:buNone/>
            </a:pPr>
            <a:r>
              <a:rPr lang="en-US" sz="1600" b="1" dirty="0">
                <a:latin typeface="Lato Bold" pitchFamily="34" charset="0"/>
                <a:ea typeface="Lato Bold" pitchFamily="34" charset="-122"/>
                <a:cs typeface="Lato Bold" pitchFamily="34" charset="-120"/>
              </a:rPr>
              <a:t>Transformer Summarization</a:t>
            </a:r>
            <a:endParaRPr lang="en-US" sz="1600" dirty="0"/>
          </a:p>
        </p:txBody>
      </p:sp>
      <p:sp>
        <p:nvSpPr>
          <p:cNvPr id="6" name="Text 3"/>
          <p:cNvSpPr/>
          <p:nvPr/>
        </p:nvSpPr>
        <p:spPr>
          <a:xfrm>
            <a:off x="6794351" y="3370160"/>
            <a:ext cx="1752480" cy="476866"/>
          </a:xfrm>
          <a:prstGeom prst="rect">
            <a:avLst/>
          </a:prstGeom>
          <a:noFill/>
          <a:ln/>
        </p:spPr>
        <p:txBody>
          <a:bodyPr wrap="square" lIns="0" tIns="0" rIns="0" bIns="0" rtlCol="0" anchor="t"/>
          <a:lstStyle/>
          <a:p>
            <a:pPr marL="0" indent="0" algn="ctr">
              <a:lnSpc>
                <a:spcPts val="1850"/>
              </a:lnSpc>
              <a:buNone/>
            </a:pPr>
            <a:r>
              <a:rPr lang="en-US" sz="1600" b="1" dirty="0">
                <a:latin typeface="Lato Bold" pitchFamily="34" charset="0"/>
                <a:ea typeface="Lato Bold" pitchFamily="34" charset="-122"/>
                <a:cs typeface="Lato Bold" pitchFamily="34" charset="-120"/>
              </a:rPr>
              <a:t>Flashcard Generation</a:t>
            </a:r>
            <a:endParaRPr lang="en-US" sz="1600" dirty="0"/>
          </a:p>
        </p:txBody>
      </p:sp>
      <p:sp>
        <p:nvSpPr>
          <p:cNvPr id="7" name="Text 4"/>
          <p:cNvSpPr/>
          <p:nvPr/>
        </p:nvSpPr>
        <p:spPr>
          <a:xfrm>
            <a:off x="793790" y="5728670"/>
            <a:ext cx="13042821" cy="194548"/>
          </a:xfrm>
          <a:prstGeom prst="rect">
            <a:avLst/>
          </a:prstGeom>
          <a:noFill/>
          <a:ln/>
        </p:spPr>
        <p:txBody>
          <a:bodyPr wrap="none" lIns="0" tIns="0" rIns="0" bIns="0" rtlCol="0" anchor="t"/>
          <a:lstStyle/>
          <a:p>
            <a:pPr marL="0" indent="0" algn="l">
              <a:lnSpc>
                <a:spcPts val="1500"/>
              </a:lnSpc>
              <a:buNone/>
            </a:pPr>
            <a:r>
              <a:rPr lang="en-US" sz="1600" dirty="0">
                <a:latin typeface="Lato" pitchFamily="34" charset="0"/>
                <a:ea typeface="Lato" pitchFamily="34" charset="-122"/>
                <a:cs typeface="Lato" pitchFamily="34" charset="-120"/>
              </a:rPr>
              <a:t>Outputs: objective‑aligned summaries + active‑recall flashcards to boost revision efficiency and exam readiness.</a:t>
            </a:r>
            <a:endParaRPr lang="en-US" sz="1600" dirty="0"/>
          </a:p>
        </p:txBody>
      </p:sp>
      <p:sp>
        <p:nvSpPr>
          <p:cNvPr id="8" name="Shape 5"/>
          <p:cNvSpPr/>
          <p:nvPr/>
        </p:nvSpPr>
        <p:spPr>
          <a:xfrm>
            <a:off x="793790" y="6030970"/>
            <a:ext cx="6473547" cy="1642984"/>
          </a:xfrm>
          <a:prstGeom prst="roundRect">
            <a:avLst>
              <a:gd name="adj" fmla="val 1848"/>
            </a:avLst>
          </a:prstGeom>
          <a:solidFill>
            <a:srgbClr val="EFECE6"/>
          </a:solidFill>
          <a:ln w="15240">
            <a:solidFill>
              <a:srgbClr val="CBC5B8"/>
            </a:solidFill>
            <a:prstDash val="solid"/>
          </a:ln>
        </p:spPr>
        <p:txBody>
          <a:bodyPr/>
          <a:lstStyle/>
          <a:p>
            <a:endParaRPr lang="en-US"/>
          </a:p>
        </p:txBody>
      </p:sp>
      <p:sp>
        <p:nvSpPr>
          <p:cNvPr id="9" name="Text 6"/>
          <p:cNvSpPr/>
          <p:nvPr/>
        </p:nvSpPr>
        <p:spPr>
          <a:xfrm>
            <a:off x="956429" y="6204000"/>
            <a:ext cx="1842968" cy="230386"/>
          </a:xfrm>
          <a:prstGeom prst="rect">
            <a:avLst/>
          </a:prstGeom>
          <a:noFill/>
          <a:ln/>
        </p:spPr>
        <p:txBody>
          <a:bodyPr wrap="none" lIns="0" tIns="0" rIns="0" bIns="0" rtlCol="0" anchor="t"/>
          <a:lstStyle/>
          <a:p>
            <a:pPr marL="0" indent="0" algn="l">
              <a:lnSpc>
                <a:spcPts val="1800"/>
              </a:lnSpc>
              <a:buNone/>
            </a:pPr>
            <a:r>
              <a:rPr lang="en-US" sz="2000" b="1" dirty="0">
                <a:latin typeface="Lato Bold" pitchFamily="34" charset="0"/>
                <a:ea typeface="Lato Bold" pitchFamily="34" charset="-122"/>
                <a:cs typeface="Lato Bold" pitchFamily="34" charset="-120"/>
              </a:rPr>
              <a:t>Next Steps</a:t>
            </a:r>
            <a:endParaRPr lang="en-US" sz="2000" dirty="0"/>
          </a:p>
        </p:txBody>
      </p:sp>
      <p:sp>
        <p:nvSpPr>
          <p:cNvPr id="10" name="Text 7"/>
          <p:cNvSpPr/>
          <p:nvPr/>
        </p:nvSpPr>
        <p:spPr>
          <a:xfrm>
            <a:off x="956429" y="6522947"/>
            <a:ext cx="6148268" cy="1076044"/>
          </a:xfrm>
          <a:prstGeom prst="rect">
            <a:avLst/>
          </a:prstGeom>
          <a:noFill/>
          <a:ln/>
        </p:spPr>
        <p:txBody>
          <a:bodyPr wrap="square" lIns="0" tIns="0" rIns="0" bIns="0" rtlCol="0" anchor="t"/>
          <a:lstStyle/>
          <a:p>
            <a:pPr marL="285750" indent="-285750" algn="l">
              <a:lnSpc>
                <a:spcPct val="150000"/>
              </a:lnSpc>
              <a:buFont typeface="Wingdings" panose="05000000000000000000" pitchFamily="2" charset="2"/>
              <a:buChar char="ü"/>
            </a:pPr>
            <a:r>
              <a:rPr lang="en-US" sz="1600" dirty="0">
                <a:latin typeface="Lato" pitchFamily="34" charset="0"/>
                <a:ea typeface="Lato" pitchFamily="34" charset="-122"/>
                <a:cs typeface="Lato" pitchFamily="34" charset="-120"/>
              </a:rPr>
              <a:t>Prototype RAG tutor</a:t>
            </a:r>
            <a:endParaRPr lang="en-US" sz="1600" dirty="0"/>
          </a:p>
          <a:p>
            <a:pPr marL="285750" indent="-285750" algn="l">
              <a:lnSpc>
                <a:spcPct val="150000"/>
              </a:lnSpc>
              <a:buFont typeface="Wingdings" panose="05000000000000000000" pitchFamily="2" charset="2"/>
              <a:buChar char="ü"/>
            </a:pPr>
            <a:r>
              <a:rPr lang="en-US" sz="1600" dirty="0">
                <a:latin typeface="Lato" pitchFamily="34" charset="0"/>
                <a:ea typeface="Lato" pitchFamily="34" charset="-122"/>
                <a:cs typeface="Lato" pitchFamily="34" charset="-120"/>
              </a:rPr>
              <a:t>Build summariser &amp; flashcard generator</a:t>
            </a:r>
            <a:endParaRPr lang="en-US" sz="1600" dirty="0"/>
          </a:p>
          <a:p>
            <a:pPr marL="285750" indent="-285750" algn="l">
              <a:lnSpc>
                <a:spcPct val="150000"/>
              </a:lnSpc>
              <a:buFont typeface="Wingdings" panose="05000000000000000000" pitchFamily="2" charset="2"/>
              <a:buChar char="ü"/>
            </a:pPr>
            <a:r>
              <a:rPr lang="en-US" sz="1600" dirty="0">
                <a:latin typeface="Lato" pitchFamily="34" charset="0"/>
                <a:ea typeface="Lato" pitchFamily="34" charset="-122"/>
                <a:cs typeface="Lato" pitchFamily="34" charset="-120"/>
              </a:rPr>
              <a:t>User studies with students</a:t>
            </a:r>
            <a:endParaRPr lang="en-US" sz="1600" dirty="0"/>
          </a:p>
        </p:txBody>
      </p:sp>
      <p:sp>
        <p:nvSpPr>
          <p:cNvPr id="11" name="Shape 8"/>
          <p:cNvSpPr/>
          <p:nvPr/>
        </p:nvSpPr>
        <p:spPr>
          <a:xfrm>
            <a:off x="7363063" y="6030970"/>
            <a:ext cx="6473547" cy="1642984"/>
          </a:xfrm>
          <a:prstGeom prst="roundRect">
            <a:avLst>
              <a:gd name="adj" fmla="val 1848"/>
            </a:avLst>
          </a:prstGeom>
          <a:solidFill>
            <a:srgbClr val="EFECE6"/>
          </a:solidFill>
          <a:ln w="15240">
            <a:solidFill>
              <a:srgbClr val="CBC5B8"/>
            </a:solidFill>
            <a:prstDash val="solid"/>
          </a:ln>
        </p:spPr>
        <p:txBody>
          <a:bodyPr/>
          <a:lstStyle/>
          <a:p>
            <a:endParaRPr lang="en-US"/>
          </a:p>
        </p:txBody>
      </p:sp>
      <p:sp>
        <p:nvSpPr>
          <p:cNvPr id="12" name="Text 9"/>
          <p:cNvSpPr/>
          <p:nvPr/>
        </p:nvSpPr>
        <p:spPr>
          <a:xfrm>
            <a:off x="7525703" y="6276737"/>
            <a:ext cx="1842968" cy="230386"/>
          </a:xfrm>
          <a:prstGeom prst="rect">
            <a:avLst/>
          </a:prstGeom>
          <a:noFill/>
          <a:ln/>
        </p:spPr>
        <p:txBody>
          <a:bodyPr wrap="none" lIns="0" tIns="0" rIns="0" bIns="0" rtlCol="0" anchor="t"/>
          <a:lstStyle/>
          <a:p>
            <a:pPr marL="0" indent="0" algn="l">
              <a:lnSpc>
                <a:spcPts val="1800"/>
              </a:lnSpc>
              <a:buNone/>
            </a:pPr>
            <a:r>
              <a:rPr lang="en-US" sz="2000" b="1" dirty="0">
                <a:latin typeface="Lato Bold" pitchFamily="34" charset="0"/>
                <a:ea typeface="Lato Bold" pitchFamily="34" charset="-122"/>
                <a:cs typeface="Lato Bold" pitchFamily="34" charset="-120"/>
              </a:rPr>
              <a:t>Contact</a:t>
            </a:r>
            <a:endParaRPr lang="en-US" sz="2000" dirty="0"/>
          </a:p>
        </p:txBody>
      </p:sp>
      <p:sp>
        <p:nvSpPr>
          <p:cNvPr id="13" name="Text 10"/>
          <p:cNvSpPr/>
          <p:nvPr/>
        </p:nvSpPr>
        <p:spPr>
          <a:xfrm>
            <a:off x="7525703" y="6634589"/>
            <a:ext cx="6148268" cy="194548"/>
          </a:xfrm>
          <a:prstGeom prst="rect">
            <a:avLst/>
          </a:prstGeom>
          <a:noFill/>
          <a:ln/>
        </p:spPr>
        <p:txBody>
          <a:bodyPr wrap="none" lIns="0" tIns="0" rIns="0" bIns="0" rtlCol="0" anchor="t"/>
          <a:lstStyle/>
          <a:p>
            <a:pPr marL="0" indent="0" algn="l">
              <a:lnSpc>
                <a:spcPts val="1500"/>
              </a:lnSpc>
              <a:buNone/>
            </a:pPr>
            <a:r>
              <a:rPr lang="en-US" sz="1600" dirty="0">
                <a:latin typeface="Lato" pitchFamily="34" charset="0"/>
                <a:ea typeface="Lato" pitchFamily="34" charset="-122"/>
                <a:cs typeface="Lato" pitchFamily="34" charset="-120"/>
              </a:rPr>
              <a:t>Group R26‑SE‑022 — SLIIT</a:t>
            </a:r>
            <a:endParaRPr lang="en-US" sz="1600" dirty="0"/>
          </a:p>
        </p:txBody>
      </p:sp>
      <p:sp>
        <p:nvSpPr>
          <p:cNvPr id="15" name="Text 0">
            <a:extLst>
              <a:ext uri="{FF2B5EF4-FFF2-40B4-BE49-F238E27FC236}">
                <a16:creationId xmlns:a16="http://schemas.microsoft.com/office/drawing/2014/main" id="{62AC0542-A957-B2DF-DD45-F7488ECFE52A}"/>
              </a:ext>
            </a:extLst>
          </p:cNvPr>
          <p:cNvSpPr/>
          <p:nvPr/>
        </p:nvSpPr>
        <p:spPr>
          <a:xfrm>
            <a:off x="793790" y="497336"/>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Learning‑Objective‑Aware Lecture Summarization &amp; Flashcards</a:t>
            </a:r>
            <a:endParaRPr lang="en-US" sz="3800" dirty="0"/>
          </a:p>
        </p:txBody>
      </p:sp>
      <p:sp>
        <p:nvSpPr>
          <p:cNvPr id="16" name="Text 0">
            <a:extLst>
              <a:ext uri="{FF2B5EF4-FFF2-40B4-BE49-F238E27FC236}">
                <a16:creationId xmlns:a16="http://schemas.microsoft.com/office/drawing/2014/main" id="{EBB44052-FAE6-ED1B-E630-7CDCDC9A8C7C}"/>
              </a:ext>
            </a:extLst>
          </p:cNvPr>
          <p:cNvSpPr/>
          <p:nvPr/>
        </p:nvSpPr>
        <p:spPr>
          <a:xfrm>
            <a:off x="816650" y="1107468"/>
            <a:ext cx="3144365" cy="496133"/>
          </a:xfrm>
          <a:prstGeom prst="rect">
            <a:avLst/>
          </a:prstGeom>
          <a:noFill/>
          <a:ln/>
        </p:spPr>
        <p:txBody>
          <a:bodyPr wrap="none" lIns="0" tIns="0" rIns="0" bIns="0" rtlCol="0" anchor="t"/>
          <a:lstStyle/>
          <a:p>
            <a:pPr>
              <a:lnSpc>
                <a:spcPts val="4950"/>
              </a:lnSpc>
            </a:pPr>
            <a:r>
              <a:rPr lang="en-US" sz="3000" b="1" dirty="0">
                <a:solidFill>
                  <a:srgbClr val="282824"/>
                </a:solidFill>
                <a:latin typeface="Lato Bold" pitchFamily="34" charset="0"/>
                <a:ea typeface="Lato Bold" pitchFamily="34" charset="-122"/>
                <a:cs typeface="Lato Bold" pitchFamily="34" charset="-120"/>
              </a:rPr>
              <a:t>Implementation Overview</a:t>
            </a:r>
            <a:endParaRPr lang="en-US" sz="3000" dirty="0"/>
          </a:p>
        </p:txBody>
      </p:sp>
      <p:sp>
        <p:nvSpPr>
          <p:cNvPr id="17" name="Rectangle 16">
            <a:extLst>
              <a:ext uri="{FF2B5EF4-FFF2-40B4-BE49-F238E27FC236}">
                <a16:creationId xmlns:a16="http://schemas.microsoft.com/office/drawing/2014/main" id="{5C0EEB89-AEB0-9CB0-C4A2-AF71E9C0F765}"/>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IT22187178    |    </a:t>
            </a:r>
            <a:r>
              <a:rPr lang="en-US" sz="1600" dirty="0" err="1">
                <a:solidFill>
                  <a:schemeClr val="tx1"/>
                </a:solidFill>
                <a:latin typeface="Lato" pitchFamily="34" charset="0"/>
                <a:ea typeface="Lato" pitchFamily="34" charset="-122"/>
                <a:cs typeface="Lato" pitchFamily="34" charset="-120"/>
              </a:rPr>
              <a:t>Vijithapala</a:t>
            </a:r>
            <a:r>
              <a:rPr lang="en-US" sz="1600" dirty="0">
                <a:solidFill>
                  <a:schemeClr val="tx1"/>
                </a:solidFill>
                <a:latin typeface="Lato" pitchFamily="34" charset="0"/>
                <a:ea typeface="Lato" pitchFamily="34" charset="-122"/>
                <a:cs typeface="Lato" pitchFamily="34" charset="-120"/>
              </a:rPr>
              <a:t> T.G.K.G.    |    R26-SE-022</a:t>
            </a:r>
            <a:endParaRPr lang="en-US" sz="1600"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405246" y="908686"/>
            <a:ext cx="8478982" cy="1657870"/>
          </a:xfrm>
          <a:prstGeom prst="rect">
            <a:avLst/>
          </a:prstGeom>
          <a:noFill/>
          <a:ln/>
        </p:spPr>
        <p:txBody>
          <a:bodyPr wrap="square" lIns="0" tIns="0" rIns="0" bIns="0" rtlCol="0" anchor="t"/>
          <a:lstStyle/>
          <a:p>
            <a:pPr marL="0" indent="0" algn="l">
              <a:lnSpc>
                <a:spcPts val="5000"/>
              </a:lnSpc>
              <a:buNone/>
            </a:pPr>
            <a:r>
              <a:rPr lang="en-US" sz="3800" b="1" dirty="0">
                <a:latin typeface="Lato Bold" pitchFamily="34" charset="0"/>
                <a:ea typeface="Lato Bold" pitchFamily="34" charset="-122"/>
                <a:cs typeface="Lato Bold" pitchFamily="34" charset="-120"/>
              </a:rPr>
              <a:t>Component 3 - Affect and Attention-Aware Emotion Detection Module</a:t>
            </a:r>
            <a:endParaRPr lang="en-US" sz="3800" dirty="0"/>
          </a:p>
        </p:txBody>
      </p:sp>
      <p:sp>
        <p:nvSpPr>
          <p:cNvPr id="4" name="Shape 1"/>
          <p:cNvSpPr/>
          <p:nvPr/>
        </p:nvSpPr>
        <p:spPr>
          <a:xfrm>
            <a:off x="762617" y="2817449"/>
            <a:ext cx="3686294" cy="1896547"/>
          </a:xfrm>
          <a:prstGeom prst="roundRect">
            <a:avLst>
              <a:gd name="adj" fmla="val 1615"/>
            </a:avLst>
          </a:prstGeom>
          <a:solidFill>
            <a:srgbClr val="E5DFD2"/>
          </a:solidFill>
          <a:ln/>
        </p:spPr>
        <p:txBody>
          <a:bodyPr/>
          <a:lstStyle/>
          <a:p>
            <a:endParaRPr lang="en-US"/>
          </a:p>
        </p:txBody>
      </p:sp>
      <p:sp>
        <p:nvSpPr>
          <p:cNvPr id="5" name="Text 2"/>
          <p:cNvSpPr/>
          <p:nvPr/>
        </p:nvSpPr>
        <p:spPr>
          <a:xfrm>
            <a:off x="966690" y="3021522"/>
            <a:ext cx="2551748" cy="318849"/>
          </a:xfrm>
          <a:prstGeom prst="rect">
            <a:avLst/>
          </a:prstGeom>
          <a:noFill/>
          <a:ln/>
        </p:spPr>
        <p:txBody>
          <a:bodyPr wrap="none" lIns="0" tIns="0" rIns="0" bIns="0" rtlCol="0" anchor="t"/>
          <a:lstStyle/>
          <a:p>
            <a:pPr marL="0" indent="0" algn="l">
              <a:lnSpc>
                <a:spcPts val="2500"/>
              </a:lnSpc>
              <a:buNone/>
            </a:pPr>
            <a:r>
              <a:rPr lang="en-US" sz="2000" b="1" dirty="0">
                <a:latin typeface="Lato Bold" pitchFamily="34" charset="0"/>
                <a:ea typeface="Lato Bold" pitchFamily="34" charset="-122"/>
                <a:cs typeface="Lato Bold" pitchFamily="34" charset="-120"/>
              </a:rPr>
              <a:t>Problem</a:t>
            </a:r>
            <a:endParaRPr lang="en-US" sz="2000" dirty="0"/>
          </a:p>
        </p:txBody>
      </p:sp>
      <p:sp>
        <p:nvSpPr>
          <p:cNvPr id="6" name="Text 3"/>
          <p:cNvSpPr/>
          <p:nvPr/>
        </p:nvSpPr>
        <p:spPr>
          <a:xfrm>
            <a:off x="966690" y="3450505"/>
            <a:ext cx="3278148" cy="930831"/>
          </a:xfrm>
          <a:prstGeom prst="rect">
            <a:avLst/>
          </a:prstGeom>
          <a:noFill/>
          <a:ln/>
        </p:spPr>
        <p:txBody>
          <a:bodyPr wrap="square" lIns="0" tIns="0" rIns="0" bIns="0" rtlCol="0" anchor="t"/>
          <a:lstStyle/>
          <a:p>
            <a:pPr marL="342900" indent="-342900" algn="l">
              <a:lnSpc>
                <a:spcPts val="2400"/>
              </a:lnSpc>
              <a:buSzPct val="100000"/>
              <a:buChar char="•"/>
            </a:pPr>
            <a:r>
              <a:rPr lang="en-US" sz="1600" dirty="0">
                <a:latin typeface="Lato" pitchFamily="34" charset="0"/>
                <a:ea typeface="Lato" pitchFamily="34" charset="-122"/>
                <a:cs typeface="Lato" pitchFamily="34" charset="-120"/>
              </a:rPr>
              <a:t>Current study tools ignore student emotional and cognitive states.</a:t>
            </a:r>
            <a:endParaRPr lang="en-US" sz="1600" dirty="0"/>
          </a:p>
        </p:txBody>
      </p:sp>
      <p:sp>
        <p:nvSpPr>
          <p:cNvPr id="7" name="Shape 4"/>
          <p:cNvSpPr/>
          <p:nvPr/>
        </p:nvSpPr>
        <p:spPr>
          <a:xfrm>
            <a:off x="4632624" y="2817449"/>
            <a:ext cx="3686413" cy="1896547"/>
          </a:xfrm>
          <a:prstGeom prst="roundRect">
            <a:avLst>
              <a:gd name="adj" fmla="val 1615"/>
            </a:avLst>
          </a:prstGeom>
          <a:solidFill>
            <a:srgbClr val="E5DFD2"/>
          </a:solidFill>
          <a:ln/>
        </p:spPr>
        <p:txBody>
          <a:bodyPr/>
          <a:lstStyle/>
          <a:p>
            <a:endParaRPr lang="en-US"/>
          </a:p>
        </p:txBody>
      </p:sp>
      <p:sp>
        <p:nvSpPr>
          <p:cNvPr id="8" name="Text 5"/>
          <p:cNvSpPr/>
          <p:nvPr/>
        </p:nvSpPr>
        <p:spPr>
          <a:xfrm>
            <a:off x="4836697" y="3021522"/>
            <a:ext cx="2551748" cy="318849"/>
          </a:xfrm>
          <a:prstGeom prst="rect">
            <a:avLst/>
          </a:prstGeom>
          <a:noFill/>
          <a:ln/>
        </p:spPr>
        <p:txBody>
          <a:bodyPr wrap="none" lIns="0" tIns="0" rIns="0" bIns="0" rtlCol="0" anchor="t"/>
          <a:lstStyle/>
          <a:p>
            <a:pPr marL="0" indent="0" algn="l">
              <a:lnSpc>
                <a:spcPts val="2500"/>
              </a:lnSpc>
              <a:buNone/>
            </a:pPr>
            <a:r>
              <a:rPr lang="en-US" sz="2000" b="1" dirty="0">
                <a:latin typeface="Lato Bold" pitchFamily="34" charset="0"/>
                <a:ea typeface="Lato Bold" pitchFamily="34" charset="-122"/>
                <a:cs typeface="Lato Bold" pitchFamily="34" charset="-120"/>
              </a:rPr>
              <a:t>Impact</a:t>
            </a:r>
            <a:endParaRPr lang="en-US" sz="2000" dirty="0"/>
          </a:p>
        </p:txBody>
      </p:sp>
      <p:sp>
        <p:nvSpPr>
          <p:cNvPr id="9" name="Text 6"/>
          <p:cNvSpPr/>
          <p:nvPr/>
        </p:nvSpPr>
        <p:spPr>
          <a:xfrm>
            <a:off x="4836697" y="3450505"/>
            <a:ext cx="3278267" cy="1059418"/>
          </a:xfrm>
          <a:prstGeom prst="rect">
            <a:avLst/>
          </a:prstGeom>
          <a:noFill/>
          <a:ln/>
        </p:spPr>
        <p:txBody>
          <a:bodyPr wrap="square" lIns="0" tIns="0" rIns="0" bIns="0" rtlCol="0" anchor="t"/>
          <a:lstStyle/>
          <a:p>
            <a:pPr marL="342900" indent="-342900" algn="l">
              <a:lnSpc>
                <a:spcPts val="2400"/>
              </a:lnSpc>
              <a:buSzPct val="100000"/>
              <a:buChar char="•"/>
            </a:pPr>
            <a:r>
              <a:rPr lang="en-US" sz="1600" dirty="0">
                <a:latin typeface="Lato" pitchFamily="34" charset="0"/>
                <a:ea typeface="Lato" pitchFamily="34" charset="-122"/>
                <a:cs typeface="Lato" pitchFamily="34" charset="-120"/>
              </a:rPr>
              <a:t>Reduced concentration</a:t>
            </a:r>
            <a:endParaRPr lang="en-US" sz="1600" dirty="0"/>
          </a:p>
          <a:p>
            <a:pPr marL="342900" indent="-342900" algn="l">
              <a:lnSpc>
                <a:spcPts val="2400"/>
              </a:lnSpc>
              <a:buSzPct val="100000"/>
              <a:buChar char="•"/>
            </a:pPr>
            <a:r>
              <a:rPr lang="en-US" sz="1600" dirty="0">
                <a:latin typeface="Lato" pitchFamily="34" charset="0"/>
                <a:ea typeface="Lato" pitchFamily="34" charset="-122"/>
                <a:cs typeface="Lato" pitchFamily="34" charset="-120"/>
              </a:rPr>
              <a:t>Cognitive fatigue</a:t>
            </a:r>
            <a:endParaRPr lang="en-US" sz="1600" dirty="0"/>
          </a:p>
          <a:p>
            <a:pPr marL="342900" indent="-342900" algn="l">
              <a:lnSpc>
                <a:spcPts val="2400"/>
              </a:lnSpc>
              <a:buSzPct val="100000"/>
              <a:buChar char="•"/>
            </a:pPr>
            <a:r>
              <a:rPr lang="en-US" sz="1600" dirty="0">
                <a:latin typeface="Lato" pitchFamily="34" charset="0"/>
                <a:ea typeface="Lato" pitchFamily="34" charset="-122"/>
                <a:cs typeface="Lato" pitchFamily="34" charset="-120"/>
              </a:rPr>
              <a:t>Poor learning engagement</a:t>
            </a:r>
            <a:endParaRPr lang="en-US" sz="1600" dirty="0"/>
          </a:p>
        </p:txBody>
      </p:sp>
      <p:sp>
        <p:nvSpPr>
          <p:cNvPr id="10" name="Shape 7"/>
          <p:cNvSpPr/>
          <p:nvPr/>
        </p:nvSpPr>
        <p:spPr>
          <a:xfrm>
            <a:off x="762617" y="4897709"/>
            <a:ext cx="3686294" cy="2142530"/>
          </a:xfrm>
          <a:prstGeom prst="roundRect">
            <a:avLst>
              <a:gd name="adj" fmla="val 1429"/>
            </a:avLst>
          </a:prstGeom>
          <a:solidFill>
            <a:srgbClr val="E5DFD2"/>
          </a:solidFill>
          <a:ln/>
        </p:spPr>
        <p:txBody>
          <a:bodyPr/>
          <a:lstStyle/>
          <a:p>
            <a:endParaRPr lang="en-US"/>
          </a:p>
        </p:txBody>
      </p:sp>
      <p:sp>
        <p:nvSpPr>
          <p:cNvPr id="11" name="Text 8"/>
          <p:cNvSpPr/>
          <p:nvPr/>
        </p:nvSpPr>
        <p:spPr>
          <a:xfrm>
            <a:off x="966690" y="5101782"/>
            <a:ext cx="2551748" cy="318849"/>
          </a:xfrm>
          <a:prstGeom prst="rect">
            <a:avLst/>
          </a:prstGeom>
          <a:noFill/>
          <a:ln/>
        </p:spPr>
        <p:txBody>
          <a:bodyPr wrap="none" lIns="0" tIns="0" rIns="0" bIns="0" rtlCol="0" anchor="t"/>
          <a:lstStyle/>
          <a:p>
            <a:pPr marL="0" indent="0" algn="l">
              <a:lnSpc>
                <a:spcPts val="2500"/>
              </a:lnSpc>
              <a:buNone/>
            </a:pPr>
            <a:r>
              <a:rPr lang="en-US" sz="2000" b="1" dirty="0">
                <a:latin typeface="Lato Bold" pitchFamily="34" charset="0"/>
                <a:ea typeface="Lato Bold" pitchFamily="34" charset="-122"/>
                <a:cs typeface="Lato Bold" pitchFamily="34" charset="-120"/>
              </a:rPr>
              <a:t>Novelty</a:t>
            </a:r>
            <a:endParaRPr lang="en-US" sz="2000" dirty="0"/>
          </a:p>
        </p:txBody>
      </p:sp>
      <p:sp>
        <p:nvSpPr>
          <p:cNvPr id="12" name="Text 9"/>
          <p:cNvSpPr/>
          <p:nvPr/>
        </p:nvSpPr>
        <p:spPr>
          <a:xfrm>
            <a:off x="966690" y="5530765"/>
            <a:ext cx="3278148" cy="1305401"/>
          </a:xfrm>
          <a:prstGeom prst="rect">
            <a:avLst/>
          </a:prstGeom>
          <a:noFill/>
          <a:ln/>
        </p:spPr>
        <p:txBody>
          <a:bodyPr wrap="square" lIns="0" tIns="0" rIns="0" bIns="0" rtlCol="0" anchor="t"/>
          <a:lstStyle/>
          <a:p>
            <a:pPr marL="342900" indent="-342900" algn="l">
              <a:lnSpc>
                <a:spcPts val="2400"/>
              </a:lnSpc>
              <a:buSzPct val="100000"/>
              <a:buChar char="•"/>
            </a:pPr>
            <a:r>
              <a:rPr lang="en-US" sz="1600" dirty="0">
                <a:latin typeface="Lato" pitchFamily="34" charset="0"/>
                <a:ea typeface="Lato" pitchFamily="34" charset="-122"/>
                <a:cs typeface="Lato" pitchFamily="34" charset="-120"/>
              </a:rPr>
              <a:t>Privacy-preserving emotion detection</a:t>
            </a:r>
            <a:endParaRPr lang="en-US" sz="1600" dirty="0"/>
          </a:p>
          <a:p>
            <a:pPr marL="342900" indent="-342900" algn="l">
              <a:lnSpc>
                <a:spcPts val="2400"/>
              </a:lnSpc>
              <a:buSzPct val="100000"/>
              <a:buChar char="•"/>
            </a:pPr>
            <a:r>
              <a:rPr lang="en-US" sz="1600" dirty="0">
                <a:latin typeface="Lato" pitchFamily="34" charset="0"/>
                <a:ea typeface="Lato" pitchFamily="34" charset="-122"/>
                <a:cs typeface="Lato" pitchFamily="34" charset="-120"/>
              </a:rPr>
              <a:t>Multimodal analysis (facial expression + eye behaviour)</a:t>
            </a:r>
            <a:endParaRPr lang="en-US" sz="1600" dirty="0"/>
          </a:p>
        </p:txBody>
      </p:sp>
      <p:sp>
        <p:nvSpPr>
          <p:cNvPr id="13" name="Shape 10"/>
          <p:cNvSpPr/>
          <p:nvPr/>
        </p:nvSpPr>
        <p:spPr>
          <a:xfrm>
            <a:off x="4632624" y="4897709"/>
            <a:ext cx="3686413" cy="2142530"/>
          </a:xfrm>
          <a:prstGeom prst="roundRect">
            <a:avLst>
              <a:gd name="adj" fmla="val 1429"/>
            </a:avLst>
          </a:prstGeom>
          <a:solidFill>
            <a:srgbClr val="E5DFD2"/>
          </a:solidFill>
          <a:ln/>
        </p:spPr>
        <p:txBody>
          <a:bodyPr/>
          <a:lstStyle/>
          <a:p>
            <a:endParaRPr lang="en-US"/>
          </a:p>
        </p:txBody>
      </p:sp>
      <p:sp>
        <p:nvSpPr>
          <p:cNvPr id="14" name="Text 11"/>
          <p:cNvSpPr/>
          <p:nvPr/>
        </p:nvSpPr>
        <p:spPr>
          <a:xfrm>
            <a:off x="4836697" y="5101782"/>
            <a:ext cx="2551748" cy="318849"/>
          </a:xfrm>
          <a:prstGeom prst="rect">
            <a:avLst/>
          </a:prstGeom>
          <a:noFill/>
          <a:ln/>
        </p:spPr>
        <p:txBody>
          <a:bodyPr wrap="none" lIns="0" tIns="0" rIns="0" bIns="0" rtlCol="0" anchor="t"/>
          <a:lstStyle/>
          <a:p>
            <a:pPr marL="0" indent="0" algn="l">
              <a:lnSpc>
                <a:spcPts val="2500"/>
              </a:lnSpc>
              <a:buNone/>
            </a:pPr>
            <a:r>
              <a:rPr lang="en-US" sz="2000" b="1" dirty="0">
                <a:latin typeface="Lato Bold" pitchFamily="34" charset="0"/>
                <a:ea typeface="Lato Bold" pitchFamily="34" charset="-122"/>
                <a:cs typeface="Lato Bold" pitchFamily="34" charset="-120"/>
              </a:rPr>
              <a:t>Research Objectives</a:t>
            </a:r>
            <a:endParaRPr lang="en-US" sz="2000" dirty="0"/>
          </a:p>
        </p:txBody>
      </p:sp>
      <p:sp>
        <p:nvSpPr>
          <p:cNvPr id="15" name="Text 12"/>
          <p:cNvSpPr/>
          <p:nvPr/>
        </p:nvSpPr>
        <p:spPr>
          <a:xfrm>
            <a:off x="4836697" y="5530765"/>
            <a:ext cx="3278267" cy="1059418"/>
          </a:xfrm>
          <a:prstGeom prst="rect">
            <a:avLst/>
          </a:prstGeom>
          <a:noFill/>
          <a:ln/>
        </p:spPr>
        <p:txBody>
          <a:bodyPr wrap="square" lIns="0" tIns="0" rIns="0" bIns="0" rtlCol="0" anchor="t"/>
          <a:lstStyle/>
          <a:p>
            <a:pPr marL="342900" indent="-342900" algn="l">
              <a:lnSpc>
                <a:spcPts val="2400"/>
              </a:lnSpc>
              <a:buSzPct val="100000"/>
              <a:buChar char="•"/>
            </a:pPr>
            <a:r>
              <a:rPr lang="en-US" sz="1600" dirty="0">
                <a:latin typeface="Lato" pitchFamily="34" charset="0"/>
                <a:ea typeface="Lato" pitchFamily="34" charset="-122"/>
                <a:cs typeface="Lato" pitchFamily="34" charset="-120"/>
              </a:rPr>
              <a:t>Detect emotional states</a:t>
            </a:r>
            <a:endParaRPr lang="en-US" sz="1600" dirty="0"/>
          </a:p>
          <a:p>
            <a:pPr marL="342900" indent="-342900" algn="l">
              <a:lnSpc>
                <a:spcPts val="2400"/>
              </a:lnSpc>
              <a:buSzPct val="100000"/>
              <a:buChar char="•"/>
            </a:pPr>
            <a:r>
              <a:rPr lang="en-US" sz="1600" dirty="0">
                <a:latin typeface="Lato" pitchFamily="34" charset="0"/>
                <a:ea typeface="Lato" pitchFamily="34" charset="-122"/>
                <a:cs typeface="Lato" pitchFamily="34" charset="-120"/>
              </a:rPr>
              <a:t>Monitor student attention</a:t>
            </a:r>
            <a:endParaRPr lang="en-US" sz="1600" dirty="0"/>
          </a:p>
          <a:p>
            <a:pPr marL="342900" indent="-342900" algn="l">
              <a:lnSpc>
                <a:spcPts val="2400"/>
              </a:lnSpc>
              <a:buSzPct val="100000"/>
              <a:buChar char="•"/>
            </a:pPr>
            <a:r>
              <a:rPr lang="en-US" sz="1600" dirty="0">
                <a:latin typeface="Lato" pitchFamily="34" charset="0"/>
                <a:ea typeface="Lato" pitchFamily="34" charset="-122"/>
                <a:cs typeface="Lato" pitchFamily="34" charset="-120"/>
              </a:rPr>
              <a:t>Enable adaptive learning support</a:t>
            </a:r>
            <a:endParaRPr lang="en-US" sz="1600" dirty="0"/>
          </a:p>
        </p:txBody>
      </p:sp>
      <p:sp>
        <p:nvSpPr>
          <p:cNvPr id="17" name="Rectangle 16">
            <a:extLst>
              <a:ext uri="{FF2B5EF4-FFF2-40B4-BE49-F238E27FC236}">
                <a16:creationId xmlns:a16="http://schemas.microsoft.com/office/drawing/2014/main" id="{7E546A97-CC1E-6F02-983D-13738F722066}"/>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IT22224552    |    K.K.G.Y. </a:t>
            </a:r>
            <a:r>
              <a:rPr lang="en-US" sz="1600" dirty="0" err="1">
                <a:solidFill>
                  <a:schemeClr val="tx1"/>
                </a:solidFill>
                <a:latin typeface="Lato" pitchFamily="34" charset="0"/>
                <a:ea typeface="Lato" pitchFamily="34" charset="-122"/>
                <a:cs typeface="Lato" pitchFamily="34" charset="-120"/>
              </a:rPr>
              <a:t>Mihiraj</a:t>
            </a:r>
            <a:r>
              <a:rPr lang="en-US" sz="1600" dirty="0">
                <a:solidFill>
                  <a:schemeClr val="tx1"/>
                </a:solidFill>
                <a:latin typeface="Lato" pitchFamily="34" charset="0"/>
                <a:ea typeface="Lato" pitchFamily="34" charset="-122"/>
                <a:cs typeface="Lato" pitchFamily="34" charset="-120"/>
              </a:rPr>
              <a:t>    |    R26-SE-022</a:t>
            </a:r>
            <a:endParaRPr lang="en-US" sz="1600" dirty="0">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nvSpPr>
        <p:spPr>
          <a:xfrm>
            <a:off x="793790" y="1691521"/>
            <a:ext cx="13042821" cy="620554"/>
          </a:xfrm>
          <a:prstGeom prst="rect">
            <a:avLst/>
          </a:prstGeom>
          <a:noFill/>
          <a:ln/>
        </p:spPr>
        <p:txBody>
          <a:bodyPr wrap="square" lIns="0" tIns="0" rIns="0" bIns="0" rtlCol="0" anchor="t"/>
          <a:lstStyle/>
          <a:p>
            <a:pPr marL="0" indent="0" algn="l">
              <a:lnSpc>
                <a:spcPts val="2400"/>
              </a:lnSpc>
              <a:buNone/>
            </a:pPr>
            <a:r>
              <a:rPr lang="en-US" sz="1600" dirty="0">
                <a:latin typeface="Lato" pitchFamily="34" charset="0"/>
                <a:ea typeface="Lato" pitchFamily="34" charset="-122"/>
                <a:cs typeface="Lato" pitchFamily="34" charset="-120"/>
              </a:rPr>
              <a:t>Our emotion and attention detection module uses a multi-stage pipeline, processing visual data to infer student states without collecting personal identifying information.</a:t>
            </a:r>
            <a:endParaRPr lang="en-US" sz="1600" dirty="0"/>
          </a:p>
        </p:txBody>
      </p:sp>
      <p:pic>
        <p:nvPicPr>
          <p:cNvPr id="4" name="Image 0" descr="preencoded.png"/>
          <p:cNvPicPr>
            <a:picLocks noChangeAspect="1"/>
          </p:cNvPicPr>
          <p:nvPr/>
        </p:nvPicPr>
        <p:blipFill>
          <a:blip r:embed="rId3"/>
          <a:stretch>
            <a:fillRect/>
          </a:stretch>
        </p:blipFill>
        <p:spPr>
          <a:xfrm>
            <a:off x="793790" y="2518767"/>
            <a:ext cx="6521410" cy="816531"/>
          </a:xfrm>
          <a:prstGeom prst="rect">
            <a:avLst/>
          </a:prstGeom>
        </p:spPr>
      </p:pic>
      <p:sp>
        <p:nvSpPr>
          <p:cNvPr id="5" name="Text 2"/>
          <p:cNvSpPr/>
          <p:nvPr/>
        </p:nvSpPr>
        <p:spPr>
          <a:xfrm>
            <a:off x="997863" y="3519011"/>
            <a:ext cx="4247317" cy="318849"/>
          </a:xfrm>
          <a:prstGeom prst="rect">
            <a:avLst/>
          </a:prstGeom>
          <a:noFill/>
          <a:ln/>
        </p:spPr>
        <p:txBody>
          <a:bodyPr wrap="none" lIns="0" tIns="0" rIns="0" bIns="0" rtlCol="0" anchor="t"/>
          <a:lstStyle/>
          <a:p>
            <a:pPr marL="0" indent="0" algn="l">
              <a:lnSpc>
                <a:spcPts val="2500"/>
              </a:lnSpc>
              <a:buNone/>
            </a:pPr>
            <a:r>
              <a:rPr lang="en-US" sz="2000" b="1" dirty="0">
                <a:latin typeface="Lato Bold" pitchFamily="34" charset="0"/>
                <a:ea typeface="Lato Bold" pitchFamily="34" charset="-122"/>
                <a:cs typeface="Lato Bold" pitchFamily="34" charset="-120"/>
              </a:rPr>
              <a:t>Webcam Input (30 frames per second)</a:t>
            </a:r>
            <a:endParaRPr lang="en-US" sz="2000" dirty="0"/>
          </a:p>
        </p:txBody>
      </p:sp>
      <p:sp>
        <p:nvSpPr>
          <p:cNvPr id="6" name="Text 3"/>
          <p:cNvSpPr/>
          <p:nvPr/>
        </p:nvSpPr>
        <p:spPr>
          <a:xfrm>
            <a:off x="997863" y="3947993"/>
            <a:ext cx="6113264" cy="310277"/>
          </a:xfrm>
          <a:prstGeom prst="rect">
            <a:avLst/>
          </a:prstGeom>
          <a:noFill/>
          <a:ln/>
        </p:spPr>
        <p:txBody>
          <a:bodyPr wrap="none" lIns="0" tIns="0" rIns="0" bIns="0" rtlCol="0" anchor="t"/>
          <a:lstStyle/>
          <a:p>
            <a:pPr marL="0" indent="0" algn="l">
              <a:lnSpc>
                <a:spcPts val="2400"/>
              </a:lnSpc>
              <a:buNone/>
            </a:pPr>
            <a:r>
              <a:rPr lang="en-US" sz="1600" dirty="0">
                <a:latin typeface="Lato" pitchFamily="34" charset="0"/>
                <a:ea typeface="Lato" pitchFamily="34" charset="-122"/>
                <a:cs typeface="Lato" pitchFamily="34" charset="-120"/>
              </a:rPr>
              <a:t>Facial &amp; eye tracking</a:t>
            </a:r>
            <a:endParaRPr lang="en-US" sz="1600" dirty="0"/>
          </a:p>
        </p:txBody>
      </p:sp>
      <p:pic>
        <p:nvPicPr>
          <p:cNvPr id="7" name="Image 1" descr="preencoded.png"/>
          <p:cNvPicPr>
            <a:picLocks noChangeAspect="1"/>
          </p:cNvPicPr>
          <p:nvPr/>
        </p:nvPicPr>
        <p:blipFill>
          <a:blip r:embed="rId4"/>
          <a:stretch>
            <a:fillRect/>
          </a:stretch>
        </p:blipFill>
        <p:spPr>
          <a:xfrm>
            <a:off x="7315200" y="2518767"/>
            <a:ext cx="6521410" cy="816531"/>
          </a:xfrm>
          <a:prstGeom prst="rect">
            <a:avLst/>
          </a:prstGeom>
        </p:spPr>
      </p:pic>
      <p:sp>
        <p:nvSpPr>
          <p:cNvPr id="8" name="Text 4"/>
          <p:cNvSpPr/>
          <p:nvPr/>
        </p:nvSpPr>
        <p:spPr>
          <a:xfrm>
            <a:off x="7519273" y="3519011"/>
            <a:ext cx="2551748" cy="318849"/>
          </a:xfrm>
          <a:prstGeom prst="rect">
            <a:avLst/>
          </a:prstGeom>
          <a:noFill/>
          <a:ln/>
        </p:spPr>
        <p:txBody>
          <a:bodyPr wrap="none" lIns="0" tIns="0" rIns="0" bIns="0" rtlCol="0" anchor="t"/>
          <a:lstStyle/>
          <a:p>
            <a:pPr marL="0" indent="0" algn="l">
              <a:lnSpc>
                <a:spcPts val="2500"/>
              </a:lnSpc>
              <a:buNone/>
            </a:pPr>
            <a:r>
              <a:rPr lang="en-US" sz="2000" b="1" dirty="0">
                <a:latin typeface="Lato Bold" pitchFamily="34" charset="0"/>
                <a:ea typeface="Lato Bold" pitchFamily="34" charset="-122"/>
                <a:cs typeface="Lato Bold" pitchFamily="34" charset="-120"/>
              </a:rPr>
              <a:t>Feature Extraction</a:t>
            </a:r>
            <a:endParaRPr lang="en-US" sz="2000" dirty="0"/>
          </a:p>
        </p:txBody>
      </p:sp>
      <p:sp>
        <p:nvSpPr>
          <p:cNvPr id="9" name="Text 5"/>
          <p:cNvSpPr/>
          <p:nvPr/>
        </p:nvSpPr>
        <p:spPr>
          <a:xfrm>
            <a:off x="7519273" y="3947993"/>
            <a:ext cx="6113264" cy="310277"/>
          </a:xfrm>
          <a:prstGeom prst="rect">
            <a:avLst/>
          </a:prstGeom>
          <a:noFill/>
          <a:ln/>
        </p:spPr>
        <p:txBody>
          <a:bodyPr wrap="none" lIns="0" tIns="0" rIns="0" bIns="0" rtlCol="0" anchor="t"/>
          <a:lstStyle/>
          <a:p>
            <a:pPr marL="0" indent="0" algn="l">
              <a:lnSpc>
                <a:spcPts val="2400"/>
              </a:lnSpc>
              <a:buNone/>
            </a:pPr>
            <a:r>
              <a:rPr lang="en-US" sz="1600" dirty="0">
                <a:latin typeface="Lato" pitchFamily="34" charset="0"/>
                <a:ea typeface="Lato" pitchFamily="34" charset="-122"/>
                <a:cs typeface="Lato" pitchFamily="34" charset="-120"/>
              </a:rPr>
              <a:t>MediaPipe Face Mesh &amp; Eye Aspect Ratio(EAR)</a:t>
            </a:r>
            <a:endParaRPr lang="en-US" sz="1600" dirty="0"/>
          </a:p>
        </p:txBody>
      </p:sp>
      <p:pic>
        <p:nvPicPr>
          <p:cNvPr id="10" name="Image 2" descr="preencoded.png"/>
          <p:cNvPicPr>
            <a:picLocks noChangeAspect="1"/>
          </p:cNvPicPr>
          <p:nvPr/>
        </p:nvPicPr>
        <p:blipFill>
          <a:blip r:embed="rId5"/>
          <a:stretch>
            <a:fillRect/>
          </a:stretch>
        </p:blipFill>
        <p:spPr>
          <a:xfrm>
            <a:off x="793790" y="4462343"/>
            <a:ext cx="6521410" cy="816531"/>
          </a:xfrm>
          <a:prstGeom prst="rect">
            <a:avLst/>
          </a:prstGeom>
        </p:spPr>
      </p:pic>
      <p:sp>
        <p:nvSpPr>
          <p:cNvPr id="11" name="Text 6"/>
          <p:cNvSpPr/>
          <p:nvPr/>
        </p:nvSpPr>
        <p:spPr>
          <a:xfrm>
            <a:off x="997863" y="5462588"/>
            <a:ext cx="2551748" cy="318849"/>
          </a:xfrm>
          <a:prstGeom prst="rect">
            <a:avLst/>
          </a:prstGeom>
          <a:noFill/>
          <a:ln/>
        </p:spPr>
        <p:txBody>
          <a:bodyPr wrap="none" lIns="0" tIns="0" rIns="0" bIns="0" rtlCol="0" anchor="t"/>
          <a:lstStyle/>
          <a:p>
            <a:pPr marL="0" indent="0" algn="l">
              <a:lnSpc>
                <a:spcPts val="2500"/>
              </a:lnSpc>
              <a:buNone/>
            </a:pPr>
            <a:r>
              <a:rPr lang="en-US" sz="2000" b="1" dirty="0">
                <a:latin typeface="Lato Bold" pitchFamily="34" charset="0"/>
                <a:ea typeface="Lato Bold" pitchFamily="34" charset="-122"/>
                <a:cs typeface="Lato Bold" pitchFamily="34" charset="-120"/>
              </a:rPr>
              <a:t>State Classification</a:t>
            </a:r>
            <a:endParaRPr lang="en-US" sz="2000" dirty="0"/>
          </a:p>
        </p:txBody>
      </p:sp>
      <p:sp>
        <p:nvSpPr>
          <p:cNvPr id="12" name="Text 7"/>
          <p:cNvSpPr/>
          <p:nvPr/>
        </p:nvSpPr>
        <p:spPr>
          <a:xfrm>
            <a:off x="997863" y="5891570"/>
            <a:ext cx="6113264" cy="310277"/>
          </a:xfrm>
          <a:prstGeom prst="rect">
            <a:avLst/>
          </a:prstGeom>
          <a:noFill/>
          <a:ln/>
        </p:spPr>
        <p:txBody>
          <a:bodyPr wrap="none" lIns="0" tIns="0" rIns="0" bIns="0" rtlCol="0" anchor="t"/>
          <a:lstStyle/>
          <a:p>
            <a:pPr marL="0" indent="0" algn="l">
              <a:lnSpc>
                <a:spcPts val="2400"/>
              </a:lnSpc>
              <a:buNone/>
            </a:pPr>
            <a:r>
              <a:rPr lang="en-US" sz="1600" dirty="0">
                <a:latin typeface="Lato" pitchFamily="34" charset="0"/>
                <a:ea typeface="Lato" pitchFamily="34" charset="-122"/>
                <a:cs typeface="Lato" pitchFamily="34" charset="-120"/>
              </a:rPr>
              <a:t>Random Forest / SVM</a:t>
            </a:r>
            <a:endParaRPr lang="en-US" sz="1600" dirty="0"/>
          </a:p>
        </p:txBody>
      </p:sp>
      <p:pic>
        <p:nvPicPr>
          <p:cNvPr id="13" name="Image 3" descr="preencoded.png"/>
          <p:cNvPicPr>
            <a:picLocks noChangeAspect="1"/>
          </p:cNvPicPr>
          <p:nvPr/>
        </p:nvPicPr>
        <p:blipFill>
          <a:blip r:embed="rId6"/>
          <a:stretch>
            <a:fillRect/>
          </a:stretch>
        </p:blipFill>
        <p:spPr>
          <a:xfrm>
            <a:off x="7315200" y="4462343"/>
            <a:ext cx="6521410" cy="816531"/>
          </a:xfrm>
          <a:prstGeom prst="rect">
            <a:avLst/>
          </a:prstGeom>
        </p:spPr>
      </p:pic>
      <p:sp>
        <p:nvSpPr>
          <p:cNvPr id="14" name="Text 8"/>
          <p:cNvSpPr/>
          <p:nvPr/>
        </p:nvSpPr>
        <p:spPr>
          <a:xfrm>
            <a:off x="7519273" y="5462588"/>
            <a:ext cx="2551748" cy="318849"/>
          </a:xfrm>
          <a:prstGeom prst="rect">
            <a:avLst/>
          </a:prstGeom>
          <a:noFill/>
          <a:ln/>
        </p:spPr>
        <p:txBody>
          <a:bodyPr wrap="none" lIns="0" tIns="0" rIns="0" bIns="0" rtlCol="0" anchor="t"/>
          <a:lstStyle/>
          <a:p>
            <a:pPr marL="0" indent="0" algn="l">
              <a:lnSpc>
                <a:spcPts val="2500"/>
              </a:lnSpc>
              <a:buNone/>
            </a:pPr>
            <a:r>
              <a:rPr lang="en-US" sz="2000" b="1" dirty="0">
                <a:latin typeface="Lato Bold" pitchFamily="34" charset="0"/>
                <a:ea typeface="Lato Bold" pitchFamily="34" charset="-122"/>
                <a:cs typeface="Lato Bold" pitchFamily="34" charset="-120"/>
              </a:rPr>
              <a:t>Adaptive Feedback</a:t>
            </a:r>
            <a:endParaRPr lang="en-US" sz="2000" dirty="0"/>
          </a:p>
        </p:txBody>
      </p:sp>
      <p:sp>
        <p:nvSpPr>
          <p:cNvPr id="15" name="Text 9"/>
          <p:cNvSpPr/>
          <p:nvPr/>
        </p:nvSpPr>
        <p:spPr>
          <a:xfrm>
            <a:off x="7519273" y="5891570"/>
            <a:ext cx="6113264" cy="310277"/>
          </a:xfrm>
          <a:prstGeom prst="rect">
            <a:avLst/>
          </a:prstGeom>
          <a:noFill/>
          <a:ln/>
        </p:spPr>
        <p:txBody>
          <a:bodyPr wrap="none" lIns="0" tIns="0" rIns="0" bIns="0" rtlCol="0" anchor="t"/>
          <a:lstStyle/>
          <a:p>
            <a:pPr marL="0" indent="0" algn="l">
              <a:lnSpc>
                <a:spcPts val="2400"/>
              </a:lnSpc>
              <a:buNone/>
            </a:pPr>
            <a:r>
              <a:rPr lang="en-US" sz="1600" dirty="0">
                <a:latin typeface="Lato" pitchFamily="34" charset="0"/>
                <a:ea typeface="Lato" pitchFamily="34" charset="-122"/>
                <a:cs typeface="Lato" pitchFamily="34" charset="-120"/>
              </a:rPr>
              <a:t>System adjustments</a:t>
            </a:r>
            <a:endParaRPr lang="en-US" sz="1600" dirty="0"/>
          </a:p>
        </p:txBody>
      </p:sp>
      <p:sp>
        <p:nvSpPr>
          <p:cNvPr id="16" name="Text 10"/>
          <p:cNvSpPr/>
          <p:nvPr/>
        </p:nvSpPr>
        <p:spPr>
          <a:xfrm>
            <a:off x="793790" y="6612612"/>
            <a:ext cx="13042821" cy="930831"/>
          </a:xfrm>
          <a:prstGeom prst="rect">
            <a:avLst/>
          </a:prstGeom>
          <a:noFill/>
          <a:ln/>
        </p:spPr>
        <p:txBody>
          <a:bodyPr wrap="square" lIns="0" tIns="0" rIns="0" bIns="0" rtlCol="0" anchor="t"/>
          <a:lstStyle/>
          <a:p>
            <a:pPr marL="0" indent="0" algn="l">
              <a:lnSpc>
                <a:spcPts val="2400"/>
              </a:lnSpc>
              <a:buNone/>
            </a:pPr>
            <a:r>
              <a:rPr lang="en-US" sz="1600" dirty="0">
                <a:latin typeface="Lato" pitchFamily="34" charset="0"/>
                <a:ea typeface="Lato" pitchFamily="34" charset="-122"/>
                <a:cs typeface="Lato" pitchFamily="34" charset="-120"/>
              </a:rPr>
              <a:t>Key techniques include facial landmark detection via MediaPipe Face Mesh and Eye Aspect Ratio (EAR) for quantifying eye openness. Extracted features like blink rate, eye openness, and head tilt are fed into robust machine learning classifiers (Random Forest or Support Vector Machines) to identify emotional states and attention levels.</a:t>
            </a:r>
            <a:endParaRPr lang="en-US" sz="1600" dirty="0"/>
          </a:p>
        </p:txBody>
      </p:sp>
      <p:sp>
        <p:nvSpPr>
          <p:cNvPr id="18" name="Text 0">
            <a:extLst>
              <a:ext uri="{FF2B5EF4-FFF2-40B4-BE49-F238E27FC236}">
                <a16:creationId xmlns:a16="http://schemas.microsoft.com/office/drawing/2014/main" id="{AE0BB306-777C-CF99-8081-07A442B28328}"/>
              </a:ext>
            </a:extLst>
          </p:cNvPr>
          <p:cNvSpPr/>
          <p:nvPr/>
        </p:nvSpPr>
        <p:spPr>
          <a:xfrm>
            <a:off x="793790" y="1133031"/>
            <a:ext cx="3144365" cy="496133"/>
          </a:xfrm>
          <a:prstGeom prst="rect">
            <a:avLst/>
          </a:prstGeom>
          <a:noFill/>
          <a:ln/>
        </p:spPr>
        <p:txBody>
          <a:bodyPr wrap="none" lIns="0" tIns="0" rIns="0" bIns="0" rtlCol="0" anchor="t"/>
          <a:lstStyle/>
          <a:p>
            <a:pPr marL="0" indent="0" algn="l">
              <a:lnSpc>
                <a:spcPts val="3900"/>
              </a:lnSpc>
              <a:buNone/>
            </a:pPr>
            <a:r>
              <a:rPr lang="en-US" sz="3000" b="1" dirty="0">
                <a:latin typeface="Lato Bold" pitchFamily="34" charset="0"/>
                <a:ea typeface="Lato Bold" pitchFamily="34" charset="-122"/>
                <a:cs typeface="Lato Bold" pitchFamily="34" charset="-120"/>
              </a:rPr>
              <a:t>Methodology</a:t>
            </a:r>
            <a:endParaRPr lang="en-US" sz="3000" dirty="0"/>
          </a:p>
        </p:txBody>
      </p:sp>
      <p:sp>
        <p:nvSpPr>
          <p:cNvPr id="19" name="Text 0">
            <a:extLst>
              <a:ext uri="{FF2B5EF4-FFF2-40B4-BE49-F238E27FC236}">
                <a16:creationId xmlns:a16="http://schemas.microsoft.com/office/drawing/2014/main" id="{B98363F9-9776-91FB-2AA9-033A07C699C7}"/>
              </a:ext>
            </a:extLst>
          </p:cNvPr>
          <p:cNvSpPr/>
          <p:nvPr/>
        </p:nvSpPr>
        <p:spPr>
          <a:xfrm>
            <a:off x="793790" y="445381"/>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Affect and Attention-Aware Emotion Detection Module</a:t>
            </a:r>
            <a:endParaRPr lang="en-US" sz="3800" dirty="0"/>
          </a:p>
        </p:txBody>
      </p:sp>
      <p:sp>
        <p:nvSpPr>
          <p:cNvPr id="20" name="Rectangle 19">
            <a:extLst>
              <a:ext uri="{FF2B5EF4-FFF2-40B4-BE49-F238E27FC236}">
                <a16:creationId xmlns:a16="http://schemas.microsoft.com/office/drawing/2014/main" id="{14D5100D-0100-18D3-F81F-AEAC6CB34C91}"/>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IT22224552    |    K.K.G.Y. </a:t>
            </a:r>
            <a:r>
              <a:rPr lang="en-US" sz="1600" dirty="0" err="1">
                <a:solidFill>
                  <a:schemeClr val="tx1"/>
                </a:solidFill>
                <a:latin typeface="Lato" pitchFamily="34" charset="0"/>
                <a:ea typeface="Lato" pitchFamily="34" charset="-122"/>
                <a:cs typeface="Lato" pitchFamily="34" charset="-120"/>
              </a:rPr>
              <a:t>Mihiraj</a:t>
            </a:r>
            <a:r>
              <a:rPr lang="en-US" sz="1600" dirty="0">
                <a:solidFill>
                  <a:schemeClr val="tx1"/>
                </a:solidFill>
                <a:latin typeface="Lato" pitchFamily="34" charset="0"/>
                <a:ea typeface="Lato" pitchFamily="34" charset="-122"/>
                <a:cs typeface="Lato" pitchFamily="34" charset="-120"/>
              </a:rPr>
              <a:t>    |    R26-SE-022</a:t>
            </a:r>
            <a:endParaRPr lang="en-US" sz="1600"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4" name="Shape 2"/>
          <p:cNvSpPr/>
          <p:nvPr/>
        </p:nvSpPr>
        <p:spPr>
          <a:xfrm>
            <a:off x="793790" y="2276131"/>
            <a:ext cx="7011710" cy="1584246"/>
          </a:xfrm>
          <a:prstGeom prst="roundRect">
            <a:avLst>
              <a:gd name="adj" fmla="val 1396"/>
            </a:avLst>
          </a:prstGeom>
          <a:solidFill>
            <a:srgbClr val="EFECE6"/>
          </a:solidFill>
          <a:ln w="15240">
            <a:solidFill>
              <a:srgbClr val="CBC5B8"/>
            </a:solidFill>
            <a:prstDash val="solid"/>
          </a:ln>
        </p:spPr>
        <p:txBody>
          <a:bodyPr/>
          <a:lstStyle/>
          <a:p>
            <a:endParaRPr lang="en-US"/>
          </a:p>
        </p:txBody>
      </p:sp>
      <p:sp>
        <p:nvSpPr>
          <p:cNvPr id="5" name="Shape 3"/>
          <p:cNvSpPr/>
          <p:nvPr/>
        </p:nvSpPr>
        <p:spPr>
          <a:xfrm>
            <a:off x="809030" y="2291371"/>
            <a:ext cx="589717" cy="1553766"/>
          </a:xfrm>
          <a:prstGeom prst="roundRect">
            <a:avLst>
              <a:gd name="adj" fmla="val 649"/>
            </a:avLst>
          </a:prstGeom>
          <a:solidFill>
            <a:srgbClr val="E5DFD2"/>
          </a:solidFill>
          <a:ln/>
        </p:spPr>
        <p:txBody>
          <a:bodyPr/>
          <a:lstStyle/>
          <a:p>
            <a:endParaRPr lang="en-US"/>
          </a:p>
        </p:txBody>
      </p:sp>
      <p:sp>
        <p:nvSpPr>
          <p:cNvPr id="6" name="Shape 4"/>
          <p:cNvSpPr/>
          <p:nvPr/>
        </p:nvSpPr>
        <p:spPr>
          <a:xfrm>
            <a:off x="1494473" y="2438770"/>
            <a:ext cx="1092862" cy="230386"/>
          </a:xfrm>
          <a:prstGeom prst="roundRect">
            <a:avLst>
              <a:gd name="adj" fmla="val 7249"/>
            </a:avLst>
          </a:prstGeom>
          <a:solidFill>
            <a:srgbClr val="E7E7E4"/>
          </a:solidFill>
          <a:ln/>
        </p:spPr>
        <p:txBody>
          <a:bodyPr/>
          <a:lstStyle/>
          <a:p>
            <a:endParaRPr lang="en-US"/>
          </a:p>
        </p:txBody>
      </p:sp>
      <p:sp>
        <p:nvSpPr>
          <p:cNvPr id="7" name="Text 5"/>
          <p:cNvSpPr/>
          <p:nvPr/>
        </p:nvSpPr>
        <p:spPr>
          <a:xfrm>
            <a:off x="1582816" y="2482943"/>
            <a:ext cx="1004519" cy="155734"/>
          </a:xfrm>
          <a:prstGeom prst="rect">
            <a:avLst/>
          </a:prstGeom>
          <a:noFill/>
          <a:ln/>
        </p:spPr>
        <p:txBody>
          <a:bodyPr wrap="none" lIns="0" tIns="0" rIns="0" bIns="0" rtlCol="0" anchor="t"/>
          <a:lstStyle/>
          <a:p>
            <a:pPr marL="0" indent="0" algn="l">
              <a:lnSpc>
                <a:spcPts val="1200"/>
              </a:lnSpc>
              <a:buNone/>
            </a:pPr>
            <a:r>
              <a:rPr lang="en-US" sz="1200" dirty="0">
                <a:latin typeface="Lato" pitchFamily="34" charset="0"/>
                <a:ea typeface="Lato" pitchFamily="34" charset="-122"/>
                <a:cs typeface="Lato" pitchFamily="34" charset="-120"/>
              </a:rPr>
              <a:t>EVALUATION</a:t>
            </a:r>
            <a:endParaRPr lang="en-US" sz="1200" dirty="0"/>
          </a:p>
        </p:txBody>
      </p:sp>
      <p:sp>
        <p:nvSpPr>
          <p:cNvPr id="8" name="Text 6"/>
          <p:cNvSpPr/>
          <p:nvPr/>
        </p:nvSpPr>
        <p:spPr>
          <a:xfrm>
            <a:off x="1494473" y="2721068"/>
            <a:ext cx="1842968" cy="230386"/>
          </a:xfrm>
          <a:prstGeom prst="rect">
            <a:avLst/>
          </a:prstGeom>
          <a:noFill/>
          <a:ln/>
        </p:spPr>
        <p:txBody>
          <a:bodyPr wrap="none" lIns="0" tIns="0" rIns="0" bIns="0" rtlCol="0" anchor="t"/>
          <a:lstStyle/>
          <a:p>
            <a:pPr marL="0" indent="0" algn="l">
              <a:lnSpc>
                <a:spcPts val="1800"/>
              </a:lnSpc>
              <a:buNone/>
            </a:pPr>
            <a:r>
              <a:rPr lang="en-US" sz="2000" b="1" dirty="0">
                <a:latin typeface="Lato Bold" pitchFamily="34" charset="0"/>
                <a:ea typeface="Lato Bold" pitchFamily="34" charset="-122"/>
                <a:cs typeface="Lato Bold" pitchFamily="34" charset="-120"/>
              </a:rPr>
              <a:t>Validation Metrics</a:t>
            </a:r>
            <a:endParaRPr lang="en-US" sz="2000" dirty="0"/>
          </a:p>
        </p:txBody>
      </p:sp>
      <p:sp>
        <p:nvSpPr>
          <p:cNvPr id="9" name="Text 7"/>
          <p:cNvSpPr/>
          <p:nvPr/>
        </p:nvSpPr>
        <p:spPr>
          <a:xfrm>
            <a:off x="1494473" y="3047179"/>
            <a:ext cx="6148388" cy="762805"/>
          </a:xfrm>
          <a:prstGeom prst="rect">
            <a:avLst/>
          </a:prstGeom>
          <a:noFill/>
          <a:ln/>
        </p:spPr>
        <p:txBody>
          <a:bodyPr wrap="square" lIns="0" tIns="0" rIns="0" bIns="0" rtlCol="0" anchor="t"/>
          <a:lstStyle/>
          <a:p>
            <a:pPr marL="342900" indent="-342900" algn="l">
              <a:lnSpc>
                <a:spcPts val="200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Emotion classification accuracy</a:t>
            </a:r>
            <a:endParaRPr lang="en-US" sz="1600" dirty="0"/>
          </a:p>
          <a:p>
            <a:pPr marL="342900" indent="-342900" algn="l">
              <a:lnSpc>
                <a:spcPts val="200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Attention detection reliability</a:t>
            </a:r>
            <a:endParaRPr lang="en-US" sz="1600" dirty="0"/>
          </a:p>
          <a:p>
            <a:pPr marL="342900" indent="-342900" algn="l">
              <a:lnSpc>
                <a:spcPts val="200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Processing latency</a:t>
            </a:r>
            <a:endParaRPr lang="en-US" sz="1600" dirty="0"/>
          </a:p>
        </p:txBody>
      </p:sp>
      <p:sp>
        <p:nvSpPr>
          <p:cNvPr id="10" name="Shape 8"/>
          <p:cNvSpPr/>
          <p:nvPr/>
        </p:nvSpPr>
        <p:spPr>
          <a:xfrm>
            <a:off x="793790" y="3956103"/>
            <a:ext cx="7011710" cy="1812250"/>
          </a:xfrm>
          <a:prstGeom prst="roundRect">
            <a:avLst>
              <a:gd name="adj" fmla="val 1220"/>
            </a:avLst>
          </a:prstGeom>
          <a:solidFill>
            <a:srgbClr val="EFECE6"/>
          </a:solidFill>
          <a:ln w="15240">
            <a:solidFill>
              <a:srgbClr val="CBC5B8"/>
            </a:solidFill>
            <a:prstDash val="solid"/>
          </a:ln>
        </p:spPr>
        <p:txBody>
          <a:bodyPr/>
          <a:lstStyle/>
          <a:p>
            <a:endParaRPr lang="en-US"/>
          </a:p>
        </p:txBody>
      </p:sp>
      <p:sp>
        <p:nvSpPr>
          <p:cNvPr id="11" name="Shape 9"/>
          <p:cNvSpPr/>
          <p:nvPr/>
        </p:nvSpPr>
        <p:spPr>
          <a:xfrm>
            <a:off x="809030" y="3971343"/>
            <a:ext cx="589717" cy="1781770"/>
          </a:xfrm>
          <a:prstGeom prst="roundRect">
            <a:avLst>
              <a:gd name="adj" fmla="val 649"/>
            </a:avLst>
          </a:prstGeom>
          <a:solidFill>
            <a:srgbClr val="E5DFD2"/>
          </a:solidFill>
          <a:ln/>
        </p:spPr>
        <p:txBody>
          <a:bodyPr/>
          <a:lstStyle/>
          <a:p>
            <a:endParaRPr lang="en-US"/>
          </a:p>
        </p:txBody>
      </p:sp>
      <p:sp>
        <p:nvSpPr>
          <p:cNvPr id="12" name="Shape 10"/>
          <p:cNvSpPr/>
          <p:nvPr/>
        </p:nvSpPr>
        <p:spPr>
          <a:xfrm>
            <a:off x="1494473" y="4118742"/>
            <a:ext cx="589716" cy="199906"/>
          </a:xfrm>
          <a:prstGeom prst="roundRect">
            <a:avLst>
              <a:gd name="adj" fmla="val 7249"/>
            </a:avLst>
          </a:prstGeom>
          <a:solidFill>
            <a:srgbClr val="E7E7E4"/>
          </a:solidFill>
          <a:ln/>
        </p:spPr>
        <p:txBody>
          <a:bodyPr/>
          <a:lstStyle/>
          <a:p>
            <a:endParaRPr lang="en-US"/>
          </a:p>
        </p:txBody>
      </p:sp>
      <p:sp>
        <p:nvSpPr>
          <p:cNvPr id="13" name="Text 11"/>
          <p:cNvSpPr/>
          <p:nvPr/>
        </p:nvSpPr>
        <p:spPr>
          <a:xfrm>
            <a:off x="1582817" y="4162914"/>
            <a:ext cx="300633" cy="155734"/>
          </a:xfrm>
          <a:prstGeom prst="rect">
            <a:avLst/>
          </a:prstGeom>
          <a:noFill/>
          <a:ln/>
        </p:spPr>
        <p:txBody>
          <a:bodyPr wrap="none" lIns="0" tIns="0" rIns="0" bIns="0" rtlCol="0" anchor="t"/>
          <a:lstStyle/>
          <a:p>
            <a:pPr marL="0" indent="0" algn="l">
              <a:lnSpc>
                <a:spcPts val="1200"/>
              </a:lnSpc>
              <a:buNone/>
            </a:pPr>
            <a:r>
              <a:rPr lang="en-US" sz="1200" dirty="0">
                <a:latin typeface="Lato" pitchFamily="34" charset="0"/>
                <a:ea typeface="Lato" pitchFamily="34" charset="-122"/>
                <a:cs typeface="Lato" pitchFamily="34" charset="-120"/>
              </a:rPr>
              <a:t>DATA</a:t>
            </a:r>
            <a:endParaRPr lang="en-US" sz="1200" dirty="0"/>
          </a:p>
        </p:txBody>
      </p:sp>
      <p:sp>
        <p:nvSpPr>
          <p:cNvPr id="14" name="Text 12"/>
          <p:cNvSpPr/>
          <p:nvPr/>
        </p:nvSpPr>
        <p:spPr>
          <a:xfrm>
            <a:off x="1494473" y="4401039"/>
            <a:ext cx="1842968" cy="230386"/>
          </a:xfrm>
          <a:prstGeom prst="rect">
            <a:avLst/>
          </a:prstGeom>
          <a:noFill/>
          <a:ln/>
        </p:spPr>
        <p:txBody>
          <a:bodyPr wrap="none" lIns="0" tIns="0" rIns="0" bIns="0" rtlCol="0" anchor="t"/>
          <a:lstStyle/>
          <a:p>
            <a:pPr marL="0" indent="0" algn="l">
              <a:lnSpc>
                <a:spcPts val="1800"/>
              </a:lnSpc>
              <a:buNone/>
            </a:pPr>
            <a:r>
              <a:rPr lang="en-US" sz="2000" b="1" dirty="0">
                <a:latin typeface="Lato Bold" pitchFamily="34" charset="0"/>
                <a:ea typeface="Lato Bold" pitchFamily="34" charset="-122"/>
                <a:cs typeface="Lato Bold" pitchFamily="34" charset="-120"/>
              </a:rPr>
              <a:t>Datasets Utilised</a:t>
            </a:r>
            <a:endParaRPr lang="en-US" sz="2000" dirty="0"/>
          </a:p>
        </p:txBody>
      </p:sp>
      <p:sp>
        <p:nvSpPr>
          <p:cNvPr id="15" name="Text 13"/>
          <p:cNvSpPr/>
          <p:nvPr/>
        </p:nvSpPr>
        <p:spPr>
          <a:xfrm>
            <a:off x="1494473" y="4727151"/>
            <a:ext cx="6148388" cy="1041201"/>
          </a:xfrm>
          <a:prstGeom prst="rect">
            <a:avLst/>
          </a:prstGeom>
          <a:noFill/>
          <a:ln/>
        </p:spPr>
        <p:txBody>
          <a:bodyPr wrap="square" lIns="0" tIns="0" rIns="0" bIns="0" rtlCol="0" anchor="t"/>
          <a:lstStyle/>
          <a:p>
            <a:pPr marL="342900" indent="-342900" algn="l">
              <a:lnSpc>
                <a:spcPts val="2000"/>
              </a:lnSpc>
              <a:buSzPct val="100000"/>
              <a:buFont typeface="Wingdings" panose="05000000000000000000" pitchFamily="2" charset="2"/>
              <a:buChar char="ü"/>
            </a:pPr>
            <a:r>
              <a:rPr lang="en-US" sz="1600" dirty="0">
                <a:latin typeface="Lato" panose="020F0502020204030203" pitchFamily="34" charset="0"/>
                <a:ea typeface="Lato" panose="020F0502020204030203" pitchFamily="34" charset="0"/>
                <a:cs typeface="Lato" panose="020F0502020204030203" pitchFamily="34" charset="0"/>
              </a:rPr>
              <a:t>FER-2013 (Facial Expression Recognition)</a:t>
            </a:r>
          </a:p>
          <a:p>
            <a:pPr marL="342900" indent="-342900" algn="l">
              <a:lnSpc>
                <a:spcPts val="2000"/>
              </a:lnSpc>
              <a:buSzPct val="100000"/>
              <a:buFont typeface="Wingdings" panose="05000000000000000000" pitchFamily="2" charset="2"/>
              <a:buChar char="ü"/>
            </a:pPr>
            <a:r>
              <a:rPr lang="en-US" sz="1600" dirty="0">
                <a:latin typeface="Lato" panose="020F0502020204030203" pitchFamily="34" charset="0"/>
                <a:ea typeface="Lato" panose="020F0502020204030203" pitchFamily="34" charset="0"/>
                <a:cs typeface="Lato" panose="020F0502020204030203" pitchFamily="34" charset="0"/>
              </a:rPr>
              <a:t>RAF-DB (Real-world Affective Faces Database)</a:t>
            </a:r>
          </a:p>
          <a:p>
            <a:pPr marL="342900" indent="-342900" algn="l">
              <a:lnSpc>
                <a:spcPts val="2000"/>
              </a:lnSpc>
              <a:buSzPct val="100000"/>
              <a:buFont typeface="Wingdings" panose="05000000000000000000" pitchFamily="2" charset="2"/>
              <a:buChar char="ü"/>
            </a:pPr>
            <a:r>
              <a:rPr lang="en-US" sz="1600" dirty="0">
                <a:latin typeface="Lato" panose="020F0502020204030203" pitchFamily="34" charset="0"/>
                <a:ea typeface="Lato" panose="020F0502020204030203" pitchFamily="34" charset="0"/>
                <a:cs typeface="Lato" panose="020F0502020204030203" pitchFamily="34" charset="0"/>
              </a:rPr>
              <a:t>AffectNet (Large-scale facial expression dataset)</a:t>
            </a:r>
          </a:p>
          <a:p>
            <a:pPr marL="342900" indent="-342900" algn="l">
              <a:lnSpc>
                <a:spcPts val="2000"/>
              </a:lnSpc>
              <a:buSzPct val="100000"/>
              <a:buFont typeface="Wingdings" panose="05000000000000000000" pitchFamily="2" charset="2"/>
              <a:buChar char="ü"/>
            </a:pPr>
            <a:r>
              <a:rPr lang="en-US" sz="1600" dirty="0">
                <a:latin typeface="Lato" panose="020F0502020204030203" pitchFamily="34" charset="0"/>
                <a:ea typeface="Lato" panose="020F0502020204030203" pitchFamily="34" charset="0"/>
                <a:cs typeface="Lato" panose="020F0502020204030203" pitchFamily="34" charset="0"/>
              </a:rPr>
              <a:t>MPIIGaze (Gaze tracking dataset)</a:t>
            </a:r>
          </a:p>
        </p:txBody>
      </p:sp>
      <p:sp>
        <p:nvSpPr>
          <p:cNvPr id="16" name="Shape 14"/>
          <p:cNvSpPr/>
          <p:nvPr/>
        </p:nvSpPr>
        <p:spPr>
          <a:xfrm>
            <a:off x="793790" y="5864079"/>
            <a:ext cx="7011710" cy="1584246"/>
          </a:xfrm>
          <a:prstGeom prst="roundRect">
            <a:avLst>
              <a:gd name="adj" fmla="val 1396"/>
            </a:avLst>
          </a:prstGeom>
          <a:solidFill>
            <a:srgbClr val="EFECE6"/>
          </a:solidFill>
          <a:ln w="15240">
            <a:solidFill>
              <a:srgbClr val="CBC5B8"/>
            </a:solidFill>
            <a:prstDash val="solid"/>
          </a:ln>
        </p:spPr>
        <p:txBody>
          <a:bodyPr/>
          <a:lstStyle/>
          <a:p>
            <a:endParaRPr lang="en-US"/>
          </a:p>
        </p:txBody>
      </p:sp>
      <p:sp>
        <p:nvSpPr>
          <p:cNvPr id="17" name="Shape 15"/>
          <p:cNvSpPr/>
          <p:nvPr/>
        </p:nvSpPr>
        <p:spPr>
          <a:xfrm>
            <a:off x="809030" y="5879319"/>
            <a:ext cx="589717" cy="1553766"/>
          </a:xfrm>
          <a:prstGeom prst="roundRect">
            <a:avLst>
              <a:gd name="adj" fmla="val 649"/>
            </a:avLst>
          </a:prstGeom>
          <a:solidFill>
            <a:srgbClr val="E5DFD2"/>
          </a:solidFill>
          <a:ln/>
        </p:spPr>
        <p:txBody>
          <a:bodyPr/>
          <a:lstStyle/>
          <a:p>
            <a:endParaRPr lang="en-US"/>
          </a:p>
        </p:txBody>
      </p:sp>
      <p:sp>
        <p:nvSpPr>
          <p:cNvPr id="18" name="Shape 16"/>
          <p:cNvSpPr/>
          <p:nvPr/>
        </p:nvSpPr>
        <p:spPr>
          <a:xfrm>
            <a:off x="1494473" y="6026719"/>
            <a:ext cx="902137" cy="244078"/>
          </a:xfrm>
          <a:prstGeom prst="roundRect">
            <a:avLst>
              <a:gd name="adj" fmla="val 7249"/>
            </a:avLst>
          </a:prstGeom>
          <a:solidFill>
            <a:srgbClr val="E7E7E4"/>
          </a:solidFill>
          <a:ln/>
        </p:spPr>
        <p:txBody>
          <a:bodyPr/>
          <a:lstStyle/>
          <a:p>
            <a:endParaRPr lang="en-US"/>
          </a:p>
        </p:txBody>
      </p:sp>
      <p:sp>
        <p:nvSpPr>
          <p:cNvPr id="19" name="Text 17"/>
          <p:cNvSpPr/>
          <p:nvPr/>
        </p:nvSpPr>
        <p:spPr>
          <a:xfrm>
            <a:off x="1582817" y="6070890"/>
            <a:ext cx="902136" cy="238125"/>
          </a:xfrm>
          <a:prstGeom prst="rect">
            <a:avLst/>
          </a:prstGeom>
          <a:noFill/>
          <a:ln/>
        </p:spPr>
        <p:txBody>
          <a:bodyPr wrap="none" lIns="0" tIns="0" rIns="0" bIns="0" rtlCol="0" anchor="t"/>
          <a:lstStyle/>
          <a:p>
            <a:pPr marL="0" indent="0" algn="l">
              <a:lnSpc>
                <a:spcPts val="1200"/>
              </a:lnSpc>
              <a:buNone/>
            </a:pPr>
            <a:r>
              <a:rPr lang="en-US" sz="1200" dirty="0">
                <a:latin typeface="Lato" pitchFamily="34" charset="0"/>
                <a:ea typeface="Lato" pitchFamily="34" charset="-122"/>
                <a:cs typeface="Lato" pitchFamily="34" charset="-120"/>
              </a:rPr>
              <a:t>PRINCIPLES</a:t>
            </a:r>
            <a:endParaRPr lang="en-US" sz="1200" dirty="0"/>
          </a:p>
        </p:txBody>
      </p:sp>
      <p:sp>
        <p:nvSpPr>
          <p:cNvPr id="20" name="Text 18"/>
          <p:cNvSpPr/>
          <p:nvPr/>
        </p:nvSpPr>
        <p:spPr>
          <a:xfrm>
            <a:off x="1494473" y="6309016"/>
            <a:ext cx="1842968" cy="230386"/>
          </a:xfrm>
          <a:prstGeom prst="rect">
            <a:avLst/>
          </a:prstGeom>
          <a:noFill/>
          <a:ln/>
        </p:spPr>
        <p:txBody>
          <a:bodyPr wrap="none" lIns="0" tIns="0" rIns="0" bIns="0" rtlCol="0" anchor="t"/>
          <a:lstStyle/>
          <a:p>
            <a:pPr marL="0" indent="0" algn="l">
              <a:lnSpc>
                <a:spcPts val="1800"/>
              </a:lnSpc>
              <a:buNone/>
            </a:pPr>
            <a:r>
              <a:rPr lang="en-US" sz="2000" b="1" dirty="0">
                <a:latin typeface="Lato Bold" pitchFamily="34" charset="0"/>
                <a:ea typeface="Lato Bold" pitchFamily="34" charset="-122"/>
                <a:cs typeface="Lato Bold" pitchFamily="34" charset="-120"/>
              </a:rPr>
              <a:t>Ethical Design</a:t>
            </a:r>
            <a:endParaRPr lang="en-US" sz="2000" dirty="0"/>
          </a:p>
        </p:txBody>
      </p:sp>
      <p:sp>
        <p:nvSpPr>
          <p:cNvPr id="21" name="Text 19"/>
          <p:cNvSpPr/>
          <p:nvPr/>
        </p:nvSpPr>
        <p:spPr>
          <a:xfrm>
            <a:off x="1494473" y="6635127"/>
            <a:ext cx="6148388" cy="797957"/>
          </a:xfrm>
          <a:prstGeom prst="rect">
            <a:avLst/>
          </a:prstGeom>
          <a:noFill/>
          <a:ln/>
        </p:spPr>
        <p:txBody>
          <a:bodyPr wrap="square" lIns="0" tIns="0" rIns="0" bIns="0" rtlCol="0" anchor="t"/>
          <a:lstStyle/>
          <a:p>
            <a:pPr marL="342900" indent="-342900" algn="l">
              <a:lnSpc>
                <a:spcPts val="2000"/>
              </a:lnSpc>
              <a:buSzPct val="100000"/>
              <a:buFont typeface="Wingdings" panose="05000000000000000000" pitchFamily="2" charset="2"/>
              <a:buChar char="ü"/>
            </a:pPr>
            <a:r>
              <a:rPr lang="en-US" sz="1600" dirty="0">
                <a:latin typeface="Lato" panose="020F0502020204030203" pitchFamily="34" charset="0"/>
                <a:ea typeface="Lato" panose="020F0502020204030203" pitchFamily="34" charset="0"/>
                <a:cs typeface="Lato" panose="020F0502020204030203" pitchFamily="34" charset="0"/>
              </a:rPr>
              <a:t>No storage of raw images</a:t>
            </a:r>
          </a:p>
          <a:p>
            <a:pPr marL="342900" indent="-342900" algn="l">
              <a:lnSpc>
                <a:spcPts val="2000"/>
              </a:lnSpc>
              <a:buSzPct val="100000"/>
              <a:buFont typeface="Wingdings" panose="05000000000000000000" pitchFamily="2" charset="2"/>
              <a:buChar char="ü"/>
            </a:pPr>
            <a:r>
              <a:rPr lang="en-US" sz="1600" dirty="0">
                <a:latin typeface="Lato" panose="020F0502020204030203" pitchFamily="34" charset="0"/>
                <a:ea typeface="Lato" panose="020F0502020204030203" pitchFamily="34" charset="0"/>
                <a:cs typeface="Lato" panose="020F0502020204030203" pitchFamily="34" charset="0"/>
              </a:rPr>
              <a:t>Feature embeddings only</a:t>
            </a:r>
          </a:p>
          <a:p>
            <a:pPr marL="342900" indent="-342900" algn="l">
              <a:lnSpc>
                <a:spcPts val="2000"/>
              </a:lnSpc>
              <a:buSzPct val="100000"/>
              <a:buFont typeface="Wingdings" panose="05000000000000000000" pitchFamily="2" charset="2"/>
              <a:buChar char="ü"/>
            </a:pPr>
            <a:r>
              <a:rPr lang="en-US" sz="1600" dirty="0">
                <a:latin typeface="Lato" panose="020F0502020204030203" pitchFamily="34" charset="0"/>
                <a:ea typeface="Lato" panose="020F0502020204030203" pitchFamily="34" charset="0"/>
                <a:cs typeface="Lato" panose="020F0502020204030203" pitchFamily="34" charset="0"/>
              </a:rPr>
              <a:t>Privacy-preserving architecture</a:t>
            </a:r>
          </a:p>
        </p:txBody>
      </p:sp>
      <p:pic>
        <p:nvPicPr>
          <p:cNvPr id="22" name="Image 0" descr="preencoded.png"/>
          <p:cNvPicPr>
            <a:picLocks noChangeAspect="1"/>
          </p:cNvPicPr>
          <p:nvPr/>
        </p:nvPicPr>
        <p:blipFill>
          <a:blip r:embed="rId3"/>
          <a:stretch>
            <a:fillRect/>
          </a:stretch>
        </p:blipFill>
        <p:spPr>
          <a:xfrm>
            <a:off x="9165193" y="2748796"/>
            <a:ext cx="3686413" cy="3686413"/>
          </a:xfrm>
          <a:prstGeom prst="rect">
            <a:avLst/>
          </a:prstGeom>
        </p:spPr>
      </p:pic>
      <p:sp>
        <p:nvSpPr>
          <p:cNvPr id="24" name="TextBox 23">
            <a:extLst>
              <a:ext uri="{FF2B5EF4-FFF2-40B4-BE49-F238E27FC236}">
                <a16:creationId xmlns:a16="http://schemas.microsoft.com/office/drawing/2014/main" id="{F7ABA94E-9933-54E5-83DE-EB6C54A1D05C}"/>
              </a:ext>
            </a:extLst>
          </p:cNvPr>
          <p:cNvSpPr txBox="1"/>
          <p:nvPr/>
        </p:nvSpPr>
        <p:spPr>
          <a:xfrm>
            <a:off x="778548" y="1522273"/>
            <a:ext cx="13042822" cy="646331"/>
          </a:xfrm>
          <a:prstGeom prst="rect">
            <a:avLst/>
          </a:prstGeom>
          <a:noFill/>
        </p:spPr>
        <p:txBody>
          <a:bodyPr wrap="square" rtlCol="0">
            <a:spAutoFit/>
          </a:bodyPr>
          <a:lstStyle/>
          <a:p>
            <a:r>
              <a:rPr lang="en-US" dirty="0">
                <a:latin typeface="Lato" panose="020F0502020204030203" pitchFamily="34" charset="0"/>
                <a:ea typeface="Lato" panose="020F0502020204030203" pitchFamily="34" charset="0"/>
                <a:cs typeface="Lato" panose="020F0502020204030203" pitchFamily="34" charset="0"/>
              </a:rPr>
              <a:t>Our ethical design principles for the emotion detection module </a:t>
            </a:r>
            <a:r>
              <a:rPr lang="en-US" dirty="0" err="1">
                <a:latin typeface="Lato" panose="020F0502020204030203" pitchFamily="34" charset="0"/>
                <a:ea typeface="Lato" panose="020F0502020204030203" pitchFamily="34" charset="0"/>
                <a:cs typeface="Lato" panose="020F0502020204030203" pitchFamily="34" charset="0"/>
              </a:rPr>
              <a:t>prioritise</a:t>
            </a:r>
            <a:r>
              <a:rPr lang="en-US" dirty="0">
                <a:latin typeface="Lato" panose="020F0502020204030203" pitchFamily="34" charset="0"/>
                <a:ea typeface="Lato" panose="020F0502020204030203" pitchFamily="34" charset="0"/>
                <a:cs typeface="Lato" panose="020F0502020204030203" pitchFamily="34" charset="0"/>
              </a:rPr>
              <a:t> student privacy, ensuring no raw biometric data is ever stored, and all processing focuses on aggregated, non-identifying features.</a:t>
            </a:r>
          </a:p>
        </p:txBody>
      </p:sp>
      <p:sp>
        <p:nvSpPr>
          <p:cNvPr id="25" name="Text 0">
            <a:extLst>
              <a:ext uri="{FF2B5EF4-FFF2-40B4-BE49-F238E27FC236}">
                <a16:creationId xmlns:a16="http://schemas.microsoft.com/office/drawing/2014/main" id="{900FBEDD-1475-B6DD-D65B-9E81FB9F5484}"/>
              </a:ext>
            </a:extLst>
          </p:cNvPr>
          <p:cNvSpPr/>
          <p:nvPr/>
        </p:nvSpPr>
        <p:spPr>
          <a:xfrm>
            <a:off x="793790" y="393426"/>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Affect and Attention-Aware Emotion Detection Module</a:t>
            </a:r>
            <a:endParaRPr lang="en-US" sz="3800" dirty="0"/>
          </a:p>
        </p:txBody>
      </p:sp>
      <p:sp>
        <p:nvSpPr>
          <p:cNvPr id="26" name="Text 0">
            <a:extLst>
              <a:ext uri="{FF2B5EF4-FFF2-40B4-BE49-F238E27FC236}">
                <a16:creationId xmlns:a16="http://schemas.microsoft.com/office/drawing/2014/main" id="{327C9C31-ECC3-AF5D-6474-C5E070E8376C}"/>
              </a:ext>
            </a:extLst>
          </p:cNvPr>
          <p:cNvSpPr/>
          <p:nvPr/>
        </p:nvSpPr>
        <p:spPr>
          <a:xfrm>
            <a:off x="816650" y="1003558"/>
            <a:ext cx="3144365" cy="496133"/>
          </a:xfrm>
          <a:prstGeom prst="rect">
            <a:avLst/>
          </a:prstGeom>
          <a:noFill/>
          <a:ln/>
        </p:spPr>
        <p:txBody>
          <a:bodyPr wrap="none" lIns="0" tIns="0" rIns="0" bIns="0" rtlCol="0" anchor="t"/>
          <a:lstStyle/>
          <a:p>
            <a:pPr>
              <a:lnSpc>
                <a:spcPts val="4450"/>
              </a:lnSpc>
            </a:pPr>
            <a:r>
              <a:rPr lang="en-US" sz="3000" b="1" dirty="0">
                <a:latin typeface="Lato Bold" pitchFamily="34" charset="0"/>
                <a:ea typeface="Lato Bold" pitchFamily="34" charset="-122"/>
                <a:cs typeface="Lato Bold" pitchFamily="34" charset="-120"/>
              </a:rPr>
              <a:t>Validation &amp; Ethics</a:t>
            </a:r>
            <a:endParaRPr lang="en-US" sz="3000" dirty="0"/>
          </a:p>
        </p:txBody>
      </p:sp>
      <p:sp>
        <p:nvSpPr>
          <p:cNvPr id="27" name="Rectangle 26">
            <a:extLst>
              <a:ext uri="{FF2B5EF4-FFF2-40B4-BE49-F238E27FC236}">
                <a16:creationId xmlns:a16="http://schemas.microsoft.com/office/drawing/2014/main" id="{C578C574-AA94-05D5-615D-0A829367C4DB}"/>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IT22224552    |    K.K.G.Y. </a:t>
            </a:r>
            <a:r>
              <a:rPr lang="en-US" sz="1600" dirty="0" err="1">
                <a:solidFill>
                  <a:schemeClr val="tx1"/>
                </a:solidFill>
                <a:latin typeface="Lato" pitchFamily="34" charset="0"/>
                <a:ea typeface="Lato" pitchFamily="34" charset="-122"/>
                <a:cs typeface="Lato" pitchFamily="34" charset="-120"/>
              </a:rPr>
              <a:t>Mihiraj</a:t>
            </a:r>
            <a:r>
              <a:rPr lang="en-US" sz="1600" dirty="0">
                <a:solidFill>
                  <a:schemeClr val="tx1"/>
                </a:solidFill>
                <a:latin typeface="Lato" pitchFamily="34" charset="0"/>
                <a:ea typeface="Lato" pitchFamily="34" charset="-122"/>
                <a:cs typeface="Lato" pitchFamily="34" charset="-120"/>
              </a:rPr>
              <a:t>    |    R26-SE-022</a:t>
            </a:r>
            <a:endParaRPr lang="en-US" sz="1600" dirty="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C57DF2E7-7C29-4DDE-51B1-6E8DA445BCA9}"/>
              </a:ext>
            </a:extLst>
          </p:cNvPr>
          <p:cNvGrpSpPr/>
          <p:nvPr/>
        </p:nvGrpSpPr>
        <p:grpSpPr>
          <a:xfrm>
            <a:off x="1373267" y="2521017"/>
            <a:ext cx="5592062" cy="878086"/>
            <a:chOff x="787956" y="1567577"/>
            <a:chExt cx="5592062" cy="878086"/>
          </a:xfrm>
        </p:grpSpPr>
        <p:sp>
          <p:nvSpPr>
            <p:cNvPr id="4" name="Shape 2"/>
            <p:cNvSpPr/>
            <p:nvPr/>
          </p:nvSpPr>
          <p:spPr>
            <a:xfrm>
              <a:off x="787956" y="1567577"/>
              <a:ext cx="585311" cy="878086"/>
            </a:xfrm>
            <a:prstGeom prst="roundRect">
              <a:avLst>
                <a:gd name="adj" fmla="val 360065"/>
              </a:avLst>
            </a:prstGeom>
            <a:solidFill>
              <a:srgbClr val="E5DFD2"/>
            </a:solidFill>
            <a:ln/>
          </p:spPr>
          <p:txBody>
            <a:bodyPr/>
            <a:lstStyle/>
            <a:p>
              <a:endParaRPr lang="en-US"/>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0836" y="1896785"/>
              <a:ext cx="219432" cy="219432"/>
            </a:xfrm>
            <a:prstGeom prst="rect">
              <a:avLst/>
            </a:prstGeom>
          </p:spPr>
        </p:pic>
        <p:sp>
          <p:nvSpPr>
            <p:cNvPr id="6" name="Text 3"/>
            <p:cNvSpPr/>
            <p:nvPr/>
          </p:nvSpPr>
          <p:spPr>
            <a:xfrm>
              <a:off x="1467683" y="1713905"/>
              <a:ext cx="1829395" cy="228719"/>
            </a:xfrm>
            <a:prstGeom prst="rect">
              <a:avLst/>
            </a:prstGeom>
            <a:noFill/>
            <a:ln/>
          </p:spPr>
          <p:txBody>
            <a:bodyPr wrap="none" lIns="0" tIns="0" rIns="0" bIns="0" rtlCol="0" anchor="t"/>
            <a:lstStyle/>
            <a:p>
              <a:pPr marL="0" indent="0" algn="l">
                <a:lnSpc>
                  <a:spcPts val="1800"/>
                </a:lnSpc>
                <a:buNone/>
              </a:pPr>
              <a:r>
                <a:rPr lang="en-US" sz="2000" b="1" dirty="0">
                  <a:latin typeface="Lato Bold" pitchFamily="34" charset="0"/>
                  <a:ea typeface="Lato Bold" pitchFamily="34" charset="-122"/>
                  <a:cs typeface="Lato Bold" pitchFamily="34" charset="-120"/>
                </a:rPr>
                <a:t>Webcam Input</a:t>
              </a:r>
              <a:endParaRPr lang="en-US" sz="2000" dirty="0"/>
            </a:p>
          </p:txBody>
        </p:sp>
        <p:sp>
          <p:nvSpPr>
            <p:cNvPr id="7" name="Text 4"/>
            <p:cNvSpPr/>
            <p:nvPr/>
          </p:nvSpPr>
          <p:spPr>
            <a:xfrm>
              <a:off x="1467683" y="2113478"/>
              <a:ext cx="4912335" cy="249407"/>
            </a:xfrm>
            <a:prstGeom prst="rect">
              <a:avLst/>
            </a:prstGeom>
            <a:noFill/>
            <a:ln/>
          </p:spPr>
          <p:txBody>
            <a:bodyPr wrap="none" lIns="0" tIns="0" rIns="0" bIns="0" rtlCol="0" anchor="t"/>
            <a:lstStyle/>
            <a:p>
              <a:pPr marL="0" indent="0" algn="l">
                <a:lnSpc>
                  <a:spcPts val="1500"/>
                </a:lnSpc>
                <a:buNone/>
              </a:pPr>
              <a:r>
                <a:rPr lang="en-US" sz="1600" dirty="0">
                  <a:latin typeface="Lato" pitchFamily="34" charset="0"/>
                  <a:ea typeface="Lato" pitchFamily="34" charset="-122"/>
                  <a:cs typeface="Lato" pitchFamily="34" charset="-120"/>
                </a:rPr>
                <a:t>Continuous video stream capture.</a:t>
              </a:r>
              <a:endParaRPr lang="en-US" sz="1600" dirty="0"/>
            </a:p>
          </p:txBody>
        </p:sp>
      </p:grpSp>
      <p:grpSp>
        <p:nvGrpSpPr>
          <p:cNvPr id="32" name="Group 31">
            <a:extLst>
              <a:ext uri="{FF2B5EF4-FFF2-40B4-BE49-F238E27FC236}">
                <a16:creationId xmlns:a16="http://schemas.microsoft.com/office/drawing/2014/main" id="{1BDA4B2D-7FDC-575B-6497-157DA46D0FC9}"/>
              </a:ext>
            </a:extLst>
          </p:cNvPr>
          <p:cNvGrpSpPr/>
          <p:nvPr/>
        </p:nvGrpSpPr>
        <p:grpSpPr>
          <a:xfrm>
            <a:off x="1373267" y="3940005"/>
            <a:ext cx="5592062" cy="878086"/>
            <a:chOff x="787956" y="2540079"/>
            <a:chExt cx="5592062" cy="878086"/>
          </a:xfrm>
        </p:grpSpPr>
        <p:sp>
          <p:nvSpPr>
            <p:cNvPr id="8" name="Shape 5"/>
            <p:cNvSpPr/>
            <p:nvPr/>
          </p:nvSpPr>
          <p:spPr>
            <a:xfrm>
              <a:off x="787956" y="2540079"/>
              <a:ext cx="585311" cy="878086"/>
            </a:xfrm>
            <a:prstGeom prst="roundRect">
              <a:avLst>
                <a:gd name="adj" fmla="val 360065"/>
              </a:avLst>
            </a:prstGeom>
            <a:solidFill>
              <a:srgbClr val="E5DFD2"/>
            </a:solidFill>
            <a:ln/>
          </p:spPr>
          <p:txBody>
            <a:bodyPr/>
            <a:lstStyle/>
            <a:p>
              <a:endParaRPr lang="en-US"/>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70836" y="2869287"/>
              <a:ext cx="219432" cy="219432"/>
            </a:xfrm>
            <a:prstGeom prst="rect">
              <a:avLst/>
            </a:prstGeom>
          </p:spPr>
        </p:pic>
        <p:sp>
          <p:nvSpPr>
            <p:cNvPr id="10" name="Text 6"/>
            <p:cNvSpPr/>
            <p:nvPr/>
          </p:nvSpPr>
          <p:spPr>
            <a:xfrm>
              <a:off x="1467683" y="2686407"/>
              <a:ext cx="2096333" cy="228719"/>
            </a:xfrm>
            <a:prstGeom prst="rect">
              <a:avLst/>
            </a:prstGeom>
            <a:noFill/>
            <a:ln/>
          </p:spPr>
          <p:txBody>
            <a:bodyPr wrap="none" lIns="0" tIns="0" rIns="0" bIns="0" rtlCol="0" anchor="t"/>
            <a:lstStyle/>
            <a:p>
              <a:pPr marL="0" indent="0" algn="l">
                <a:lnSpc>
                  <a:spcPts val="1800"/>
                </a:lnSpc>
                <a:buNone/>
              </a:pPr>
              <a:r>
                <a:rPr lang="en-US" sz="2000" b="1" dirty="0">
                  <a:latin typeface="Lato Bold" pitchFamily="34" charset="0"/>
                  <a:ea typeface="Lato Bold" pitchFamily="34" charset="-122"/>
                  <a:cs typeface="Lato Bold" pitchFamily="34" charset="-120"/>
                </a:rPr>
                <a:t>Face Landmark Detection</a:t>
              </a:r>
              <a:endParaRPr lang="en-US" sz="2000" dirty="0"/>
            </a:p>
          </p:txBody>
        </p:sp>
        <p:sp>
          <p:nvSpPr>
            <p:cNvPr id="11" name="Text 7"/>
            <p:cNvSpPr/>
            <p:nvPr/>
          </p:nvSpPr>
          <p:spPr>
            <a:xfrm>
              <a:off x="1467683" y="3085982"/>
              <a:ext cx="4912335" cy="228718"/>
            </a:xfrm>
            <a:prstGeom prst="rect">
              <a:avLst/>
            </a:prstGeom>
            <a:noFill/>
            <a:ln/>
          </p:spPr>
          <p:txBody>
            <a:bodyPr wrap="none" lIns="0" tIns="0" rIns="0" bIns="0" rtlCol="0" anchor="t"/>
            <a:lstStyle/>
            <a:p>
              <a:pPr marL="0" indent="0" algn="l">
                <a:lnSpc>
                  <a:spcPts val="1500"/>
                </a:lnSpc>
                <a:buNone/>
              </a:pPr>
              <a:r>
                <a:rPr lang="en-US" sz="1600" dirty="0">
                  <a:latin typeface="Lato" pitchFamily="34" charset="0"/>
                  <a:ea typeface="Lato" pitchFamily="34" charset="-122"/>
                  <a:cs typeface="Lato" pitchFamily="34" charset="-120"/>
                </a:rPr>
                <a:t>Identifying key facial points (MediaPipe Face Mesh).</a:t>
              </a:r>
              <a:endParaRPr lang="en-US" sz="1600" dirty="0"/>
            </a:p>
          </p:txBody>
        </p:sp>
      </p:grpSp>
      <p:grpSp>
        <p:nvGrpSpPr>
          <p:cNvPr id="38" name="Group 37">
            <a:extLst>
              <a:ext uri="{FF2B5EF4-FFF2-40B4-BE49-F238E27FC236}">
                <a16:creationId xmlns:a16="http://schemas.microsoft.com/office/drawing/2014/main" id="{42BA48A8-0736-4DD4-8EEC-06A3DD63739D}"/>
              </a:ext>
            </a:extLst>
          </p:cNvPr>
          <p:cNvGrpSpPr/>
          <p:nvPr/>
        </p:nvGrpSpPr>
        <p:grpSpPr>
          <a:xfrm>
            <a:off x="1373267" y="5461148"/>
            <a:ext cx="5592062" cy="878086"/>
            <a:chOff x="787956" y="3512582"/>
            <a:chExt cx="5592062" cy="878086"/>
          </a:xfrm>
        </p:grpSpPr>
        <p:sp>
          <p:nvSpPr>
            <p:cNvPr id="12" name="Shape 8"/>
            <p:cNvSpPr/>
            <p:nvPr/>
          </p:nvSpPr>
          <p:spPr>
            <a:xfrm>
              <a:off x="787956" y="3512582"/>
              <a:ext cx="585311" cy="878086"/>
            </a:xfrm>
            <a:prstGeom prst="roundRect">
              <a:avLst>
                <a:gd name="adj" fmla="val 360065"/>
              </a:avLst>
            </a:prstGeom>
            <a:solidFill>
              <a:srgbClr val="E5DFD2"/>
            </a:solidFill>
            <a:ln/>
          </p:spPr>
          <p:txBody>
            <a:bodyPr/>
            <a:lstStyle/>
            <a:p>
              <a:endParaRPr lang="en-US"/>
            </a:p>
          </p:txBody>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0836" y="3841790"/>
              <a:ext cx="219432" cy="219432"/>
            </a:xfrm>
            <a:prstGeom prst="rect">
              <a:avLst/>
            </a:prstGeom>
          </p:spPr>
        </p:pic>
        <p:sp>
          <p:nvSpPr>
            <p:cNvPr id="14" name="Text 9"/>
            <p:cNvSpPr/>
            <p:nvPr/>
          </p:nvSpPr>
          <p:spPr>
            <a:xfrm>
              <a:off x="1467683" y="3658910"/>
              <a:ext cx="1829395" cy="228719"/>
            </a:xfrm>
            <a:prstGeom prst="rect">
              <a:avLst/>
            </a:prstGeom>
            <a:noFill/>
            <a:ln/>
          </p:spPr>
          <p:txBody>
            <a:bodyPr wrap="none" lIns="0" tIns="0" rIns="0" bIns="0" rtlCol="0" anchor="t"/>
            <a:lstStyle/>
            <a:p>
              <a:pPr marL="0" indent="0" algn="l">
                <a:lnSpc>
                  <a:spcPts val="1800"/>
                </a:lnSpc>
                <a:buNone/>
              </a:pPr>
              <a:r>
                <a:rPr lang="en-US" sz="2000" b="1" dirty="0">
                  <a:latin typeface="Lato Bold" pitchFamily="34" charset="0"/>
                  <a:ea typeface="Lato Bold" pitchFamily="34" charset="-122"/>
                  <a:cs typeface="Lato Bold" pitchFamily="34" charset="-120"/>
                </a:rPr>
                <a:t>Feature Extraction</a:t>
              </a:r>
              <a:endParaRPr lang="en-US" sz="2000" dirty="0"/>
            </a:p>
          </p:txBody>
        </p:sp>
        <p:sp>
          <p:nvSpPr>
            <p:cNvPr id="15" name="Text 10"/>
            <p:cNvSpPr/>
            <p:nvPr/>
          </p:nvSpPr>
          <p:spPr>
            <a:xfrm>
              <a:off x="1467683" y="4037701"/>
              <a:ext cx="4912335" cy="249407"/>
            </a:xfrm>
            <a:prstGeom prst="rect">
              <a:avLst/>
            </a:prstGeom>
            <a:noFill/>
            <a:ln/>
          </p:spPr>
          <p:txBody>
            <a:bodyPr wrap="none" lIns="0" tIns="0" rIns="0" bIns="0" rtlCol="0" anchor="t"/>
            <a:lstStyle/>
            <a:p>
              <a:pPr marL="0" indent="0" algn="l">
                <a:lnSpc>
                  <a:spcPts val="1500"/>
                </a:lnSpc>
                <a:buNone/>
              </a:pPr>
              <a:r>
                <a:rPr lang="en-US" sz="1600" dirty="0">
                  <a:latin typeface="Lato" pitchFamily="34" charset="0"/>
                  <a:ea typeface="Lato" pitchFamily="34" charset="-122"/>
                  <a:cs typeface="Lato" pitchFamily="34" charset="-120"/>
                </a:rPr>
                <a:t>Eye Aspect Ratio, blink rate, head pose, etc.</a:t>
              </a:r>
              <a:endParaRPr lang="en-US" sz="1600" dirty="0"/>
            </a:p>
          </p:txBody>
        </p:sp>
      </p:grpSp>
      <p:grpSp>
        <p:nvGrpSpPr>
          <p:cNvPr id="35" name="Group 34">
            <a:extLst>
              <a:ext uri="{FF2B5EF4-FFF2-40B4-BE49-F238E27FC236}">
                <a16:creationId xmlns:a16="http://schemas.microsoft.com/office/drawing/2014/main" id="{E91FDC19-EE92-0ECA-1924-F4FFE0DC9EDB}"/>
              </a:ext>
            </a:extLst>
          </p:cNvPr>
          <p:cNvGrpSpPr/>
          <p:nvPr/>
        </p:nvGrpSpPr>
        <p:grpSpPr>
          <a:xfrm>
            <a:off x="7665071" y="2478460"/>
            <a:ext cx="5592062" cy="878086"/>
            <a:chOff x="787956" y="4485084"/>
            <a:chExt cx="5592062" cy="878086"/>
          </a:xfrm>
        </p:grpSpPr>
        <p:sp>
          <p:nvSpPr>
            <p:cNvPr id="16" name="Shape 11"/>
            <p:cNvSpPr/>
            <p:nvPr/>
          </p:nvSpPr>
          <p:spPr>
            <a:xfrm>
              <a:off x="787956" y="4485084"/>
              <a:ext cx="585311" cy="878086"/>
            </a:xfrm>
            <a:prstGeom prst="roundRect">
              <a:avLst>
                <a:gd name="adj" fmla="val 360065"/>
              </a:avLst>
            </a:prstGeom>
            <a:solidFill>
              <a:srgbClr val="E5DFD2"/>
            </a:solidFill>
            <a:ln/>
          </p:spPr>
          <p:txBody>
            <a:bodyPr/>
            <a:lstStyle/>
            <a:p>
              <a:endParaRPr lang="en-US"/>
            </a:p>
          </p:txBody>
        </p:sp>
        <p:pic>
          <p:nvPicPr>
            <p:cNvPr id="17"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0836" y="4814292"/>
              <a:ext cx="219432" cy="219432"/>
            </a:xfrm>
            <a:prstGeom prst="rect">
              <a:avLst/>
            </a:prstGeom>
          </p:spPr>
        </p:pic>
        <p:sp>
          <p:nvSpPr>
            <p:cNvPr id="18" name="Text 12"/>
            <p:cNvSpPr/>
            <p:nvPr/>
          </p:nvSpPr>
          <p:spPr>
            <a:xfrm>
              <a:off x="1467683" y="4631412"/>
              <a:ext cx="1829395" cy="228719"/>
            </a:xfrm>
            <a:prstGeom prst="rect">
              <a:avLst/>
            </a:prstGeom>
            <a:noFill/>
            <a:ln/>
          </p:spPr>
          <p:txBody>
            <a:bodyPr wrap="none" lIns="0" tIns="0" rIns="0" bIns="0" rtlCol="0" anchor="t"/>
            <a:lstStyle/>
            <a:p>
              <a:pPr marL="0" indent="0" algn="l">
                <a:lnSpc>
                  <a:spcPts val="1800"/>
                </a:lnSpc>
                <a:buNone/>
              </a:pPr>
              <a:r>
                <a:rPr lang="en-US" sz="2000" b="1" dirty="0">
                  <a:latin typeface="Lato Bold" pitchFamily="34" charset="0"/>
                  <a:ea typeface="Lato Bold" pitchFamily="34" charset="-122"/>
                  <a:cs typeface="Lato Bold" pitchFamily="34" charset="-120"/>
                </a:rPr>
                <a:t>Emotion Classification</a:t>
              </a:r>
              <a:endParaRPr lang="en-US" sz="2000" dirty="0"/>
            </a:p>
          </p:txBody>
        </p:sp>
        <p:sp>
          <p:nvSpPr>
            <p:cNvPr id="19" name="Text 13"/>
            <p:cNvSpPr/>
            <p:nvPr/>
          </p:nvSpPr>
          <p:spPr>
            <a:xfrm>
              <a:off x="1467683" y="5030987"/>
              <a:ext cx="4912335" cy="192524"/>
            </a:xfrm>
            <a:prstGeom prst="rect">
              <a:avLst/>
            </a:prstGeom>
            <a:noFill/>
            <a:ln/>
          </p:spPr>
          <p:txBody>
            <a:bodyPr wrap="none" lIns="0" tIns="0" rIns="0" bIns="0" rtlCol="0" anchor="t"/>
            <a:lstStyle/>
            <a:p>
              <a:pPr marL="0" indent="0" algn="l">
                <a:lnSpc>
                  <a:spcPts val="1500"/>
                </a:lnSpc>
                <a:buNone/>
              </a:pPr>
              <a:r>
                <a:rPr lang="en-US" sz="1600" dirty="0">
                  <a:latin typeface="Lato" pitchFamily="34" charset="0"/>
                  <a:ea typeface="Lato" pitchFamily="34" charset="-122"/>
                  <a:cs typeface="Lato" pitchFamily="34" charset="-120"/>
                </a:rPr>
                <a:t>Inferring states (e.g., focused, confused, bored).</a:t>
              </a:r>
              <a:endParaRPr lang="en-US" sz="1600" dirty="0"/>
            </a:p>
          </p:txBody>
        </p:sp>
      </p:grpSp>
      <p:grpSp>
        <p:nvGrpSpPr>
          <p:cNvPr id="36" name="Group 35">
            <a:extLst>
              <a:ext uri="{FF2B5EF4-FFF2-40B4-BE49-F238E27FC236}">
                <a16:creationId xmlns:a16="http://schemas.microsoft.com/office/drawing/2014/main" id="{4A351DF7-2B59-95AC-9D05-0BCD2A44636F}"/>
              </a:ext>
            </a:extLst>
          </p:cNvPr>
          <p:cNvGrpSpPr/>
          <p:nvPr/>
        </p:nvGrpSpPr>
        <p:grpSpPr>
          <a:xfrm>
            <a:off x="7665071" y="3940005"/>
            <a:ext cx="5592062" cy="878086"/>
            <a:chOff x="787956" y="5457587"/>
            <a:chExt cx="5592062" cy="878086"/>
          </a:xfrm>
        </p:grpSpPr>
        <p:sp>
          <p:nvSpPr>
            <p:cNvPr id="20" name="Shape 14"/>
            <p:cNvSpPr/>
            <p:nvPr/>
          </p:nvSpPr>
          <p:spPr>
            <a:xfrm>
              <a:off x="787956" y="5457587"/>
              <a:ext cx="585311" cy="878086"/>
            </a:xfrm>
            <a:prstGeom prst="roundRect">
              <a:avLst>
                <a:gd name="adj" fmla="val 360065"/>
              </a:avLst>
            </a:prstGeom>
            <a:solidFill>
              <a:srgbClr val="E5DFD2"/>
            </a:solidFill>
            <a:ln/>
          </p:spPr>
          <p:txBody>
            <a:bodyPr/>
            <a:lstStyle/>
            <a:p>
              <a:endParaRPr lang="en-US"/>
            </a:p>
          </p:txBody>
        </p:sp>
        <p:pic>
          <p:nvPicPr>
            <p:cNvPr id="21"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70836" y="5786795"/>
              <a:ext cx="219432" cy="219432"/>
            </a:xfrm>
            <a:prstGeom prst="rect">
              <a:avLst/>
            </a:prstGeom>
          </p:spPr>
        </p:pic>
        <p:sp>
          <p:nvSpPr>
            <p:cNvPr id="22" name="Text 15"/>
            <p:cNvSpPr/>
            <p:nvPr/>
          </p:nvSpPr>
          <p:spPr>
            <a:xfrm>
              <a:off x="1467683" y="5603915"/>
              <a:ext cx="1829395" cy="228719"/>
            </a:xfrm>
            <a:prstGeom prst="rect">
              <a:avLst/>
            </a:prstGeom>
            <a:noFill/>
            <a:ln/>
          </p:spPr>
          <p:txBody>
            <a:bodyPr wrap="none" lIns="0" tIns="0" rIns="0" bIns="0" rtlCol="0" anchor="t"/>
            <a:lstStyle/>
            <a:p>
              <a:pPr marL="0" indent="0" algn="l">
                <a:lnSpc>
                  <a:spcPts val="1800"/>
                </a:lnSpc>
                <a:buNone/>
              </a:pPr>
              <a:r>
                <a:rPr lang="en-US" sz="2000" b="1" dirty="0">
                  <a:latin typeface="Lato Bold" pitchFamily="34" charset="0"/>
                  <a:ea typeface="Lato Bold" pitchFamily="34" charset="-122"/>
                  <a:cs typeface="Lato Bold" pitchFamily="34" charset="-120"/>
                </a:rPr>
                <a:t>Emotion Embeddings</a:t>
              </a:r>
              <a:endParaRPr lang="en-US" sz="2000" dirty="0"/>
            </a:p>
          </p:txBody>
        </p:sp>
        <p:sp>
          <p:nvSpPr>
            <p:cNvPr id="23" name="Text 16"/>
            <p:cNvSpPr/>
            <p:nvPr/>
          </p:nvSpPr>
          <p:spPr>
            <a:xfrm>
              <a:off x="1467683" y="5982707"/>
              <a:ext cx="4912335" cy="228718"/>
            </a:xfrm>
            <a:prstGeom prst="rect">
              <a:avLst/>
            </a:prstGeom>
            <a:noFill/>
            <a:ln/>
          </p:spPr>
          <p:txBody>
            <a:bodyPr wrap="none" lIns="0" tIns="0" rIns="0" bIns="0" rtlCol="0" anchor="t"/>
            <a:lstStyle/>
            <a:p>
              <a:pPr marL="0" indent="0" algn="l">
                <a:lnSpc>
                  <a:spcPts val="1500"/>
                </a:lnSpc>
                <a:buNone/>
              </a:pPr>
              <a:r>
                <a:rPr lang="en-US" sz="1600" dirty="0">
                  <a:latin typeface="Lato" pitchFamily="34" charset="0"/>
                  <a:ea typeface="Lato" pitchFamily="34" charset="-122"/>
                  <a:cs typeface="Lato" pitchFamily="34" charset="-120"/>
                </a:rPr>
                <a:t>Creating numerical representations of states.</a:t>
              </a:r>
              <a:endParaRPr lang="en-US" sz="1600" dirty="0"/>
            </a:p>
          </p:txBody>
        </p:sp>
      </p:grpSp>
      <p:grpSp>
        <p:nvGrpSpPr>
          <p:cNvPr id="37" name="Group 36">
            <a:extLst>
              <a:ext uri="{FF2B5EF4-FFF2-40B4-BE49-F238E27FC236}">
                <a16:creationId xmlns:a16="http://schemas.microsoft.com/office/drawing/2014/main" id="{E3967BC7-221A-7EA3-3011-BAD05C0A580D}"/>
              </a:ext>
            </a:extLst>
          </p:cNvPr>
          <p:cNvGrpSpPr/>
          <p:nvPr/>
        </p:nvGrpSpPr>
        <p:grpSpPr>
          <a:xfrm>
            <a:off x="7665071" y="5369473"/>
            <a:ext cx="5592062" cy="878086"/>
            <a:chOff x="787956" y="6430089"/>
            <a:chExt cx="5592062" cy="878086"/>
          </a:xfrm>
        </p:grpSpPr>
        <p:sp>
          <p:nvSpPr>
            <p:cNvPr id="24" name="Shape 17"/>
            <p:cNvSpPr/>
            <p:nvPr/>
          </p:nvSpPr>
          <p:spPr>
            <a:xfrm>
              <a:off x="787956" y="6430089"/>
              <a:ext cx="585311" cy="878086"/>
            </a:xfrm>
            <a:prstGeom prst="roundRect">
              <a:avLst>
                <a:gd name="adj" fmla="val 360065"/>
              </a:avLst>
            </a:prstGeom>
            <a:solidFill>
              <a:srgbClr val="E5DFD2"/>
            </a:solidFill>
            <a:ln/>
          </p:spPr>
          <p:txBody>
            <a:bodyPr/>
            <a:lstStyle/>
            <a:p>
              <a:endParaRPr lang="en-US"/>
            </a:p>
          </p:txBody>
        </p:sp>
        <p:pic>
          <p:nvPicPr>
            <p:cNvPr id="25"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70836" y="6759297"/>
              <a:ext cx="219432" cy="219432"/>
            </a:xfrm>
            <a:prstGeom prst="rect">
              <a:avLst/>
            </a:prstGeom>
          </p:spPr>
        </p:pic>
        <p:sp>
          <p:nvSpPr>
            <p:cNvPr id="26" name="Text 18"/>
            <p:cNvSpPr/>
            <p:nvPr/>
          </p:nvSpPr>
          <p:spPr>
            <a:xfrm>
              <a:off x="1467683" y="6576417"/>
              <a:ext cx="1829395" cy="228719"/>
            </a:xfrm>
            <a:prstGeom prst="rect">
              <a:avLst/>
            </a:prstGeom>
            <a:noFill/>
            <a:ln/>
          </p:spPr>
          <p:txBody>
            <a:bodyPr wrap="none" lIns="0" tIns="0" rIns="0" bIns="0" rtlCol="0" anchor="t"/>
            <a:lstStyle/>
            <a:p>
              <a:pPr marL="0" indent="0" algn="l">
                <a:lnSpc>
                  <a:spcPts val="1800"/>
                </a:lnSpc>
                <a:buNone/>
              </a:pPr>
              <a:r>
                <a:rPr lang="en-US" sz="2000" b="1" dirty="0">
                  <a:latin typeface="Lato Bold" pitchFamily="34" charset="0"/>
                  <a:ea typeface="Lato Bold" pitchFamily="34" charset="-122"/>
                  <a:cs typeface="Lato Bold" pitchFamily="34" charset="-120"/>
                </a:rPr>
                <a:t>Module Integration</a:t>
              </a:r>
              <a:endParaRPr lang="en-US" sz="2000" dirty="0"/>
            </a:p>
          </p:txBody>
        </p:sp>
        <p:sp>
          <p:nvSpPr>
            <p:cNvPr id="27" name="Text 19"/>
            <p:cNvSpPr/>
            <p:nvPr/>
          </p:nvSpPr>
          <p:spPr>
            <a:xfrm>
              <a:off x="1467683" y="6944819"/>
              <a:ext cx="4912335" cy="228718"/>
            </a:xfrm>
            <a:prstGeom prst="rect">
              <a:avLst/>
            </a:prstGeom>
            <a:noFill/>
            <a:ln/>
          </p:spPr>
          <p:txBody>
            <a:bodyPr wrap="none" lIns="0" tIns="0" rIns="0" bIns="0" rtlCol="0" anchor="t"/>
            <a:lstStyle/>
            <a:p>
              <a:pPr marL="0" indent="0" algn="l">
                <a:lnSpc>
                  <a:spcPts val="1500"/>
                </a:lnSpc>
                <a:buNone/>
              </a:pPr>
              <a:r>
                <a:rPr lang="en-US" sz="1600" dirty="0">
                  <a:latin typeface="Lato" pitchFamily="34" charset="0"/>
                  <a:ea typeface="Lato" pitchFamily="34" charset="-122"/>
                  <a:cs typeface="Lato" pitchFamily="34" charset="-120"/>
                </a:rPr>
                <a:t>Providing insights to other system components.</a:t>
              </a:r>
              <a:endParaRPr lang="en-US" sz="1600" dirty="0"/>
            </a:p>
          </p:txBody>
        </p:sp>
      </p:grpSp>
      <p:sp>
        <p:nvSpPr>
          <p:cNvPr id="28" name="Text 20"/>
          <p:cNvSpPr/>
          <p:nvPr/>
        </p:nvSpPr>
        <p:spPr>
          <a:xfrm>
            <a:off x="605074" y="6822008"/>
            <a:ext cx="13054489" cy="192524"/>
          </a:xfrm>
          <a:prstGeom prst="rect">
            <a:avLst/>
          </a:prstGeom>
          <a:noFill/>
          <a:ln/>
        </p:spPr>
        <p:txBody>
          <a:bodyPr wrap="none" lIns="0" tIns="0" rIns="0" bIns="0" rtlCol="0" anchor="t"/>
          <a:lstStyle/>
          <a:p>
            <a:pPr marL="0" indent="0" algn="l">
              <a:lnSpc>
                <a:spcPts val="1500"/>
              </a:lnSpc>
              <a:buNone/>
            </a:pPr>
            <a:r>
              <a:rPr lang="en-US" sz="1600" dirty="0">
                <a:latin typeface="Lato" pitchFamily="34" charset="0"/>
                <a:ea typeface="Lato" pitchFamily="34" charset="-122"/>
                <a:cs typeface="Lato" pitchFamily="34" charset="-120"/>
              </a:rPr>
              <a:t>This pipeline ensures real-time analysis for adaptive learning interventions while strictly adhering to privacy protocols by never storing raw biometric data.</a:t>
            </a:r>
            <a:endParaRPr lang="en-US" sz="1600" dirty="0"/>
          </a:p>
        </p:txBody>
      </p:sp>
      <p:sp>
        <p:nvSpPr>
          <p:cNvPr id="30" name="TextBox 29">
            <a:extLst>
              <a:ext uri="{FF2B5EF4-FFF2-40B4-BE49-F238E27FC236}">
                <a16:creationId xmlns:a16="http://schemas.microsoft.com/office/drawing/2014/main" id="{770F68AF-3C69-1B87-8506-F0D5907D3B59}"/>
              </a:ext>
            </a:extLst>
          </p:cNvPr>
          <p:cNvSpPr txBox="1"/>
          <p:nvPr/>
        </p:nvSpPr>
        <p:spPr>
          <a:xfrm>
            <a:off x="787956" y="1740336"/>
            <a:ext cx="12871607" cy="584775"/>
          </a:xfrm>
          <a:prstGeom prst="rect">
            <a:avLst/>
          </a:prstGeom>
          <a:noFill/>
        </p:spPr>
        <p:txBody>
          <a:bodyPr wrap="square" rtlCol="0">
            <a:spAutoFit/>
          </a:bodyPr>
          <a:lstStyle/>
          <a:p>
            <a:r>
              <a:rPr lang="en-US" sz="1600" dirty="0">
                <a:latin typeface="Lato" panose="020F0502020204030203" pitchFamily="34" charset="0"/>
                <a:ea typeface="Lato" panose="020F0502020204030203" pitchFamily="34" charset="0"/>
                <a:cs typeface="Lato" panose="020F0502020204030203" pitchFamily="34" charset="0"/>
              </a:rPr>
              <a:t>Our privacy-preserving module processes visual data through a multi-stage pipeline to infer student emotional and attentional states, generating embeddings for adaptive feedback.</a:t>
            </a:r>
          </a:p>
        </p:txBody>
      </p:sp>
      <p:sp>
        <p:nvSpPr>
          <p:cNvPr id="39" name="Text 0">
            <a:extLst>
              <a:ext uri="{FF2B5EF4-FFF2-40B4-BE49-F238E27FC236}">
                <a16:creationId xmlns:a16="http://schemas.microsoft.com/office/drawing/2014/main" id="{ED63FF07-CEDA-970C-E29D-0F4D9A75E7FB}"/>
              </a:ext>
            </a:extLst>
          </p:cNvPr>
          <p:cNvSpPr/>
          <p:nvPr/>
        </p:nvSpPr>
        <p:spPr>
          <a:xfrm>
            <a:off x="793790" y="403817"/>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Learning‑Objective‑Aware Lecture Summarization &amp; Flashcards</a:t>
            </a:r>
            <a:endParaRPr lang="en-US" sz="3800" dirty="0"/>
          </a:p>
        </p:txBody>
      </p:sp>
      <p:sp>
        <p:nvSpPr>
          <p:cNvPr id="40" name="Text 0">
            <a:extLst>
              <a:ext uri="{FF2B5EF4-FFF2-40B4-BE49-F238E27FC236}">
                <a16:creationId xmlns:a16="http://schemas.microsoft.com/office/drawing/2014/main" id="{CA75F24C-98E9-ED9D-6BD2-E783516BB9B9}"/>
              </a:ext>
            </a:extLst>
          </p:cNvPr>
          <p:cNvSpPr/>
          <p:nvPr/>
        </p:nvSpPr>
        <p:spPr>
          <a:xfrm>
            <a:off x="816650" y="1034731"/>
            <a:ext cx="3144365" cy="496133"/>
          </a:xfrm>
          <a:prstGeom prst="rect">
            <a:avLst/>
          </a:prstGeom>
          <a:noFill/>
          <a:ln/>
        </p:spPr>
        <p:txBody>
          <a:bodyPr wrap="none" lIns="0" tIns="0" rIns="0" bIns="0" rtlCol="0" anchor="t"/>
          <a:lstStyle/>
          <a:p>
            <a:pPr>
              <a:lnSpc>
                <a:spcPts val="4950"/>
              </a:lnSpc>
            </a:pPr>
            <a:r>
              <a:rPr lang="en-US" sz="3000" b="1" dirty="0">
                <a:solidFill>
                  <a:srgbClr val="282824"/>
                </a:solidFill>
                <a:latin typeface="Lato Bold" pitchFamily="34" charset="0"/>
                <a:ea typeface="Lato Bold" pitchFamily="34" charset="-122"/>
                <a:cs typeface="Lato Bold" pitchFamily="34" charset="-120"/>
              </a:rPr>
              <a:t>Implementation Overview</a:t>
            </a:r>
            <a:endParaRPr lang="en-US" sz="3000" dirty="0"/>
          </a:p>
        </p:txBody>
      </p:sp>
      <p:sp>
        <p:nvSpPr>
          <p:cNvPr id="41" name="Rectangle 40">
            <a:extLst>
              <a:ext uri="{FF2B5EF4-FFF2-40B4-BE49-F238E27FC236}">
                <a16:creationId xmlns:a16="http://schemas.microsoft.com/office/drawing/2014/main" id="{F634201D-249A-3A58-19FF-060126374FD0}"/>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IT22224552    |    K.K.G.Y. </a:t>
            </a:r>
            <a:r>
              <a:rPr lang="en-US" sz="1600" dirty="0" err="1">
                <a:solidFill>
                  <a:schemeClr val="tx1"/>
                </a:solidFill>
                <a:latin typeface="Lato" pitchFamily="34" charset="0"/>
                <a:ea typeface="Lato" pitchFamily="34" charset="-122"/>
                <a:cs typeface="Lato" pitchFamily="34" charset="-120"/>
              </a:rPr>
              <a:t>Mihiraj</a:t>
            </a:r>
            <a:r>
              <a:rPr lang="en-US" sz="1600" dirty="0">
                <a:solidFill>
                  <a:schemeClr val="tx1"/>
                </a:solidFill>
                <a:latin typeface="Lato" pitchFamily="34" charset="0"/>
                <a:ea typeface="Lato" pitchFamily="34" charset="-122"/>
                <a:cs typeface="Lato" pitchFamily="34" charset="-120"/>
              </a:rPr>
              <a:t>    |    R26-SE-022</a:t>
            </a:r>
            <a:endParaRPr lang="en-US" sz="1600"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941903"/>
            <a:ext cx="7556421" cy="1700927"/>
          </a:xfrm>
          <a:prstGeom prst="rect">
            <a:avLst/>
          </a:prstGeom>
          <a:noFill/>
          <a:ln/>
        </p:spPr>
        <p:txBody>
          <a:bodyPr wrap="square" lIns="0" tIns="0" rIns="0" bIns="0" rtlCol="0" anchor="t"/>
          <a:lstStyle/>
          <a:p>
            <a:pPr marL="0" indent="0" algn="l">
              <a:lnSpc>
                <a:spcPts val="4450"/>
              </a:lnSpc>
              <a:buNone/>
            </a:pPr>
            <a:r>
              <a:rPr lang="en-US" sz="3800" b="1" dirty="0">
                <a:latin typeface="Lato Bold" pitchFamily="34" charset="0"/>
                <a:ea typeface="Lato Bold" pitchFamily="34" charset="-122"/>
                <a:cs typeface="Lato Bold" pitchFamily="34" charset="-120"/>
              </a:rPr>
              <a:t>Component 4 - Emotion and Progress-Aware Adaptive Study Reminder System</a:t>
            </a:r>
            <a:endParaRPr lang="en-US" sz="3800" dirty="0"/>
          </a:p>
        </p:txBody>
      </p:sp>
      <p:sp>
        <p:nvSpPr>
          <p:cNvPr id="4" name="Shape 1"/>
          <p:cNvSpPr/>
          <p:nvPr/>
        </p:nvSpPr>
        <p:spPr>
          <a:xfrm>
            <a:off x="6280190" y="2860477"/>
            <a:ext cx="3705582" cy="1879759"/>
          </a:xfrm>
          <a:prstGeom prst="roundRect">
            <a:avLst>
              <a:gd name="adj" fmla="val 1448"/>
            </a:avLst>
          </a:prstGeom>
          <a:solidFill>
            <a:srgbClr val="E5DFD2"/>
          </a:solidFill>
          <a:ln/>
        </p:spPr>
        <p:txBody>
          <a:bodyPr/>
          <a:lstStyle/>
          <a:p>
            <a:endParaRPr lang="en-US"/>
          </a:p>
        </p:txBody>
      </p:sp>
      <p:sp>
        <p:nvSpPr>
          <p:cNvPr id="5" name="Text 2"/>
          <p:cNvSpPr/>
          <p:nvPr/>
        </p:nvSpPr>
        <p:spPr>
          <a:xfrm>
            <a:off x="6461641" y="3041928"/>
            <a:ext cx="2268260" cy="283488"/>
          </a:xfrm>
          <a:prstGeom prst="rect">
            <a:avLst/>
          </a:prstGeom>
          <a:noFill/>
          <a:ln/>
        </p:spPr>
        <p:txBody>
          <a:bodyPr wrap="none" lIns="0" tIns="0" rIns="0" bIns="0" rtlCol="0" anchor="t"/>
          <a:lstStyle/>
          <a:p>
            <a:pPr marL="0" indent="0" algn="l">
              <a:lnSpc>
                <a:spcPts val="2200"/>
              </a:lnSpc>
              <a:buNone/>
            </a:pPr>
            <a:r>
              <a:rPr lang="en-US" sz="2000" b="1" dirty="0">
                <a:latin typeface="Lato Bold" pitchFamily="34" charset="0"/>
                <a:ea typeface="Lato Bold" pitchFamily="34" charset="-122"/>
                <a:cs typeface="Lato Bold" pitchFamily="34" charset="-120"/>
              </a:rPr>
              <a:t>Problem</a:t>
            </a:r>
            <a:endParaRPr lang="en-US" sz="2000" dirty="0"/>
          </a:p>
        </p:txBody>
      </p:sp>
      <p:sp>
        <p:nvSpPr>
          <p:cNvPr id="6" name="Text 3"/>
          <p:cNvSpPr/>
          <p:nvPr/>
        </p:nvSpPr>
        <p:spPr>
          <a:xfrm>
            <a:off x="6461641" y="3412450"/>
            <a:ext cx="3342680" cy="522446"/>
          </a:xfrm>
          <a:prstGeom prst="rect">
            <a:avLst/>
          </a:prstGeom>
          <a:noFill/>
          <a:ln/>
        </p:spPr>
        <p:txBody>
          <a:bodyPr wrap="square" lIns="0" tIns="0" rIns="0" bIns="0" rtlCol="0" anchor="t"/>
          <a:lstStyle/>
          <a:p>
            <a:pPr marL="342900" indent="-342900" algn="l">
              <a:lnSpc>
                <a:spcPts val="205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Existing reminder tools ignore emotional readiness.</a:t>
            </a:r>
            <a:endParaRPr lang="en-US" sz="1600" dirty="0"/>
          </a:p>
        </p:txBody>
      </p:sp>
      <p:sp>
        <p:nvSpPr>
          <p:cNvPr id="7" name="Shape 4"/>
          <p:cNvSpPr/>
          <p:nvPr/>
        </p:nvSpPr>
        <p:spPr>
          <a:xfrm>
            <a:off x="10130790" y="2860477"/>
            <a:ext cx="3705701" cy="1879759"/>
          </a:xfrm>
          <a:prstGeom prst="roundRect">
            <a:avLst>
              <a:gd name="adj" fmla="val 1448"/>
            </a:avLst>
          </a:prstGeom>
          <a:solidFill>
            <a:srgbClr val="E5DFD2"/>
          </a:solidFill>
          <a:ln/>
        </p:spPr>
        <p:txBody>
          <a:bodyPr/>
          <a:lstStyle/>
          <a:p>
            <a:endParaRPr lang="en-US"/>
          </a:p>
        </p:txBody>
      </p:sp>
      <p:sp>
        <p:nvSpPr>
          <p:cNvPr id="8" name="Text 5"/>
          <p:cNvSpPr/>
          <p:nvPr/>
        </p:nvSpPr>
        <p:spPr>
          <a:xfrm>
            <a:off x="10312360" y="3041928"/>
            <a:ext cx="2268260" cy="283488"/>
          </a:xfrm>
          <a:prstGeom prst="rect">
            <a:avLst/>
          </a:prstGeom>
          <a:noFill/>
          <a:ln/>
        </p:spPr>
        <p:txBody>
          <a:bodyPr wrap="none" lIns="0" tIns="0" rIns="0" bIns="0" rtlCol="0" anchor="t"/>
          <a:lstStyle/>
          <a:p>
            <a:pPr marL="0" indent="0" algn="l">
              <a:lnSpc>
                <a:spcPts val="2200"/>
              </a:lnSpc>
              <a:buNone/>
            </a:pPr>
            <a:r>
              <a:rPr lang="en-US" sz="2000" b="1" dirty="0">
                <a:latin typeface="Lato Bold" pitchFamily="34" charset="0"/>
                <a:ea typeface="Lato Bold" pitchFamily="34" charset="-122"/>
                <a:cs typeface="Lato Bold" pitchFamily="34" charset="-120"/>
              </a:rPr>
              <a:t>Impact</a:t>
            </a:r>
            <a:endParaRPr lang="en-US" sz="2000" dirty="0"/>
          </a:p>
        </p:txBody>
      </p:sp>
      <p:sp>
        <p:nvSpPr>
          <p:cNvPr id="9" name="Text 6"/>
          <p:cNvSpPr/>
          <p:nvPr/>
        </p:nvSpPr>
        <p:spPr>
          <a:xfrm>
            <a:off x="10312360" y="3412450"/>
            <a:ext cx="3342799" cy="1146334"/>
          </a:xfrm>
          <a:prstGeom prst="rect">
            <a:avLst/>
          </a:prstGeom>
          <a:noFill/>
          <a:ln/>
        </p:spPr>
        <p:txBody>
          <a:bodyPr wrap="square" lIns="0" tIns="0" rIns="0" bIns="0" rtlCol="0" anchor="t"/>
          <a:lstStyle/>
          <a:p>
            <a:pPr marL="342900" indent="-342900" algn="l">
              <a:lnSpc>
                <a:spcPts val="205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Poor adherence to study schedules</a:t>
            </a:r>
            <a:endParaRPr lang="en-US" sz="1600" dirty="0"/>
          </a:p>
          <a:p>
            <a:pPr marL="342900" indent="-342900" algn="l">
              <a:lnSpc>
                <a:spcPts val="205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Cognitive overload from poorly timed reminders</a:t>
            </a:r>
            <a:endParaRPr lang="en-US" sz="1600" dirty="0"/>
          </a:p>
          <a:p>
            <a:pPr marL="342900" indent="-342900" algn="l">
              <a:lnSpc>
                <a:spcPts val="205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Reduced knowledge retention</a:t>
            </a:r>
            <a:endParaRPr lang="en-US" sz="1600" dirty="0"/>
          </a:p>
        </p:txBody>
      </p:sp>
      <p:sp>
        <p:nvSpPr>
          <p:cNvPr id="10" name="Shape 7"/>
          <p:cNvSpPr/>
          <p:nvPr/>
        </p:nvSpPr>
        <p:spPr>
          <a:xfrm>
            <a:off x="6280190" y="4885373"/>
            <a:ext cx="3705582" cy="2402205"/>
          </a:xfrm>
          <a:prstGeom prst="roundRect">
            <a:avLst>
              <a:gd name="adj" fmla="val 1133"/>
            </a:avLst>
          </a:prstGeom>
          <a:solidFill>
            <a:srgbClr val="E5DFD2"/>
          </a:solidFill>
          <a:ln/>
        </p:spPr>
        <p:txBody>
          <a:bodyPr/>
          <a:lstStyle/>
          <a:p>
            <a:endParaRPr lang="en-US"/>
          </a:p>
        </p:txBody>
      </p:sp>
      <p:sp>
        <p:nvSpPr>
          <p:cNvPr id="11" name="Text 8"/>
          <p:cNvSpPr/>
          <p:nvPr/>
        </p:nvSpPr>
        <p:spPr>
          <a:xfrm>
            <a:off x="6461641" y="5066824"/>
            <a:ext cx="2268260" cy="283488"/>
          </a:xfrm>
          <a:prstGeom prst="rect">
            <a:avLst/>
          </a:prstGeom>
          <a:noFill/>
          <a:ln/>
        </p:spPr>
        <p:txBody>
          <a:bodyPr wrap="none" lIns="0" tIns="0" rIns="0" bIns="0" rtlCol="0" anchor="t"/>
          <a:lstStyle/>
          <a:p>
            <a:pPr marL="0" indent="0" algn="l">
              <a:lnSpc>
                <a:spcPts val="2200"/>
              </a:lnSpc>
              <a:buNone/>
            </a:pPr>
            <a:r>
              <a:rPr lang="en-US" sz="2000" b="1" dirty="0">
                <a:latin typeface="Lato Bold" pitchFamily="34" charset="0"/>
                <a:ea typeface="Lato Bold" pitchFamily="34" charset="-122"/>
                <a:cs typeface="Lato Bold" pitchFamily="34" charset="-120"/>
              </a:rPr>
              <a:t>Novelty</a:t>
            </a:r>
            <a:endParaRPr lang="en-US" sz="2000" dirty="0"/>
          </a:p>
        </p:txBody>
      </p:sp>
      <p:sp>
        <p:nvSpPr>
          <p:cNvPr id="12" name="Text 9"/>
          <p:cNvSpPr/>
          <p:nvPr/>
        </p:nvSpPr>
        <p:spPr>
          <a:xfrm>
            <a:off x="6461641" y="5437346"/>
            <a:ext cx="3342680" cy="834390"/>
          </a:xfrm>
          <a:prstGeom prst="rect">
            <a:avLst/>
          </a:prstGeom>
          <a:noFill/>
          <a:ln/>
        </p:spPr>
        <p:txBody>
          <a:bodyPr wrap="square" lIns="0" tIns="0" rIns="0" bIns="0" rtlCol="0" anchor="t"/>
          <a:lstStyle/>
          <a:p>
            <a:pPr marL="342900" indent="-342900" algn="l">
              <a:lnSpc>
                <a:spcPts val="205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Emotion-aware reminder scheduling</a:t>
            </a:r>
            <a:endParaRPr lang="en-US" sz="1600" dirty="0"/>
          </a:p>
          <a:p>
            <a:pPr marL="342900" indent="-342900" algn="l">
              <a:lnSpc>
                <a:spcPts val="205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Reinforcement learning-based adaptive reminders</a:t>
            </a:r>
            <a:endParaRPr lang="en-US" sz="1600" dirty="0"/>
          </a:p>
        </p:txBody>
      </p:sp>
      <p:sp>
        <p:nvSpPr>
          <p:cNvPr id="13" name="Shape 10"/>
          <p:cNvSpPr/>
          <p:nvPr/>
        </p:nvSpPr>
        <p:spPr>
          <a:xfrm>
            <a:off x="10130909" y="4885373"/>
            <a:ext cx="3705701" cy="2402205"/>
          </a:xfrm>
          <a:prstGeom prst="roundRect">
            <a:avLst>
              <a:gd name="adj" fmla="val 1133"/>
            </a:avLst>
          </a:prstGeom>
          <a:solidFill>
            <a:srgbClr val="E5DFD2"/>
          </a:solidFill>
          <a:ln/>
        </p:spPr>
        <p:txBody>
          <a:bodyPr/>
          <a:lstStyle/>
          <a:p>
            <a:endParaRPr lang="en-US"/>
          </a:p>
        </p:txBody>
      </p:sp>
      <p:sp>
        <p:nvSpPr>
          <p:cNvPr id="14" name="Text 11"/>
          <p:cNvSpPr/>
          <p:nvPr/>
        </p:nvSpPr>
        <p:spPr>
          <a:xfrm>
            <a:off x="10312360" y="5066824"/>
            <a:ext cx="2268260" cy="283488"/>
          </a:xfrm>
          <a:prstGeom prst="rect">
            <a:avLst/>
          </a:prstGeom>
          <a:noFill/>
          <a:ln/>
        </p:spPr>
        <p:txBody>
          <a:bodyPr wrap="none" lIns="0" tIns="0" rIns="0" bIns="0" rtlCol="0" anchor="t"/>
          <a:lstStyle/>
          <a:p>
            <a:pPr marL="0" indent="0" algn="l">
              <a:lnSpc>
                <a:spcPts val="2200"/>
              </a:lnSpc>
              <a:buNone/>
            </a:pPr>
            <a:r>
              <a:rPr lang="en-US" sz="2000" b="1" dirty="0">
                <a:latin typeface="Lato Bold" pitchFamily="34" charset="0"/>
                <a:ea typeface="Lato Bold" pitchFamily="34" charset="-122"/>
                <a:cs typeface="Lato Bold" pitchFamily="34" charset="-120"/>
              </a:rPr>
              <a:t>Research Objectives</a:t>
            </a:r>
            <a:endParaRPr lang="en-US" sz="2000" dirty="0"/>
          </a:p>
        </p:txBody>
      </p:sp>
      <p:sp>
        <p:nvSpPr>
          <p:cNvPr id="15" name="Text 12"/>
          <p:cNvSpPr/>
          <p:nvPr/>
        </p:nvSpPr>
        <p:spPr>
          <a:xfrm>
            <a:off x="10312360" y="5437346"/>
            <a:ext cx="3342799" cy="1668780"/>
          </a:xfrm>
          <a:prstGeom prst="rect">
            <a:avLst/>
          </a:prstGeom>
          <a:noFill/>
          <a:ln/>
        </p:spPr>
        <p:txBody>
          <a:bodyPr wrap="square" lIns="0" tIns="0" rIns="0" bIns="0" rtlCol="0" anchor="t"/>
          <a:lstStyle/>
          <a:p>
            <a:pPr marL="342900" indent="-342900" algn="l">
              <a:lnSpc>
                <a:spcPts val="205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Optimize study scheduling for individual students</a:t>
            </a:r>
            <a:endParaRPr lang="en-US" sz="1600" dirty="0"/>
          </a:p>
          <a:p>
            <a:pPr marL="342900" indent="-342900" algn="l">
              <a:lnSpc>
                <a:spcPts val="205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Increase student adherence to study plans</a:t>
            </a:r>
            <a:endParaRPr lang="en-US" sz="1600" dirty="0"/>
          </a:p>
          <a:p>
            <a:pPr marL="342900" indent="-342900" algn="l">
              <a:lnSpc>
                <a:spcPts val="205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Reduce cognitive fatigue caused by inappropriate reminders</a:t>
            </a:r>
            <a:endParaRPr lang="en-US" sz="1600" dirty="0"/>
          </a:p>
        </p:txBody>
      </p:sp>
      <p:sp>
        <p:nvSpPr>
          <p:cNvPr id="17" name="Rectangle 16">
            <a:extLst>
              <a:ext uri="{FF2B5EF4-FFF2-40B4-BE49-F238E27FC236}">
                <a16:creationId xmlns:a16="http://schemas.microsoft.com/office/drawing/2014/main" id="{5AB97FAE-3253-918F-CE6A-1EB123891A10}"/>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IT22371690    |    </a:t>
            </a:r>
            <a:r>
              <a:rPr lang="en-US" sz="1600" dirty="0" err="1">
                <a:solidFill>
                  <a:schemeClr val="tx1"/>
                </a:solidFill>
                <a:latin typeface="Lato" pitchFamily="34" charset="0"/>
                <a:ea typeface="Lato" pitchFamily="34" charset="-122"/>
                <a:cs typeface="Lato" pitchFamily="34" charset="-120"/>
              </a:rPr>
              <a:t>Thathsara</a:t>
            </a:r>
            <a:r>
              <a:rPr lang="en-US" sz="1600" dirty="0">
                <a:solidFill>
                  <a:schemeClr val="tx1"/>
                </a:solidFill>
                <a:latin typeface="Lato" pitchFamily="34" charset="0"/>
                <a:ea typeface="Lato" pitchFamily="34" charset="-122"/>
                <a:cs typeface="Lato" pitchFamily="34" charset="-120"/>
              </a:rPr>
              <a:t> W.H.H.    |    R26-SE-022</a:t>
            </a:r>
            <a:endParaRPr lang="en-US" sz="1600" dirty="0">
              <a:solidFill>
                <a:schemeClr val="tx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nvSpPr>
        <p:spPr>
          <a:xfrm>
            <a:off x="793790" y="1670090"/>
            <a:ext cx="13042821" cy="476250"/>
          </a:xfrm>
          <a:prstGeom prst="rect">
            <a:avLst/>
          </a:prstGeom>
          <a:noFill/>
          <a:ln/>
        </p:spPr>
        <p:txBody>
          <a:bodyPr wrap="square" lIns="0" tIns="0" rIns="0" bIns="0" rtlCol="0" anchor="t"/>
          <a:lstStyle/>
          <a:p>
            <a:pPr marL="0" indent="0" algn="l">
              <a:lnSpc>
                <a:spcPts val="1850"/>
              </a:lnSpc>
              <a:buNone/>
            </a:pPr>
            <a:r>
              <a:rPr lang="en-US" sz="1600" dirty="0">
                <a:latin typeface="Lato" pitchFamily="34" charset="0"/>
                <a:ea typeface="Lato" pitchFamily="34" charset="-122"/>
                <a:cs typeface="Lato" pitchFamily="34" charset="-120"/>
              </a:rPr>
              <a:t>Our adaptive study reminder system integrates learning science with AI to tailor study interventions, ensuring optimal timing and effectiveness based on each student's unique learning state.</a:t>
            </a:r>
            <a:endParaRPr lang="en-US" sz="1600" dirty="0"/>
          </a:p>
        </p:txBody>
      </p:sp>
      <p:pic>
        <p:nvPicPr>
          <p:cNvPr id="4" name="Image 0" descr="preencoded.png"/>
          <p:cNvPicPr>
            <a:picLocks noChangeAspect="1"/>
          </p:cNvPicPr>
          <p:nvPr/>
        </p:nvPicPr>
        <p:blipFill>
          <a:blip r:embed="rId3"/>
          <a:stretch>
            <a:fillRect/>
          </a:stretch>
        </p:blipFill>
        <p:spPr>
          <a:xfrm>
            <a:off x="793789" y="2289810"/>
            <a:ext cx="13042821" cy="680442"/>
          </a:xfrm>
          <a:prstGeom prst="rect">
            <a:avLst/>
          </a:prstGeom>
        </p:spPr>
      </p:pic>
      <p:sp>
        <p:nvSpPr>
          <p:cNvPr id="5" name="Text 2"/>
          <p:cNvSpPr/>
          <p:nvPr/>
        </p:nvSpPr>
        <p:spPr>
          <a:xfrm>
            <a:off x="963811" y="3097768"/>
            <a:ext cx="2382322" cy="265747"/>
          </a:xfrm>
          <a:prstGeom prst="rect">
            <a:avLst/>
          </a:prstGeom>
          <a:noFill/>
          <a:ln/>
        </p:spPr>
        <p:txBody>
          <a:bodyPr wrap="none" lIns="0" tIns="0" rIns="0" bIns="0" rtlCol="0" anchor="t"/>
          <a:lstStyle/>
          <a:p>
            <a:pPr marL="0" indent="0" algn="l">
              <a:lnSpc>
                <a:spcPts val="2050"/>
              </a:lnSpc>
              <a:buNone/>
            </a:pPr>
            <a:r>
              <a:rPr lang="en-US" sz="2000" b="1" dirty="0">
                <a:latin typeface="Lato Bold" pitchFamily="34" charset="0"/>
                <a:ea typeface="Lato Bold" pitchFamily="34" charset="-122"/>
                <a:cs typeface="Lato Bold" pitchFamily="34" charset="-120"/>
              </a:rPr>
              <a:t>Spaced Repetition Model</a:t>
            </a:r>
            <a:endParaRPr lang="en-US" sz="2000" dirty="0"/>
          </a:p>
        </p:txBody>
      </p:sp>
      <p:sp>
        <p:nvSpPr>
          <p:cNvPr id="6" name="Text 3"/>
          <p:cNvSpPr/>
          <p:nvPr/>
        </p:nvSpPr>
        <p:spPr>
          <a:xfrm>
            <a:off x="963811" y="3439954"/>
            <a:ext cx="12702778" cy="238125"/>
          </a:xfrm>
          <a:prstGeom prst="rect">
            <a:avLst/>
          </a:prstGeom>
          <a:noFill/>
          <a:ln/>
        </p:spPr>
        <p:txBody>
          <a:bodyPr wrap="none" lIns="0" tIns="0" rIns="0" bIns="0" rtlCol="0" anchor="t"/>
          <a:lstStyle/>
          <a:p>
            <a:pPr marL="0" indent="0" algn="l">
              <a:lnSpc>
                <a:spcPts val="1850"/>
              </a:lnSpc>
              <a:buNone/>
            </a:pPr>
            <a:r>
              <a:rPr lang="en-US" sz="1600" dirty="0">
                <a:latin typeface="Lato" pitchFamily="34" charset="0"/>
                <a:ea typeface="Lato" pitchFamily="34" charset="-122"/>
                <a:cs typeface="Lato" pitchFamily="34" charset="-120"/>
              </a:rPr>
              <a:t>Utilises an extended SM-2 algorithm to dynamically adjust review intervals, optimising knowledge retention and recall efficiency.</a:t>
            </a:r>
            <a:endParaRPr lang="en-US" sz="1600" dirty="0"/>
          </a:p>
        </p:txBody>
      </p:sp>
      <p:pic>
        <p:nvPicPr>
          <p:cNvPr id="7" name="Image 1" descr="preencoded.png"/>
          <p:cNvPicPr>
            <a:picLocks noChangeAspect="1"/>
          </p:cNvPicPr>
          <p:nvPr/>
        </p:nvPicPr>
        <p:blipFill>
          <a:blip r:embed="rId4"/>
          <a:stretch>
            <a:fillRect/>
          </a:stretch>
        </p:blipFill>
        <p:spPr>
          <a:xfrm>
            <a:off x="793790" y="3848100"/>
            <a:ext cx="13042821" cy="680442"/>
          </a:xfrm>
          <a:prstGeom prst="rect">
            <a:avLst/>
          </a:prstGeom>
        </p:spPr>
      </p:pic>
      <p:sp>
        <p:nvSpPr>
          <p:cNvPr id="8" name="Text 4"/>
          <p:cNvSpPr/>
          <p:nvPr/>
        </p:nvSpPr>
        <p:spPr>
          <a:xfrm>
            <a:off x="963811" y="4656058"/>
            <a:ext cx="2126456" cy="265747"/>
          </a:xfrm>
          <a:prstGeom prst="rect">
            <a:avLst/>
          </a:prstGeom>
          <a:noFill/>
          <a:ln/>
        </p:spPr>
        <p:txBody>
          <a:bodyPr wrap="none" lIns="0" tIns="0" rIns="0" bIns="0" rtlCol="0" anchor="t"/>
          <a:lstStyle/>
          <a:p>
            <a:pPr marL="0" indent="0" algn="l">
              <a:lnSpc>
                <a:spcPts val="2050"/>
              </a:lnSpc>
              <a:buNone/>
            </a:pPr>
            <a:r>
              <a:rPr lang="en-US" sz="2000" b="1" dirty="0">
                <a:latin typeface="Lato Bold" pitchFamily="34" charset="0"/>
                <a:ea typeface="Lato Bold" pitchFamily="34" charset="-122"/>
                <a:cs typeface="Lato Bold" pitchFamily="34" charset="-120"/>
              </a:rPr>
              <a:t>Emotion Fusion</a:t>
            </a:r>
            <a:endParaRPr lang="en-US" sz="2000" dirty="0"/>
          </a:p>
        </p:txBody>
      </p:sp>
      <p:sp>
        <p:nvSpPr>
          <p:cNvPr id="9" name="Text 5"/>
          <p:cNvSpPr/>
          <p:nvPr/>
        </p:nvSpPr>
        <p:spPr>
          <a:xfrm>
            <a:off x="963811" y="4998244"/>
            <a:ext cx="12702778" cy="238125"/>
          </a:xfrm>
          <a:prstGeom prst="rect">
            <a:avLst/>
          </a:prstGeom>
          <a:noFill/>
          <a:ln/>
        </p:spPr>
        <p:txBody>
          <a:bodyPr wrap="none" lIns="0" tIns="0" rIns="0" bIns="0" rtlCol="0" anchor="t"/>
          <a:lstStyle/>
          <a:p>
            <a:pPr marL="0" indent="0" algn="l">
              <a:lnSpc>
                <a:spcPts val="1850"/>
              </a:lnSpc>
              <a:buNone/>
            </a:pPr>
            <a:r>
              <a:rPr lang="en-US" sz="1600" dirty="0">
                <a:latin typeface="Lato" pitchFamily="34" charset="0"/>
                <a:ea typeface="Lato" pitchFamily="34" charset="-122"/>
                <a:cs typeface="Lato" pitchFamily="34" charset="-120"/>
              </a:rPr>
              <a:t>Combines real-time emotional embeddings with learning progress data to generate a comprehensive student 'Readiness Score'.</a:t>
            </a:r>
            <a:endParaRPr lang="en-US" sz="1600" dirty="0"/>
          </a:p>
        </p:txBody>
      </p:sp>
      <p:pic>
        <p:nvPicPr>
          <p:cNvPr id="10" name="Image 2" descr="preencoded.png"/>
          <p:cNvPicPr>
            <a:picLocks noChangeAspect="1"/>
          </p:cNvPicPr>
          <p:nvPr/>
        </p:nvPicPr>
        <p:blipFill>
          <a:blip r:embed="rId5"/>
          <a:stretch>
            <a:fillRect/>
          </a:stretch>
        </p:blipFill>
        <p:spPr>
          <a:xfrm>
            <a:off x="793790" y="5406390"/>
            <a:ext cx="13042821" cy="680442"/>
          </a:xfrm>
          <a:prstGeom prst="rect">
            <a:avLst/>
          </a:prstGeom>
        </p:spPr>
      </p:pic>
      <p:sp>
        <p:nvSpPr>
          <p:cNvPr id="11" name="Text 6"/>
          <p:cNvSpPr/>
          <p:nvPr/>
        </p:nvSpPr>
        <p:spPr>
          <a:xfrm>
            <a:off x="963811" y="6214348"/>
            <a:ext cx="2910245" cy="265747"/>
          </a:xfrm>
          <a:prstGeom prst="rect">
            <a:avLst/>
          </a:prstGeom>
          <a:noFill/>
          <a:ln/>
        </p:spPr>
        <p:txBody>
          <a:bodyPr wrap="none" lIns="0" tIns="0" rIns="0" bIns="0" rtlCol="0" anchor="t"/>
          <a:lstStyle/>
          <a:p>
            <a:pPr marL="0" indent="0" algn="l">
              <a:lnSpc>
                <a:spcPts val="2050"/>
              </a:lnSpc>
              <a:buNone/>
            </a:pPr>
            <a:r>
              <a:rPr lang="en-US" sz="2000" b="1" dirty="0">
                <a:latin typeface="Lato Bold" pitchFamily="34" charset="0"/>
                <a:ea typeface="Lato Bold" pitchFamily="34" charset="-122"/>
                <a:cs typeface="Lato Bold" pitchFamily="34" charset="-120"/>
              </a:rPr>
              <a:t>Reinforcement Learning Agent</a:t>
            </a:r>
            <a:endParaRPr lang="en-US" sz="2000" dirty="0"/>
          </a:p>
        </p:txBody>
      </p:sp>
      <p:sp>
        <p:nvSpPr>
          <p:cNvPr id="12" name="Text 7"/>
          <p:cNvSpPr/>
          <p:nvPr/>
        </p:nvSpPr>
        <p:spPr>
          <a:xfrm>
            <a:off x="963811" y="6556534"/>
            <a:ext cx="12702778" cy="238125"/>
          </a:xfrm>
          <a:prstGeom prst="rect">
            <a:avLst/>
          </a:prstGeom>
          <a:noFill/>
          <a:ln/>
        </p:spPr>
        <p:txBody>
          <a:bodyPr wrap="none" lIns="0" tIns="0" rIns="0" bIns="0" rtlCol="0" anchor="t"/>
          <a:lstStyle/>
          <a:p>
            <a:pPr marL="0" indent="0" algn="l">
              <a:lnSpc>
                <a:spcPts val="1850"/>
              </a:lnSpc>
              <a:buNone/>
            </a:pPr>
            <a:r>
              <a:rPr lang="en-US" sz="1600" dirty="0">
                <a:latin typeface="Lato" pitchFamily="34" charset="0"/>
                <a:ea typeface="Lato" pitchFamily="34" charset="-122"/>
                <a:cs typeface="Lato" pitchFamily="34" charset="-120"/>
              </a:rPr>
              <a:t>Leverages the Readiness Score to make adaptive decisions: send, delay, or skip study reminders to maximise learning engagement.</a:t>
            </a:r>
            <a:endParaRPr lang="en-US" sz="1600" dirty="0"/>
          </a:p>
        </p:txBody>
      </p:sp>
      <p:sp>
        <p:nvSpPr>
          <p:cNvPr id="15" name="Text 1">
            <a:extLst>
              <a:ext uri="{FF2B5EF4-FFF2-40B4-BE49-F238E27FC236}">
                <a16:creationId xmlns:a16="http://schemas.microsoft.com/office/drawing/2014/main" id="{F0C13370-2E07-BC08-52DA-B72BB36A1CAE}"/>
              </a:ext>
            </a:extLst>
          </p:cNvPr>
          <p:cNvSpPr/>
          <p:nvPr/>
        </p:nvSpPr>
        <p:spPr>
          <a:xfrm>
            <a:off x="793790" y="7108150"/>
            <a:ext cx="13358628" cy="476250"/>
          </a:xfrm>
          <a:prstGeom prst="rect">
            <a:avLst/>
          </a:prstGeom>
          <a:noFill/>
          <a:ln/>
        </p:spPr>
        <p:txBody>
          <a:bodyPr wrap="square" lIns="0" tIns="0" rIns="0" bIns="0" rtlCol="0" anchor="t"/>
          <a:lstStyle/>
          <a:p>
            <a:pPr>
              <a:lnSpc>
                <a:spcPts val="1850"/>
              </a:lnSpc>
            </a:pPr>
            <a:r>
              <a:rPr lang="en-US" sz="1600" dirty="0">
                <a:latin typeface="Lato" pitchFamily="34" charset="0"/>
                <a:ea typeface="Lato" pitchFamily="34" charset="-122"/>
                <a:cs typeface="Lato" pitchFamily="34" charset="-120"/>
              </a:rPr>
              <a:t>This multi-faceted approach ensures that students receive timely and contextually relevant support, preventing cognitive overload and fostering sustained study habits.</a:t>
            </a:r>
            <a:endParaRPr lang="en-US" sz="1600" dirty="0"/>
          </a:p>
        </p:txBody>
      </p:sp>
      <p:sp>
        <p:nvSpPr>
          <p:cNvPr id="16" name="Text 0">
            <a:extLst>
              <a:ext uri="{FF2B5EF4-FFF2-40B4-BE49-F238E27FC236}">
                <a16:creationId xmlns:a16="http://schemas.microsoft.com/office/drawing/2014/main" id="{F3905B89-82C8-0068-E34C-9E46255E9198}"/>
              </a:ext>
            </a:extLst>
          </p:cNvPr>
          <p:cNvSpPr/>
          <p:nvPr/>
        </p:nvSpPr>
        <p:spPr>
          <a:xfrm>
            <a:off x="793790" y="1060294"/>
            <a:ext cx="3144365" cy="496133"/>
          </a:xfrm>
          <a:prstGeom prst="rect">
            <a:avLst/>
          </a:prstGeom>
          <a:noFill/>
          <a:ln/>
        </p:spPr>
        <p:txBody>
          <a:bodyPr wrap="none" lIns="0" tIns="0" rIns="0" bIns="0" rtlCol="0" anchor="t"/>
          <a:lstStyle/>
          <a:p>
            <a:pPr marL="0" indent="0" algn="l">
              <a:lnSpc>
                <a:spcPts val="3900"/>
              </a:lnSpc>
              <a:buNone/>
            </a:pPr>
            <a:r>
              <a:rPr lang="en-US" sz="3000" b="1" dirty="0">
                <a:latin typeface="Lato Bold" pitchFamily="34" charset="0"/>
                <a:ea typeface="Lato Bold" pitchFamily="34" charset="-122"/>
                <a:cs typeface="Lato Bold" pitchFamily="34" charset="-120"/>
              </a:rPr>
              <a:t>Methodology</a:t>
            </a:r>
            <a:endParaRPr lang="en-US" sz="3000" dirty="0"/>
          </a:p>
        </p:txBody>
      </p:sp>
      <p:sp>
        <p:nvSpPr>
          <p:cNvPr id="18" name="Text 0">
            <a:extLst>
              <a:ext uri="{FF2B5EF4-FFF2-40B4-BE49-F238E27FC236}">
                <a16:creationId xmlns:a16="http://schemas.microsoft.com/office/drawing/2014/main" id="{09CD3313-731F-FA6F-AD70-4F5C1351762E}"/>
              </a:ext>
            </a:extLst>
          </p:cNvPr>
          <p:cNvSpPr/>
          <p:nvPr/>
        </p:nvSpPr>
        <p:spPr>
          <a:xfrm>
            <a:off x="793790" y="393426"/>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Emotion and Progress-Aware Adaptive Study Reminder System</a:t>
            </a:r>
            <a:endParaRPr lang="en-US" sz="3800" dirty="0"/>
          </a:p>
        </p:txBody>
      </p:sp>
      <p:sp>
        <p:nvSpPr>
          <p:cNvPr id="19" name="Rectangle 18">
            <a:extLst>
              <a:ext uri="{FF2B5EF4-FFF2-40B4-BE49-F238E27FC236}">
                <a16:creationId xmlns:a16="http://schemas.microsoft.com/office/drawing/2014/main" id="{C813B9EB-0E2B-53E9-D38E-C33738F7E79F}"/>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IT22371690    |    </a:t>
            </a:r>
            <a:r>
              <a:rPr lang="en-US" sz="1600" dirty="0" err="1">
                <a:solidFill>
                  <a:schemeClr val="tx1"/>
                </a:solidFill>
                <a:latin typeface="Lato" pitchFamily="34" charset="0"/>
                <a:ea typeface="Lato" pitchFamily="34" charset="-122"/>
                <a:cs typeface="Lato" pitchFamily="34" charset="-120"/>
              </a:rPr>
              <a:t>Thathsara</a:t>
            </a:r>
            <a:r>
              <a:rPr lang="en-US" sz="1600" dirty="0">
                <a:solidFill>
                  <a:schemeClr val="tx1"/>
                </a:solidFill>
                <a:latin typeface="Lato" pitchFamily="34" charset="0"/>
                <a:ea typeface="Lato" pitchFamily="34" charset="-122"/>
                <a:cs typeface="Lato" pitchFamily="34" charset="-120"/>
              </a:rPr>
              <a:t> W.H.H.    |    R26-SE-022</a:t>
            </a:r>
            <a:endParaRPr lang="en-US" sz="1600" dirty="0">
              <a:solidFill>
                <a:schemeClr val="tx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4" name="Shape 2"/>
          <p:cNvSpPr/>
          <p:nvPr/>
        </p:nvSpPr>
        <p:spPr>
          <a:xfrm>
            <a:off x="793790" y="2143601"/>
            <a:ext cx="6986707" cy="2774394"/>
          </a:xfrm>
          <a:prstGeom prst="roundRect">
            <a:avLst>
              <a:gd name="adj" fmla="val 920"/>
            </a:avLst>
          </a:prstGeom>
          <a:solidFill>
            <a:srgbClr val="EFECE6"/>
          </a:solidFill>
          <a:ln w="22860">
            <a:solidFill>
              <a:srgbClr val="CBC5B8"/>
            </a:solidFill>
            <a:prstDash val="solid"/>
          </a:ln>
        </p:spPr>
        <p:txBody>
          <a:bodyPr/>
          <a:lstStyle/>
          <a:p>
            <a:endParaRPr lang="en-US"/>
          </a:p>
        </p:txBody>
      </p:sp>
      <p:sp>
        <p:nvSpPr>
          <p:cNvPr id="5" name="Shape 3"/>
          <p:cNvSpPr/>
          <p:nvPr/>
        </p:nvSpPr>
        <p:spPr>
          <a:xfrm>
            <a:off x="816650" y="2166461"/>
            <a:ext cx="680442" cy="2728674"/>
          </a:xfrm>
          <a:prstGeom prst="rect">
            <a:avLst/>
          </a:prstGeom>
          <a:solidFill>
            <a:srgbClr val="E5DFD2"/>
          </a:solidFill>
          <a:ln/>
        </p:spPr>
        <p:txBody>
          <a:bodyPr/>
          <a:lstStyle/>
          <a:p>
            <a:endParaRPr lang="en-US"/>
          </a:p>
        </p:txBody>
      </p:sp>
      <p:sp>
        <p:nvSpPr>
          <p:cNvPr id="6" name="Shape 4"/>
          <p:cNvSpPr/>
          <p:nvPr/>
        </p:nvSpPr>
        <p:spPr>
          <a:xfrm>
            <a:off x="1624608" y="2336483"/>
            <a:ext cx="1150490" cy="292418"/>
          </a:xfrm>
          <a:prstGeom prst="roundRect">
            <a:avLst>
              <a:gd name="adj" fmla="val 6981"/>
            </a:avLst>
          </a:prstGeom>
          <a:solidFill>
            <a:srgbClr val="E7E7E4"/>
          </a:solidFill>
          <a:ln/>
        </p:spPr>
        <p:txBody>
          <a:bodyPr/>
          <a:lstStyle/>
          <a:p>
            <a:endParaRPr lang="en-US"/>
          </a:p>
        </p:txBody>
      </p:sp>
      <p:sp>
        <p:nvSpPr>
          <p:cNvPr id="7" name="Text 5"/>
          <p:cNvSpPr/>
          <p:nvPr/>
        </p:nvSpPr>
        <p:spPr>
          <a:xfrm>
            <a:off x="1726644" y="2387441"/>
            <a:ext cx="939642" cy="182959"/>
          </a:xfrm>
          <a:prstGeom prst="rect">
            <a:avLst/>
          </a:prstGeom>
          <a:noFill/>
          <a:ln/>
        </p:spPr>
        <p:txBody>
          <a:bodyPr wrap="none" lIns="0" tIns="0" rIns="0" bIns="0" rtlCol="0" anchor="t"/>
          <a:lstStyle/>
          <a:p>
            <a:pPr marL="0" indent="0" algn="l">
              <a:lnSpc>
                <a:spcPts val="1500"/>
              </a:lnSpc>
              <a:buNone/>
            </a:pPr>
            <a:r>
              <a:rPr lang="en-US" sz="1200" dirty="0">
                <a:latin typeface="Lato" pitchFamily="34" charset="0"/>
                <a:ea typeface="Lato" pitchFamily="34" charset="-122"/>
                <a:cs typeface="Lato" pitchFamily="34" charset="-120"/>
              </a:rPr>
              <a:t>EVALUATION</a:t>
            </a:r>
            <a:endParaRPr lang="en-US" sz="1200" dirty="0"/>
          </a:p>
        </p:txBody>
      </p:sp>
      <p:sp>
        <p:nvSpPr>
          <p:cNvPr id="8" name="Text 6"/>
          <p:cNvSpPr/>
          <p:nvPr/>
        </p:nvSpPr>
        <p:spPr>
          <a:xfrm>
            <a:off x="1624608" y="2679859"/>
            <a:ext cx="2126456" cy="265747"/>
          </a:xfrm>
          <a:prstGeom prst="rect">
            <a:avLst/>
          </a:prstGeom>
          <a:noFill/>
          <a:ln/>
        </p:spPr>
        <p:txBody>
          <a:bodyPr wrap="none" lIns="0" tIns="0" rIns="0" bIns="0" rtlCol="0" anchor="t"/>
          <a:lstStyle/>
          <a:p>
            <a:pPr marL="0" indent="0" algn="l">
              <a:lnSpc>
                <a:spcPts val="2050"/>
              </a:lnSpc>
              <a:buNone/>
            </a:pPr>
            <a:r>
              <a:rPr lang="en-US" sz="2000" b="1" dirty="0">
                <a:latin typeface="Lato Bold" pitchFamily="34" charset="0"/>
                <a:ea typeface="Lato Bold" pitchFamily="34" charset="-122"/>
                <a:cs typeface="Lato Bold" pitchFamily="34" charset="-120"/>
              </a:rPr>
              <a:t>User Study &amp; Metrics</a:t>
            </a:r>
            <a:endParaRPr lang="en-US" sz="2000" dirty="0"/>
          </a:p>
        </p:txBody>
      </p:sp>
      <p:sp>
        <p:nvSpPr>
          <p:cNvPr id="9" name="Text 7"/>
          <p:cNvSpPr/>
          <p:nvPr/>
        </p:nvSpPr>
        <p:spPr>
          <a:xfrm>
            <a:off x="1624608" y="3073122"/>
            <a:ext cx="5963007" cy="1651992"/>
          </a:xfrm>
          <a:prstGeom prst="rect">
            <a:avLst/>
          </a:prstGeom>
          <a:noFill/>
          <a:ln/>
        </p:spPr>
        <p:txBody>
          <a:bodyPr wrap="square" lIns="0" tIns="0" rIns="0" bIns="0" rtlCol="0" anchor="t"/>
          <a:lstStyle/>
          <a:p>
            <a:pPr marL="342900" indent="-342900" algn="l">
              <a:lnSpc>
                <a:spcPct val="150000"/>
              </a:lnSpc>
              <a:buSzPct val="100000"/>
              <a:buChar char="•"/>
            </a:pPr>
            <a:r>
              <a:rPr lang="en-US" sz="1600" b="1" dirty="0">
                <a:latin typeface="Lato" pitchFamily="34" charset="0"/>
                <a:ea typeface="Lato" pitchFamily="34" charset="-122"/>
                <a:cs typeface="Lato" pitchFamily="34" charset="-120"/>
              </a:rPr>
              <a:t>User Study:</a:t>
            </a:r>
            <a:r>
              <a:rPr lang="en-US" sz="1600" dirty="0">
                <a:latin typeface="Lato" pitchFamily="34" charset="0"/>
                <a:ea typeface="Lato" pitchFamily="34" charset="-122"/>
                <a:cs typeface="Lato" pitchFamily="34" charset="-120"/>
              </a:rPr>
              <a:t> 30 SLIIT students</a:t>
            </a:r>
            <a:endParaRPr lang="en-US" sz="1600" dirty="0"/>
          </a:p>
          <a:p>
            <a:pPr marL="342900" indent="-342900" algn="l">
              <a:lnSpc>
                <a:spcPct val="150000"/>
              </a:lnSpc>
              <a:buSzPct val="100000"/>
              <a:buChar char="•"/>
            </a:pPr>
            <a:r>
              <a:rPr lang="en-US" sz="1600" b="1" dirty="0">
                <a:latin typeface="Lato" pitchFamily="34" charset="0"/>
                <a:ea typeface="Lato" pitchFamily="34" charset="-122"/>
                <a:cs typeface="Lato" pitchFamily="34" charset="-120"/>
              </a:rPr>
              <a:t>Metrics:</a:t>
            </a:r>
            <a:endParaRPr lang="en-US" sz="1600" dirty="0"/>
          </a:p>
          <a:p>
            <a:pPr marL="685800" lvl="1" indent="-342900" algn="l">
              <a:lnSpc>
                <a:spcPts val="1850"/>
              </a:lnSpc>
              <a:buSzPct val="100000"/>
              <a:buChar char="◦"/>
            </a:pPr>
            <a:r>
              <a:rPr lang="en-US" sz="1600" dirty="0">
                <a:latin typeface="Lato" pitchFamily="34" charset="0"/>
                <a:ea typeface="Lato" pitchFamily="34" charset="-122"/>
                <a:cs typeface="Lato" pitchFamily="34" charset="-120"/>
              </a:rPr>
              <a:t>Adherence rate</a:t>
            </a:r>
            <a:endParaRPr lang="en-US" sz="1600" dirty="0"/>
          </a:p>
          <a:p>
            <a:pPr marL="685800" lvl="1" indent="-342900" algn="l">
              <a:lnSpc>
                <a:spcPts val="1850"/>
              </a:lnSpc>
              <a:buSzPct val="100000"/>
              <a:buChar char="◦"/>
            </a:pPr>
            <a:r>
              <a:rPr lang="en-US" sz="1600" dirty="0">
                <a:latin typeface="Lato" pitchFamily="34" charset="0"/>
                <a:ea typeface="Lato" pitchFamily="34" charset="-122"/>
                <a:cs typeface="Lato" pitchFamily="34" charset="-120"/>
              </a:rPr>
              <a:t>Knowledge retention</a:t>
            </a:r>
            <a:endParaRPr lang="en-US" sz="1600" dirty="0"/>
          </a:p>
          <a:p>
            <a:pPr marL="685800" lvl="1" indent="-342900" algn="l">
              <a:lnSpc>
                <a:spcPts val="1850"/>
              </a:lnSpc>
              <a:buSzPct val="100000"/>
              <a:buChar char="◦"/>
            </a:pPr>
            <a:r>
              <a:rPr lang="en-US" sz="1600" dirty="0">
                <a:latin typeface="Lato" pitchFamily="34" charset="0"/>
                <a:ea typeface="Lato" pitchFamily="34" charset="-122"/>
                <a:cs typeface="Lato" pitchFamily="34" charset="-120"/>
              </a:rPr>
              <a:t>Cognitive fatigue</a:t>
            </a:r>
            <a:endParaRPr lang="en-US" sz="1600" dirty="0"/>
          </a:p>
          <a:p>
            <a:pPr marL="685800" lvl="1" indent="-342900" algn="l">
              <a:lnSpc>
                <a:spcPts val="1850"/>
              </a:lnSpc>
              <a:buSzPct val="100000"/>
              <a:buChar char="◦"/>
            </a:pPr>
            <a:r>
              <a:rPr lang="en-US" sz="1600" dirty="0">
                <a:latin typeface="Lato" pitchFamily="34" charset="0"/>
                <a:ea typeface="Lato" pitchFamily="34" charset="-122"/>
                <a:cs typeface="Lato" pitchFamily="34" charset="-120"/>
              </a:rPr>
              <a:t>System usability score</a:t>
            </a:r>
            <a:endParaRPr lang="en-US" sz="1600" dirty="0"/>
          </a:p>
        </p:txBody>
      </p:sp>
      <p:sp>
        <p:nvSpPr>
          <p:cNvPr id="10" name="Shape 8"/>
          <p:cNvSpPr/>
          <p:nvPr/>
        </p:nvSpPr>
        <p:spPr>
          <a:xfrm>
            <a:off x="793790" y="5045512"/>
            <a:ext cx="6986707" cy="2208848"/>
          </a:xfrm>
          <a:prstGeom prst="roundRect">
            <a:avLst>
              <a:gd name="adj" fmla="val 1155"/>
            </a:avLst>
          </a:prstGeom>
          <a:solidFill>
            <a:srgbClr val="EFECE6"/>
          </a:solidFill>
          <a:ln w="22860">
            <a:solidFill>
              <a:srgbClr val="CBC5B8"/>
            </a:solidFill>
            <a:prstDash val="solid"/>
          </a:ln>
        </p:spPr>
        <p:txBody>
          <a:bodyPr/>
          <a:lstStyle/>
          <a:p>
            <a:endParaRPr lang="en-US"/>
          </a:p>
        </p:txBody>
      </p:sp>
      <p:sp>
        <p:nvSpPr>
          <p:cNvPr id="11" name="Shape 9"/>
          <p:cNvSpPr/>
          <p:nvPr/>
        </p:nvSpPr>
        <p:spPr>
          <a:xfrm>
            <a:off x="816650" y="5068372"/>
            <a:ext cx="680442" cy="2163128"/>
          </a:xfrm>
          <a:prstGeom prst="rect">
            <a:avLst/>
          </a:prstGeom>
          <a:solidFill>
            <a:srgbClr val="E5DFD2"/>
          </a:solidFill>
          <a:ln/>
        </p:spPr>
        <p:txBody>
          <a:bodyPr/>
          <a:lstStyle/>
          <a:p>
            <a:endParaRPr lang="en-US"/>
          </a:p>
        </p:txBody>
      </p:sp>
      <p:sp>
        <p:nvSpPr>
          <p:cNvPr id="12" name="Shape 10"/>
          <p:cNvSpPr/>
          <p:nvPr/>
        </p:nvSpPr>
        <p:spPr>
          <a:xfrm>
            <a:off x="1624608" y="5238393"/>
            <a:ext cx="1041678" cy="265747"/>
          </a:xfrm>
          <a:prstGeom prst="roundRect">
            <a:avLst>
              <a:gd name="adj" fmla="val 6981"/>
            </a:avLst>
          </a:prstGeom>
          <a:solidFill>
            <a:srgbClr val="E7E7E4"/>
          </a:solidFill>
          <a:ln/>
        </p:spPr>
        <p:txBody>
          <a:bodyPr/>
          <a:lstStyle/>
          <a:p>
            <a:endParaRPr lang="en-US"/>
          </a:p>
        </p:txBody>
      </p:sp>
      <p:sp>
        <p:nvSpPr>
          <p:cNvPr id="13" name="Text 11"/>
          <p:cNvSpPr/>
          <p:nvPr/>
        </p:nvSpPr>
        <p:spPr>
          <a:xfrm>
            <a:off x="1726644" y="5289352"/>
            <a:ext cx="754856" cy="190500"/>
          </a:xfrm>
          <a:prstGeom prst="rect">
            <a:avLst/>
          </a:prstGeom>
          <a:noFill/>
          <a:ln/>
        </p:spPr>
        <p:txBody>
          <a:bodyPr wrap="none" lIns="0" tIns="0" rIns="0" bIns="0" rtlCol="0" anchor="t"/>
          <a:lstStyle/>
          <a:p>
            <a:pPr marL="0" indent="0" algn="l">
              <a:lnSpc>
                <a:spcPts val="1500"/>
              </a:lnSpc>
              <a:buNone/>
            </a:pPr>
            <a:r>
              <a:rPr lang="en-US" sz="1200" dirty="0">
                <a:latin typeface="Lato" pitchFamily="34" charset="0"/>
                <a:ea typeface="Lato" pitchFamily="34" charset="-122"/>
                <a:cs typeface="Lato" pitchFamily="34" charset="-120"/>
              </a:rPr>
              <a:t>PRINCIPLES</a:t>
            </a:r>
            <a:endParaRPr lang="en-US" sz="1200" dirty="0"/>
          </a:p>
        </p:txBody>
      </p:sp>
      <p:sp>
        <p:nvSpPr>
          <p:cNvPr id="14" name="Text 12"/>
          <p:cNvSpPr/>
          <p:nvPr/>
        </p:nvSpPr>
        <p:spPr>
          <a:xfrm>
            <a:off x="1624608" y="5581769"/>
            <a:ext cx="2126456" cy="265747"/>
          </a:xfrm>
          <a:prstGeom prst="rect">
            <a:avLst/>
          </a:prstGeom>
          <a:noFill/>
          <a:ln/>
        </p:spPr>
        <p:txBody>
          <a:bodyPr wrap="none" lIns="0" tIns="0" rIns="0" bIns="0" rtlCol="0" anchor="t"/>
          <a:lstStyle/>
          <a:p>
            <a:pPr marL="0" indent="0" algn="l">
              <a:lnSpc>
                <a:spcPts val="2050"/>
              </a:lnSpc>
              <a:buNone/>
            </a:pPr>
            <a:r>
              <a:rPr lang="en-US" sz="2000" b="1" dirty="0">
                <a:latin typeface="Lato Bold" pitchFamily="34" charset="0"/>
                <a:ea typeface="Lato Bold" pitchFamily="34" charset="-122"/>
                <a:cs typeface="Lato Bold" pitchFamily="34" charset="-120"/>
              </a:rPr>
              <a:t>Ethical Design</a:t>
            </a:r>
            <a:endParaRPr lang="en-US" sz="2000" dirty="0"/>
          </a:p>
        </p:txBody>
      </p:sp>
      <p:sp>
        <p:nvSpPr>
          <p:cNvPr id="15" name="Text 13"/>
          <p:cNvSpPr/>
          <p:nvPr/>
        </p:nvSpPr>
        <p:spPr>
          <a:xfrm>
            <a:off x="1624608" y="5975033"/>
            <a:ext cx="5963007" cy="1086445"/>
          </a:xfrm>
          <a:prstGeom prst="rect">
            <a:avLst/>
          </a:prstGeom>
          <a:noFill/>
          <a:ln/>
        </p:spPr>
        <p:txBody>
          <a:bodyPr wrap="square" lIns="0" tIns="0" rIns="0" bIns="0" rtlCol="0" anchor="t"/>
          <a:lstStyle/>
          <a:p>
            <a:pPr marL="342900" indent="-342900" algn="l">
              <a:lnSpc>
                <a:spcPts val="2000"/>
              </a:lnSpc>
              <a:buSzPct val="100000"/>
              <a:buChar char="•"/>
            </a:pPr>
            <a:r>
              <a:rPr lang="en-US" sz="1600" dirty="0">
                <a:latin typeface="Lato" pitchFamily="34" charset="0"/>
                <a:ea typeface="Lato" pitchFamily="34" charset="-122"/>
                <a:cs typeface="Lato" pitchFamily="34" charset="-120"/>
              </a:rPr>
              <a:t>Anonymized interaction logs for research</a:t>
            </a:r>
            <a:endParaRPr lang="en-US" sz="1600" dirty="0"/>
          </a:p>
          <a:p>
            <a:pPr marL="342900" indent="-342900" algn="l">
              <a:lnSpc>
                <a:spcPts val="2000"/>
              </a:lnSpc>
              <a:buSzPct val="100000"/>
              <a:buChar char="•"/>
            </a:pPr>
            <a:r>
              <a:rPr lang="en-US" sz="1600" dirty="0">
                <a:latin typeface="Lato" pitchFamily="34" charset="0"/>
                <a:ea typeface="Lato" pitchFamily="34" charset="-122"/>
                <a:cs typeface="Lato" pitchFamily="34" charset="-120"/>
              </a:rPr>
              <a:t>No biometric data storage (facial/eye)</a:t>
            </a:r>
            <a:endParaRPr lang="en-US" sz="1600" dirty="0"/>
          </a:p>
          <a:p>
            <a:pPr marL="342900" indent="-342900" algn="l">
              <a:lnSpc>
                <a:spcPts val="2000"/>
              </a:lnSpc>
              <a:buSzPct val="100000"/>
              <a:buChar char="•"/>
            </a:pPr>
            <a:r>
              <a:rPr lang="en-US" sz="1600" dirty="0">
                <a:latin typeface="Lato" pitchFamily="34" charset="0"/>
                <a:ea typeface="Lato" pitchFamily="34" charset="-122"/>
                <a:cs typeface="Lato" pitchFamily="34" charset="-120"/>
              </a:rPr>
              <a:t>User consent for data utilisation</a:t>
            </a:r>
            <a:endParaRPr lang="en-US" sz="1600" dirty="0"/>
          </a:p>
          <a:p>
            <a:pPr marL="342900" indent="-342900" algn="l">
              <a:lnSpc>
                <a:spcPts val="2000"/>
              </a:lnSpc>
              <a:buSzPct val="100000"/>
              <a:buChar char="•"/>
            </a:pPr>
            <a:r>
              <a:rPr lang="en-US" sz="1600" dirty="0">
                <a:latin typeface="Lato" pitchFamily="34" charset="0"/>
                <a:ea typeface="Lato" pitchFamily="34" charset="-122"/>
                <a:cs typeface="Lato" pitchFamily="34" charset="-120"/>
              </a:rPr>
              <a:t>Option to disable adaptive features</a:t>
            </a:r>
            <a:endParaRPr lang="en-US" sz="1600" dirty="0"/>
          </a:p>
        </p:txBody>
      </p:sp>
      <p:pic>
        <p:nvPicPr>
          <p:cNvPr id="16" name="Image 0" descr="preencoded.png"/>
          <p:cNvPicPr>
            <a:picLocks noChangeAspect="1"/>
          </p:cNvPicPr>
          <p:nvPr/>
        </p:nvPicPr>
        <p:blipFill>
          <a:blip r:embed="rId3"/>
          <a:stretch>
            <a:fillRect/>
          </a:stretch>
        </p:blipFill>
        <p:spPr>
          <a:xfrm>
            <a:off x="8778138" y="2336483"/>
            <a:ext cx="4608253" cy="4608253"/>
          </a:xfrm>
          <a:prstGeom prst="rect">
            <a:avLst/>
          </a:prstGeom>
        </p:spPr>
      </p:pic>
      <p:sp>
        <p:nvSpPr>
          <p:cNvPr id="19" name="TextBox 18">
            <a:extLst>
              <a:ext uri="{FF2B5EF4-FFF2-40B4-BE49-F238E27FC236}">
                <a16:creationId xmlns:a16="http://schemas.microsoft.com/office/drawing/2014/main" id="{36AB3314-A76C-451D-6AEB-DA9051FFCF04}"/>
              </a:ext>
            </a:extLst>
          </p:cNvPr>
          <p:cNvSpPr txBox="1"/>
          <p:nvPr/>
        </p:nvSpPr>
        <p:spPr>
          <a:xfrm>
            <a:off x="708729" y="1512092"/>
            <a:ext cx="12783988" cy="579646"/>
          </a:xfrm>
          <a:prstGeom prst="rect">
            <a:avLst/>
          </a:prstGeom>
          <a:noFill/>
        </p:spPr>
        <p:txBody>
          <a:bodyPr wrap="square">
            <a:spAutoFit/>
          </a:bodyPr>
          <a:lstStyle/>
          <a:p>
            <a:pPr marL="0" indent="0" algn="l">
              <a:lnSpc>
                <a:spcPts val="1850"/>
              </a:lnSpc>
              <a:buNone/>
            </a:pPr>
            <a:r>
              <a:rPr lang="en-US" sz="1600" dirty="0">
                <a:latin typeface="Lato" pitchFamily="34" charset="0"/>
                <a:ea typeface="Lato" pitchFamily="34" charset="-122"/>
                <a:cs typeface="Lato" pitchFamily="34" charset="-120"/>
              </a:rPr>
              <a:t>This multi-faceted approach ensures that students receive timely and contextually relevant support, preventing cognitive overload and fostering sustained study habits.</a:t>
            </a:r>
            <a:endParaRPr lang="en-US" sz="1600" dirty="0"/>
          </a:p>
        </p:txBody>
      </p:sp>
      <p:sp>
        <p:nvSpPr>
          <p:cNvPr id="20" name="Text 0">
            <a:extLst>
              <a:ext uri="{FF2B5EF4-FFF2-40B4-BE49-F238E27FC236}">
                <a16:creationId xmlns:a16="http://schemas.microsoft.com/office/drawing/2014/main" id="{FF99DCFD-B6AE-9DA9-CDBE-D8A3581C1D6E}"/>
              </a:ext>
            </a:extLst>
          </p:cNvPr>
          <p:cNvSpPr/>
          <p:nvPr/>
        </p:nvSpPr>
        <p:spPr>
          <a:xfrm>
            <a:off x="793790" y="393426"/>
            <a:ext cx="13455610" cy="496133"/>
          </a:xfrm>
          <a:prstGeom prst="rect">
            <a:avLst/>
          </a:prstGeom>
          <a:noFill/>
          <a:ln/>
        </p:spPr>
        <p:txBody>
          <a:bodyPr wrap="none" lIns="0" tIns="0" rIns="0" bIns="0" rtlCol="0" anchor="t"/>
          <a:lstStyle/>
          <a:p>
            <a:pPr>
              <a:lnSpc>
                <a:spcPts val="3900"/>
              </a:lnSpc>
            </a:pPr>
            <a:r>
              <a:rPr lang="en-US" sz="3600" b="1" dirty="0">
                <a:latin typeface="Lato Bold" pitchFamily="34" charset="0"/>
                <a:ea typeface="Lato Bold" pitchFamily="34" charset="-122"/>
                <a:cs typeface="Lato Bold" pitchFamily="34" charset="-120"/>
              </a:rPr>
              <a:t>Emotion and Progress-Aware Adaptive Study Reminder System</a:t>
            </a:r>
            <a:endParaRPr lang="en-US" sz="3600" dirty="0"/>
          </a:p>
        </p:txBody>
      </p:sp>
      <p:sp>
        <p:nvSpPr>
          <p:cNvPr id="21" name="Text 0">
            <a:extLst>
              <a:ext uri="{FF2B5EF4-FFF2-40B4-BE49-F238E27FC236}">
                <a16:creationId xmlns:a16="http://schemas.microsoft.com/office/drawing/2014/main" id="{E02A9C39-20EF-EFF4-8331-2236899F9511}"/>
              </a:ext>
            </a:extLst>
          </p:cNvPr>
          <p:cNvSpPr/>
          <p:nvPr/>
        </p:nvSpPr>
        <p:spPr>
          <a:xfrm>
            <a:off x="816650" y="961994"/>
            <a:ext cx="3144365" cy="496133"/>
          </a:xfrm>
          <a:prstGeom prst="rect">
            <a:avLst/>
          </a:prstGeom>
          <a:noFill/>
          <a:ln/>
        </p:spPr>
        <p:txBody>
          <a:bodyPr wrap="none" lIns="0" tIns="0" rIns="0" bIns="0" rtlCol="0" anchor="t"/>
          <a:lstStyle/>
          <a:p>
            <a:pPr>
              <a:lnSpc>
                <a:spcPts val="4450"/>
              </a:lnSpc>
            </a:pPr>
            <a:r>
              <a:rPr lang="en-US" sz="3000" b="1" dirty="0">
                <a:latin typeface="Lato Bold" pitchFamily="34" charset="0"/>
                <a:ea typeface="Lato Bold" pitchFamily="34" charset="-122"/>
                <a:cs typeface="Lato Bold" pitchFamily="34" charset="-120"/>
              </a:rPr>
              <a:t>Validation &amp; Ethics</a:t>
            </a:r>
            <a:endParaRPr lang="en-US" sz="3000" dirty="0"/>
          </a:p>
        </p:txBody>
      </p:sp>
      <p:sp>
        <p:nvSpPr>
          <p:cNvPr id="22" name="Rectangle 21">
            <a:extLst>
              <a:ext uri="{FF2B5EF4-FFF2-40B4-BE49-F238E27FC236}">
                <a16:creationId xmlns:a16="http://schemas.microsoft.com/office/drawing/2014/main" id="{B15F61A4-A1A6-37C0-B361-43610A03CCB2}"/>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IT22371690    |    </a:t>
            </a:r>
            <a:r>
              <a:rPr lang="en-US" sz="1600" dirty="0" err="1">
                <a:solidFill>
                  <a:schemeClr val="tx1"/>
                </a:solidFill>
                <a:latin typeface="Lato" pitchFamily="34" charset="0"/>
                <a:ea typeface="Lato" pitchFamily="34" charset="-122"/>
                <a:cs typeface="Lato" pitchFamily="34" charset="-120"/>
              </a:rPr>
              <a:t>Thathsara</a:t>
            </a:r>
            <a:r>
              <a:rPr lang="en-US" sz="1600" dirty="0">
                <a:solidFill>
                  <a:schemeClr val="tx1"/>
                </a:solidFill>
                <a:latin typeface="Lato" pitchFamily="34" charset="0"/>
                <a:ea typeface="Lato" pitchFamily="34" charset="-122"/>
                <a:cs typeface="Lato" pitchFamily="34" charset="-120"/>
              </a:rPr>
              <a:t> W.H.H.    |    R26-SE-022</a:t>
            </a:r>
            <a:endParaRPr lang="en-US" sz="1600" dirty="0">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46B4156D-3658-3C90-E620-AA04AA68EB3D}"/>
              </a:ext>
            </a:extLst>
          </p:cNvPr>
          <p:cNvSpPr/>
          <p:nvPr/>
        </p:nvSpPr>
        <p:spPr>
          <a:xfrm>
            <a:off x="793790" y="403817"/>
            <a:ext cx="13455610" cy="496133"/>
          </a:xfrm>
          <a:prstGeom prst="rect">
            <a:avLst/>
          </a:prstGeom>
          <a:noFill/>
          <a:ln/>
        </p:spPr>
        <p:txBody>
          <a:bodyPr wrap="none" lIns="0" tIns="0" rIns="0" bIns="0" rtlCol="0" anchor="t"/>
          <a:lstStyle/>
          <a:p>
            <a:pPr>
              <a:lnSpc>
                <a:spcPts val="3900"/>
              </a:lnSpc>
            </a:pPr>
            <a:r>
              <a:rPr lang="en-US" sz="3800" b="1" dirty="0">
                <a:latin typeface="Lato Bold" pitchFamily="34" charset="0"/>
                <a:ea typeface="Lato Bold" pitchFamily="34" charset="-122"/>
                <a:cs typeface="Lato Bold" pitchFamily="34" charset="-120"/>
              </a:rPr>
              <a:t>Emotion and Progress-Aware Adaptive Study Reminder System</a:t>
            </a:r>
          </a:p>
        </p:txBody>
      </p:sp>
      <p:sp>
        <p:nvSpPr>
          <p:cNvPr id="5" name="Text 0">
            <a:extLst>
              <a:ext uri="{FF2B5EF4-FFF2-40B4-BE49-F238E27FC236}">
                <a16:creationId xmlns:a16="http://schemas.microsoft.com/office/drawing/2014/main" id="{0ACE7D4A-9680-501C-0F67-E43878BCA01D}"/>
              </a:ext>
            </a:extLst>
          </p:cNvPr>
          <p:cNvSpPr/>
          <p:nvPr/>
        </p:nvSpPr>
        <p:spPr>
          <a:xfrm>
            <a:off x="816650" y="961994"/>
            <a:ext cx="4493105" cy="496133"/>
          </a:xfrm>
          <a:prstGeom prst="rect">
            <a:avLst/>
          </a:prstGeom>
          <a:noFill/>
          <a:ln/>
        </p:spPr>
        <p:txBody>
          <a:bodyPr wrap="none" lIns="0" tIns="0" rIns="0" bIns="0" rtlCol="0" anchor="t"/>
          <a:lstStyle/>
          <a:p>
            <a:pPr>
              <a:lnSpc>
                <a:spcPts val="4950"/>
              </a:lnSpc>
            </a:pPr>
            <a:r>
              <a:rPr lang="en-US" sz="3000" b="1" dirty="0">
                <a:solidFill>
                  <a:srgbClr val="282824"/>
                </a:solidFill>
                <a:latin typeface="Lato Bold" pitchFamily="34" charset="0"/>
                <a:ea typeface="Lato Bold" pitchFamily="34" charset="-122"/>
                <a:cs typeface="Lato Bold" pitchFamily="34" charset="-120"/>
              </a:rPr>
              <a:t>Implementation Overview</a:t>
            </a:r>
            <a:endParaRPr lang="en-US" sz="3000" dirty="0"/>
          </a:p>
        </p:txBody>
      </p:sp>
      <p:grpSp>
        <p:nvGrpSpPr>
          <p:cNvPr id="22" name="Group 21">
            <a:extLst>
              <a:ext uri="{FF2B5EF4-FFF2-40B4-BE49-F238E27FC236}">
                <a16:creationId xmlns:a16="http://schemas.microsoft.com/office/drawing/2014/main" id="{408DD1C5-FD27-4478-DE88-E92136FD5536}"/>
              </a:ext>
            </a:extLst>
          </p:cNvPr>
          <p:cNvGrpSpPr/>
          <p:nvPr/>
        </p:nvGrpSpPr>
        <p:grpSpPr>
          <a:xfrm>
            <a:off x="1928477" y="1964429"/>
            <a:ext cx="9595042" cy="827873"/>
            <a:chOff x="816650" y="1846650"/>
            <a:chExt cx="9595042" cy="827873"/>
          </a:xfrm>
        </p:grpSpPr>
        <p:sp>
          <p:nvSpPr>
            <p:cNvPr id="6" name="Arrow: Pentagon 5">
              <a:extLst>
                <a:ext uri="{FF2B5EF4-FFF2-40B4-BE49-F238E27FC236}">
                  <a16:creationId xmlns:a16="http://schemas.microsoft.com/office/drawing/2014/main" id="{A0D8A3B8-3B91-7D03-963C-61CAE1E28A53}"/>
                </a:ext>
              </a:extLst>
            </p:cNvPr>
            <p:cNvSpPr/>
            <p:nvPr/>
          </p:nvSpPr>
          <p:spPr>
            <a:xfrm>
              <a:off x="816650" y="1846650"/>
              <a:ext cx="9595042" cy="827873"/>
            </a:xfrm>
            <a:prstGeom prst="homePlate">
              <a:avLst/>
            </a:prstGeom>
            <a:solidFill>
              <a:srgbClr val="E5DFD2"/>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grpSp>
          <p:nvGrpSpPr>
            <p:cNvPr id="21" name="Group 20">
              <a:extLst>
                <a:ext uri="{FF2B5EF4-FFF2-40B4-BE49-F238E27FC236}">
                  <a16:creationId xmlns:a16="http://schemas.microsoft.com/office/drawing/2014/main" id="{2B0DFE80-8DC8-860E-B68B-8C2884D1FFA0}"/>
                </a:ext>
              </a:extLst>
            </p:cNvPr>
            <p:cNvGrpSpPr/>
            <p:nvPr/>
          </p:nvGrpSpPr>
          <p:grpSpPr>
            <a:xfrm>
              <a:off x="917480" y="1929807"/>
              <a:ext cx="8849975" cy="671979"/>
              <a:chOff x="917480" y="1929807"/>
              <a:chExt cx="8849975" cy="671979"/>
            </a:xfrm>
          </p:grpSpPr>
          <p:sp>
            <p:nvSpPr>
              <p:cNvPr id="18" name="TextBox 17">
                <a:extLst>
                  <a:ext uri="{FF2B5EF4-FFF2-40B4-BE49-F238E27FC236}">
                    <a16:creationId xmlns:a16="http://schemas.microsoft.com/office/drawing/2014/main" id="{9AC0709D-3440-BC81-0D6C-5037D1B62D72}"/>
                  </a:ext>
                </a:extLst>
              </p:cNvPr>
              <p:cNvSpPr txBox="1"/>
              <p:nvPr/>
            </p:nvSpPr>
            <p:spPr>
              <a:xfrm>
                <a:off x="1693719" y="1929807"/>
                <a:ext cx="8073736" cy="671979"/>
              </a:xfrm>
              <a:prstGeom prst="rect">
                <a:avLst/>
              </a:prstGeom>
              <a:noFill/>
            </p:spPr>
            <p:txBody>
              <a:bodyPr wrap="square">
                <a:spAutoFit/>
              </a:bodyPr>
              <a:lstStyle/>
              <a:p>
                <a:pPr algn="l">
                  <a:spcAft>
                    <a:spcPts val="225"/>
                  </a:spcAft>
                  <a:buNone/>
                </a:pPr>
                <a:r>
                  <a:rPr lang="en-US" sz="2000" b="1" i="0" dirty="0">
                    <a:effectLst/>
                    <a:latin typeface="Lato" panose="020F0502020204030203" pitchFamily="34" charset="0"/>
                    <a:ea typeface="Lato" panose="020F0502020204030203" pitchFamily="34" charset="0"/>
                    <a:cs typeface="Lato" panose="020F0502020204030203" pitchFamily="34" charset="0"/>
                  </a:rPr>
                  <a:t>Emotion embeddings received</a:t>
                </a:r>
              </a:p>
              <a:p>
                <a:pPr algn="l">
                  <a:buNone/>
                </a:pPr>
                <a:r>
                  <a:rPr lang="en-US" sz="1600" b="0" i="0" dirty="0">
                    <a:effectLst/>
                    <a:latin typeface="Lato" panose="020F0502020204030203" pitchFamily="34" charset="0"/>
                    <a:ea typeface="Lato" panose="020F0502020204030203" pitchFamily="34" charset="0"/>
                    <a:cs typeface="Lato" panose="020F0502020204030203" pitchFamily="34" charset="0"/>
                  </a:rPr>
                  <a:t>Affect embeddings from Emotion Detection Module via Shared Context Layer</a:t>
                </a:r>
              </a:p>
            </p:txBody>
          </p:sp>
          <p:sp>
            <p:nvSpPr>
              <p:cNvPr id="20" name="TextBox 19">
                <a:extLst>
                  <a:ext uri="{FF2B5EF4-FFF2-40B4-BE49-F238E27FC236}">
                    <a16:creationId xmlns:a16="http://schemas.microsoft.com/office/drawing/2014/main" id="{205864F0-6CAF-E9E5-B87D-D0CC7BB81D18}"/>
                  </a:ext>
                </a:extLst>
              </p:cNvPr>
              <p:cNvSpPr txBox="1"/>
              <p:nvPr/>
            </p:nvSpPr>
            <p:spPr>
              <a:xfrm>
                <a:off x="917480" y="1964429"/>
                <a:ext cx="716973" cy="584775"/>
              </a:xfrm>
              <a:prstGeom prst="rect">
                <a:avLst/>
              </a:prstGeom>
              <a:noFill/>
            </p:spPr>
            <p:txBody>
              <a:bodyPr wrap="square">
                <a:spAutoFit/>
              </a:bodyPr>
              <a:lstStyle/>
              <a:p>
                <a:pPr algn="l">
                  <a:buNone/>
                </a:pPr>
                <a:r>
                  <a:rPr lang="en-US" sz="3200" b="1" i="0" dirty="0">
                    <a:solidFill>
                      <a:schemeClr val="tx1">
                        <a:lumMod val="75000"/>
                        <a:lumOff val="25000"/>
                      </a:schemeClr>
                    </a:solidFill>
                    <a:effectLst/>
                    <a:latin typeface="Lato" panose="020F0502020204030203" pitchFamily="34" charset="0"/>
                    <a:ea typeface="Lato" panose="020F0502020204030203" pitchFamily="34" charset="0"/>
                    <a:cs typeface="Lato" panose="020F0502020204030203" pitchFamily="34" charset="0"/>
                  </a:rPr>
                  <a:t>01</a:t>
                </a:r>
                <a:endParaRPr lang="en-US" sz="3600" b="1" i="0" dirty="0">
                  <a:solidFill>
                    <a:schemeClr val="tx1">
                      <a:lumMod val="75000"/>
                      <a:lumOff val="25000"/>
                    </a:schemeClr>
                  </a:solidFill>
                  <a:effectLst/>
                  <a:latin typeface="Lato" panose="020F0502020204030203" pitchFamily="34" charset="0"/>
                  <a:ea typeface="Lato" panose="020F0502020204030203" pitchFamily="34" charset="0"/>
                  <a:cs typeface="Lato" panose="020F0502020204030203" pitchFamily="34" charset="0"/>
                </a:endParaRPr>
              </a:p>
            </p:txBody>
          </p:sp>
        </p:grpSp>
      </p:grpSp>
      <p:grpSp>
        <p:nvGrpSpPr>
          <p:cNvPr id="28" name="Group 27">
            <a:extLst>
              <a:ext uri="{FF2B5EF4-FFF2-40B4-BE49-F238E27FC236}">
                <a16:creationId xmlns:a16="http://schemas.microsoft.com/office/drawing/2014/main" id="{E4A3DF63-3E26-42E9-8038-6666F1357B1E}"/>
              </a:ext>
            </a:extLst>
          </p:cNvPr>
          <p:cNvGrpSpPr/>
          <p:nvPr/>
        </p:nvGrpSpPr>
        <p:grpSpPr>
          <a:xfrm>
            <a:off x="1928478" y="3066524"/>
            <a:ext cx="9595042" cy="827873"/>
            <a:chOff x="816650" y="1846650"/>
            <a:chExt cx="9595042" cy="827873"/>
          </a:xfrm>
        </p:grpSpPr>
        <p:sp>
          <p:nvSpPr>
            <p:cNvPr id="29" name="Arrow: Pentagon 28">
              <a:extLst>
                <a:ext uri="{FF2B5EF4-FFF2-40B4-BE49-F238E27FC236}">
                  <a16:creationId xmlns:a16="http://schemas.microsoft.com/office/drawing/2014/main" id="{03AEACF4-FCB7-3E19-5463-8A990C74BF01}"/>
                </a:ext>
              </a:extLst>
            </p:cNvPr>
            <p:cNvSpPr/>
            <p:nvPr/>
          </p:nvSpPr>
          <p:spPr>
            <a:xfrm>
              <a:off x="816650" y="1846650"/>
              <a:ext cx="9595042" cy="827873"/>
            </a:xfrm>
            <a:prstGeom prst="homePlate">
              <a:avLst/>
            </a:prstGeom>
            <a:solidFill>
              <a:srgbClr val="E5DFD2"/>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C875B119-5D29-012C-AFBF-AC104C7F1BA4}"/>
                </a:ext>
              </a:extLst>
            </p:cNvPr>
            <p:cNvGrpSpPr/>
            <p:nvPr/>
          </p:nvGrpSpPr>
          <p:grpSpPr>
            <a:xfrm>
              <a:off x="917480" y="1929807"/>
              <a:ext cx="8184955" cy="702756"/>
              <a:chOff x="917480" y="1929807"/>
              <a:chExt cx="8184955" cy="702756"/>
            </a:xfrm>
          </p:grpSpPr>
          <p:sp>
            <p:nvSpPr>
              <p:cNvPr id="31" name="TextBox 30">
                <a:extLst>
                  <a:ext uri="{FF2B5EF4-FFF2-40B4-BE49-F238E27FC236}">
                    <a16:creationId xmlns:a16="http://schemas.microsoft.com/office/drawing/2014/main" id="{AFAFF3A5-4B7E-B922-3029-8AF954C3DA4C}"/>
                  </a:ext>
                </a:extLst>
              </p:cNvPr>
              <p:cNvSpPr txBox="1"/>
              <p:nvPr/>
            </p:nvSpPr>
            <p:spPr>
              <a:xfrm>
                <a:off x="1693719" y="1929807"/>
                <a:ext cx="7408716" cy="702756"/>
              </a:xfrm>
              <a:prstGeom prst="rect">
                <a:avLst/>
              </a:prstGeom>
              <a:noFill/>
            </p:spPr>
            <p:txBody>
              <a:bodyPr wrap="square">
                <a:spAutoFit/>
              </a:bodyPr>
              <a:lstStyle/>
              <a:p>
                <a:pPr algn="l">
                  <a:spcAft>
                    <a:spcPts val="225"/>
                  </a:spcAft>
                  <a:buNone/>
                </a:pPr>
                <a:r>
                  <a:rPr lang="en-US" sz="2000" b="1" i="0" dirty="0">
                    <a:effectLst/>
                    <a:latin typeface="Lato" panose="020F0502020204030203" pitchFamily="34" charset="0"/>
                    <a:ea typeface="Lato" panose="020F0502020204030203" pitchFamily="34" charset="0"/>
                    <a:cs typeface="Lato" panose="020F0502020204030203" pitchFamily="34" charset="0"/>
                  </a:rPr>
                  <a:t>Readiness Score computed</a:t>
                </a:r>
              </a:p>
              <a:p>
                <a:r>
                  <a:rPr lang="en-US" dirty="0"/>
                  <a:t>Fuses valence, arousal &amp; attention → High / Medium / Low tier</a:t>
                </a:r>
              </a:p>
            </p:txBody>
          </p:sp>
          <p:sp>
            <p:nvSpPr>
              <p:cNvPr id="32" name="TextBox 31">
                <a:extLst>
                  <a:ext uri="{FF2B5EF4-FFF2-40B4-BE49-F238E27FC236}">
                    <a16:creationId xmlns:a16="http://schemas.microsoft.com/office/drawing/2014/main" id="{8224A694-A335-54FD-B8E2-BD7DE9394938}"/>
                  </a:ext>
                </a:extLst>
              </p:cNvPr>
              <p:cNvSpPr txBox="1"/>
              <p:nvPr/>
            </p:nvSpPr>
            <p:spPr>
              <a:xfrm>
                <a:off x="917480" y="1964429"/>
                <a:ext cx="716973" cy="584775"/>
              </a:xfrm>
              <a:prstGeom prst="rect">
                <a:avLst/>
              </a:prstGeom>
              <a:noFill/>
            </p:spPr>
            <p:txBody>
              <a:bodyPr wrap="square">
                <a:spAutoFit/>
              </a:bodyPr>
              <a:lstStyle/>
              <a:p>
                <a:pPr algn="l">
                  <a:buNone/>
                </a:pPr>
                <a:r>
                  <a:rPr lang="en-US" sz="3200" b="1" i="0" dirty="0">
                    <a:solidFill>
                      <a:schemeClr val="tx1">
                        <a:lumMod val="75000"/>
                        <a:lumOff val="25000"/>
                      </a:schemeClr>
                    </a:solidFill>
                    <a:effectLst/>
                    <a:latin typeface="Lato" panose="020F0502020204030203" pitchFamily="34" charset="0"/>
                    <a:ea typeface="Lato" panose="020F0502020204030203" pitchFamily="34" charset="0"/>
                    <a:cs typeface="Lato" panose="020F0502020204030203" pitchFamily="34" charset="0"/>
                  </a:rPr>
                  <a:t>02</a:t>
                </a:r>
                <a:endParaRPr lang="en-US" sz="3600" b="1" i="0" dirty="0">
                  <a:solidFill>
                    <a:schemeClr val="tx1">
                      <a:lumMod val="75000"/>
                      <a:lumOff val="25000"/>
                    </a:schemeClr>
                  </a:solidFill>
                  <a:effectLst/>
                  <a:latin typeface="Lato" panose="020F0502020204030203" pitchFamily="34" charset="0"/>
                  <a:ea typeface="Lato" panose="020F0502020204030203" pitchFamily="34" charset="0"/>
                  <a:cs typeface="Lato" panose="020F0502020204030203" pitchFamily="34" charset="0"/>
                </a:endParaRPr>
              </a:p>
            </p:txBody>
          </p:sp>
        </p:grpSp>
      </p:grpSp>
      <p:grpSp>
        <p:nvGrpSpPr>
          <p:cNvPr id="33" name="Group 32">
            <a:extLst>
              <a:ext uri="{FF2B5EF4-FFF2-40B4-BE49-F238E27FC236}">
                <a16:creationId xmlns:a16="http://schemas.microsoft.com/office/drawing/2014/main" id="{F39632A3-6020-AEB6-FB04-71ED52DE8981}"/>
              </a:ext>
            </a:extLst>
          </p:cNvPr>
          <p:cNvGrpSpPr/>
          <p:nvPr/>
        </p:nvGrpSpPr>
        <p:grpSpPr>
          <a:xfrm>
            <a:off x="1928479" y="4147837"/>
            <a:ext cx="9595042" cy="827873"/>
            <a:chOff x="816650" y="1846650"/>
            <a:chExt cx="9595042" cy="827873"/>
          </a:xfrm>
        </p:grpSpPr>
        <p:sp>
          <p:nvSpPr>
            <p:cNvPr id="34" name="Arrow: Pentagon 33">
              <a:extLst>
                <a:ext uri="{FF2B5EF4-FFF2-40B4-BE49-F238E27FC236}">
                  <a16:creationId xmlns:a16="http://schemas.microsoft.com/office/drawing/2014/main" id="{80E539EE-EBFA-6E64-86CB-410FBA4587ED}"/>
                </a:ext>
              </a:extLst>
            </p:cNvPr>
            <p:cNvSpPr/>
            <p:nvPr/>
          </p:nvSpPr>
          <p:spPr>
            <a:xfrm>
              <a:off x="816650" y="1846650"/>
              <a:ext cx="9595042" cy="827873"/>
            </a:xfrm>
            <a:prstGeom prst="homePlate">
              <a:avLst/>
            </a:prstGeom>
            <a:solidFill>
              <a:srgbClr val="E5DFD2"/>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grpSp>
          <p:nvGrpSpPr>
            <p:cNvPr id="35" name="Group 34">
              <a:extLst>
                <a:ext uri="{FF2B5EF4-FFF2-40B4-BE49-F238E27FC236}">
                  <a16:creationId xmlns:a16="http://schemas.microsoft.com/office/drawing/2014/main" id="{DCC93B22-8F85-8B2A-97C6-AB8BF844966B}"/>
                </a:ext>
              </a:extLst>
            </p:cNvPr>
            <p:cNvGrpSpPr/>
            <p:nvPr/>
          </p:nvGrpSpPr>
          <p:grpSpPr>
            <a:xfrm>
              <a:off x="917480" y="1929807"/>
              <a:ext cx="8849973" cy="702756"/>
              <a:chOff x="917480" y="1929807"/>
              <a:chExt cx="8849973" cy="702756"/>
            </a:xfrm>
          </p:grpSpPr>
          <p:sp>
            <p:nvSpPr>
              <p:cNvPr id="36" name="TextBox 35">
                <a:extLst>
                  <a:ext uri="{FF2B5EF4-FFF2-40B4-BE49-F238E27FC236}">
                    <a16:creationId xmlns:a16="http://schemas.microsoft.com/office/drawing/2014/main" id="{9E0A307C-A38F-B5BE-0EB2-3EC014C9D6D1}"/>
                  </a:ext>
                </a:extLst>
              </p:cNvPr>
              <p:cNvSpPr txBox="1"/>
              <p:nvPr/>
            </p:nvSpPr>
            <p:spPr>
              <a:xfrm>
                <a:off x="1693719" y="1929807"/>
                <a:ext cx="8073734" cy="702756"/>
              </a:xfrm>
              <a:prstGeom prst="rect">
                <a:avLst/>
              </a:prstGeom>
              <a:noFill/>
            </p:spPr>
            <p:txBody>
              <a:bodyPr wrap="square">
                <a:spAutoFit/>
              </a:bodyPr>
              <a:lstStyle/>
              <a:p>
                <a:pPr algn="l">
                  <a:spcAft>
                    <a:spcPts val="225"/>
                  </a:spcAft>
                  <a:buNone/>
                </a:pPr>
                <a:r>
                  <a:rPr lang="en-US" sz="2000" b="1" i="0" dirty="0">
                    <a:effectLst/>
                    <a:latin typeface="Lato" panose="020F0502020204030203" pitchFamily="34" charset="0"/>
                    <a:ea typeface="Lato" panose="020F0502020204030203" pitchFamily="34" charset="0"/>
                    <a:cs typeface="Lato" panose="020F0502020204030203" pitchFamily="34" charset="0"/>
                  </a:rPr>
                  <a:t>Memory decay modelled</a:t>
                </a:r>
              </a:p>
              <a:p>
                <a:r>
                  <a:rPr lang="en-US" dirty="0"/>
                  <a:t>Extended SM-2 algorithm → per-item retention priority queue</a:t>
                </a:r>
              </a:p>
            </p:txBody>
          </p:sp>
          <p:sp>
            <p:nvSpPr>
              <p:cNvPr id="37" name="TextBox 36">
                <a:extLst>
                  <a:ext uri="{FF2B5EF4-FFF2-40B4-BE49-F238E27FC236}">
                    <a16:creationId xmlns:a16="http://schemas.microsoft.com/office/drawing/2014/main" id="{D19FDB9E-4BAD-3C77-3DCD-2E1C7AA61FF2}"/>
                  </a:ext>
                </a:extLst>
              </p:cNvPr>
              <p:cNvSpPr txBox="1"/>
              <p:nvPr/>
            </p:nvSpPr>
            <p:spPr>
              <a:xfrm>
                <a:off x="917480" y="1964429"/>
                <a:ext cx="716973" cy="584775"/>
              </a:xfrm>
              <a:prstGeom prst="rect">
                <a:avLst/>
              </a:prstGeom>
              <a:noFill/>
            </p:spPr>
            <p:txBody>
              <a:bodyPr wrap="square">
                <a:spAutoFit/>
              </a:bodyPr>
              <a:lstStyle/>
              <a:p>
                <a:pPr algn="l">
                  <a:buNone/>
                </a:pPr>
                <a:r>
                  <a:rPr lang="en-US" sz="3200" b="1" i="0" dirty="0">
                    <a:solidFill>
                      <a:schemeClr val="tx1">
                        <a:lumMod val="75000"/>
                        <a:lumOff val="25000"/>
                      </a:schemeClr>
                    </a:solidFill>
                    <a:effectLst/>
                    <a:latin typeface="Lato" panose="020F0502020204030203" pitchFamily="34" charset="0"/>
                    <a:ea typeface="Lato" panose="020F0502020204030203" pitchFamily="34" charset="0"/>
                    <a:cs typeface="Lato" panose="020F0502020204030203" pitchFamily="34" charset="0"/>
                  </a:rPr>
                  <a:t>03</a:t>
                </a:r>
                <a:endParaRPr lang="en-US" sz="3600" b="1" i="0" dirty="0">
                  <a:solidFill>
                    <a:schemeClr val="tx1">
                      <a:lumMod val="75000"/>
                      <a:lumOff val="25000"/>
                    </a:schemeClr>
                  </a:solidFill>
                  <a:effectLst/>
                  <a:latin typeface="Lato" panose="020F0502020204030203" pitchFamily="34" charset="0"/>
                  <a:ea typeface="Lato" panose="020F0502020204030203" pitchFamily="34" charset="0"/>
                  <a:cs typeface="Lato" panose="020F0502020204030203" pitchFamily="34" charset="0"/>
                </a:endParaRPr>
              </a:p>
            </p:txBody>
          </p:sp>
        </p:grpSp>
      </p:grpSp>
      <p:grpSp>
        <p:nvGrpSpPr>
          <p:cNvPr id="38" name="Group 37">
            <a:extLst>
              <a:ext uri="{FF2B5EF4-FFF2-40B4-BE49-F238E27FC236}">
                <a16:creationId xmlns:a16="http://schemas.microsoft.com/office/drawing/2014/main" id="{2197E44B-2161-8F18-D73D-A16B7C9533F5}"/>
              </a:ext>
            </a:extLst>
          </p:cNvPr>
          <p:cNvGrpSpPr/>
          <p:nvPr/>
        </p:nvGrpSpPr>
        <p:grpSpPr>
          <a:xfrm>
            <a:off x="1928480" y="5239541"/>
            <a:ext cx="9595042" cy="827873"/>
            <a:chOff x="816650" y="1846650"/>
            <a:chExt cx="9595042" cy="827873"/>
          </a:xfrm>
        </p:grpSpPr>
        <p:sp>
          <p:nvSpPr>
            <p:cNvPr id="39" name="Arrow: Pentagon 38">
              <a:extLst>
                <a:ext uri="{FF2B5EF4-FFF2-40B4-BE49-F238E27FC236}">
                  <a16:creationId xmlns:a16="http://schemas.microsoft.com/office/drawing/2014/main" id="{2F402C20-8E31-FE23-C776-2B626E80AD8A}"/>
                </a:ext>
              </a:extLst>
            </p:cNvPr>
            <p:cNvSpPr/>
            <p:nvPr/>
          </p:nvSpPr>
          <p:spPr>
            <a:xfrm>
              <a:off x="816650" y="1846650"/>
              <a:ext cx="9595042" cy="827873"/>
            </a:xfrm>
            <a:prstGeom prst="homePlate">
              <a:avLst/>
            </a:prstGeom>
            <a:solidFill>
              <a:srgbClr val="E5DFD2"/>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grpSp>
          <p:nvGrpSpPr>
            <p:cNvPr id="40" name="Group 39">
              <a:extLst>
                <a:ext uri="{FF2B5EF4-FFF2-40B4-BE49-F238E27FC236}">
                  <a16:creationId xmlns:a16="http://schemas.microsoft.com/office/drawing/2014/main" id="{6E2E1EDC-6BC0-F01B-89BB-BAD62DC465CD}"/>
                </a:ext>
              </a:extLst>
            </p:cNvPr>
            <p:cNvGrpSpPr/>
            <p:nvPr/>
          </p:nvGrpSpPr>
          <p:grpSpPr>
            <a:xfrm>
              <a:off x="917480" y="1929807"/>
              <a:ext cx="8849972" cy="671979"/>
              <a:chOff x="917480" y="1929807"/>
              <a:chExt cx="8849972" cy="671979"/>
            </a:xfrm>
          </p:grpSpPr>
          <p:sp>
            <p:nvSpPr>
              <p:cNvPr id="41" name="TextBox 40">
                <a:extLst>
                  <a:ext uri="{FF2B5EF4-FFF2-40B4-BE49-F238E27FC236}">
                    <a16:creationId xmlns:a16="http://schemas.microsoft.com/office/drawing/2014/main" id="{A05316A8-BC61-C267-E05A-399C2EF7896A}"/>
                  </a:ext>
                </a:extLst>
              </p:cNvPr>
              <p:cNvSpPr txBox="1"/>
              <p:nvPr/>
            </p:nvSpPr>
            <p:spPr>
              <a:xfrm>
                <a:off x="1693719" y="1929807"/>
                <a:ext cx="8073733" cy="671979"/>
              </a:xfrm>
              <a:prstGeom prst="rect">
                <a:avLst/>
              </a:prstGeom>
              <a:noFill/>
            </p:spPr>
            <p:txBody>
              <a:bodyPr wrap="square">
                <a:spAutoFit/>
              </a:bodyPr>
              <a:lstStyle/>
              <a:p>
                <a:pPr algn="l">
                  <a:spcAft>
                    <a:spcPts val="225"/>
                  </a:spcAft>
                  <a:buNone/>
                </a:pPr>
                <a:r>
                  <a:rPr lang="en-US" sz="2000" b="1" i="0" dirty="0">
                    <a:effectLst/>
                    <a:latin typeface="Lato" panose="020F0502020204030203" pitchFamily="34" charset="0"/>
                    <a:ea typeface="Lato" panose="020F0502020204030203" pitchFamily="34" charset="0"/>
                    <a:cs typeface="Lato" panose="020F0502020204030203" pitchFamily="34" charset="0"/>
                  </a:rPr>
                  <a:t>RL agent selects action</a:t>
                </a:r>
              </a:p>
              <a:p>
                <a:pPr algn="l">
                  <a:buNone/>
                </a:pPr>
                <a:r>
                  <a:rPr lang="en-US" sz="1600" b="0" i="0" dirty="0">
                    <a:effectLst/>
                    <a:latin typeface="Lato" panose="020F0502020204030203" pitchFamily="34" charset="0"/>
                    <a:ea typeface="Lato" panose="020F0502020204030203" pitchFamily="34" charset="0"/>
                    <a:cs typeface="Lato" panose="020F0502020204030203" pitchFamily="34" charset="0"/>
                  </a:rPr>
                  <a:t>Contextual bandit → send · delay · skip</a:t>
                </a:r>
              </a:p>
            </p:txBody>
          </p:sp>
          <p:sp>
            <p:nvSpPr>
              <p:cNvPr id="42" name="TextBox 41">
                <a:extLst>
                  <a:ext uri="{FF2B5EF4-FFF2-40B4-BE49-F238E27FC236}">
                    <a16:creationId xmlns:a16="http://schemas.microsoft.com/office/drawing/2014/main" id="{CEB886D8-14DE-2BEC-ECD0-E91CDB12D705}"/>
                  </a:ext>
                </a:extLst>
              </p:cNvPr>
              <p:cNvSpPr txBox="1"/>
              <p:nvPr/>
            </p:nvSpPr>
            <p:spPr>
              <a:xfrm>
                <a:off x="917480" y="1964429"/>
                <a:ext cx="716973" cy="584775"/>
              </a:xfrm>
              <a:prstGeom prst="rect">
                <a:avLst/>
              </a:prstGeom>
              <a:noFill/>
            </p:spPr>
            <p:txBody>
              <a:bodyPr wrap="square">
                <a:spAutoFit/>
              </a:bodyPr>
              <a:lstStyle/>
              <a:p>
                <a:pPr algn="l">
                  <a:buNone/>
                </a:pPr>
                <a:r>
                  <a:rPr lang="en-US" sz="3200" b="1" i="0" dirty="0">
                    <a:solidFill>
                      <a:schemeClr val="tx1">
                        <a:lumMod val="75000"/>
                        <a:lumOff val="25000"/>
                      </a:schemeClr>
                    </a:solidFill>
                    <a:effectLst/>
                    <a:latin typeface="Lato" panose="020F0502020204030203" pitchFamily="34" charset="0"/>
                    <a:ea typeface="Lato" panose="020F0502020204030203" pitchFamily="34" charset="0"/>
                    <a:cs typeface="Lato" panose="020F0502020204030203" pitchFamily="34" charset="0"/>
                  </a:rPr>
                  <a:t>04</a:t>
                </a:r>
                <a:endParaRPr lang="en-US" sz="3600" b="1" i="0" dirty="0">
                  <a:solidFill>
                    <a:schemeClr val="tx1">
                      <a:lumMod val="75000"/>
                      <a:lumOff val="25000"/>
                    </a:schemeClr>
                  </a:solidFill>
                  <a:effectLst/>
                  <a:latin typeface="Lato" panose="020F0502020204030203" pitchFamily="34" charset="0"/>
                  <a:ea typeface="Lato" panose="020F0502020204030203" pitchFamily="34" charset="0"/>
                  <a:cs typeface="Lato" panose="020F0502020204030203" pitchFamily="34" charset="0"/>
                </a:endParaRPr>
              </a:p>
            </p:txBody>
          </p:sp>
        </p:grpSp>
      </p:grpSp>
      <p:grpSp>
        <p:nvGrpSpPr>
          <p:cNvPr id="43" name="Group 42">
            <a:extLst>
              <a:ext uri="{FF2B5EF4-FFF2-40B4-BE49-F238E27FC236}">
                <a16:creationId xmlns:a16="http://schemas.microsoft.com/office/drawing/2014/main" id="{D6B1EE16-F29B-22A1-A70C-94496EA49DC9}"/>
              </a:ext>
            </a:extLst>
          </p:cNvPr>
          <p:cNvGrpSpPr/>
          <p:nvPr/>
        </p:nvGrpSpPr>
        <p:grpSpPr>
          <a:xfrm>
            <a:off x="1928480" y="6341636"/>
            <a:ext cx="9595039" cy="827873"/>
            <a:chOff x="816649" y="1846650"/>
            <a:chExt cx="9595039" cy="827873"/>
          </a:xfrm>
        </p:grpSpPr>
        <p:sp>
          <p:nvSpPr>
            <p:cNvPr id="44" name="Arrow: Pentagon 43">
              <a:extLst>
                <a:ext uri="{FF2B5EF4-FFF2-40B4-BE49-F238E27FC236}">
                  <a16:creationId xmlns:a16="http://schemas.microsoft.com/office/drawing/2014/main" id="{B77B89A3-54C5-9D10-0F87-F64EE57F15BC}"/>
                </a:ext>
              </a:extLst>
            </p:cNvPr>
            <p:cNvSpPr/>
            <p:nvPr/>
          </p:nvSpPr>
          <p:spPr>
            <a:xfrm>
              <a:off x="816649" y="1846650"/>
              <a:ext cx="9595039" cy="827873"/>
            </a:xfrm>
            <a:prstGeom prst="homePlate">
              <a:avLst/>
            </a:prstGeom>
            <a:solidFill>
              <a:srgbClr val="E5DFD2"/>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grpSp>
          <p:nvGrpSpPr>
            <p:cNvPr id="45" name="Group 44">
              <a:extLst>
                <a:ext uri="{FF2B5EF4-FFF2-40B4-BE49-F238E27FC236}">
                  <a16:creationId xmlns:a16="http://schemas.microsoft.com/office/drawing/2014/main" id="{62836374-9631-D734-8225-CC50A6F21E19}"/>
                </a:ext>
              </a:extLst>
            </p:cNvPr>
            <p:cNvGrpSpPr/>
            <p:nvPr/>
          </p:nvGrpSpPr>
          <p:grpSpPr>
            <a:xfrm>
              <a:off x="917480" y="1929807"/>
              <a:ext cx="8995443" cy="671979"/>
              <a:chOff x="917480" y="1929807"/>
              <a:chExt cx="8995443" cy="671979"/>
            </a:xfrm>
          </p:grpSpPr>
          <p:sp>
            <p:nvSpPr>
              <p:cNvPr id="46" name="TextBox 45">
                <a:extLst>
                  <a:ext uri="{FF2B5EF4-FFF2-40B4-BE49-F238E27FC236}">
                    <a16:creationId xmlns:a16="http://schemas.microsoft.com/office/drawing/2014/main" id="{F7720E52-4D1F-4529-69BB-B59ED46508D4}"/>
                  </a:ext>
                </a:extLst>
              </p:cNvPr>
              <p:cNvSpPr txBox="1"/>
              <p:nvPr/>
            </p:nvSpPr>
            <p:spPr>
              <a:xfrm>
                <a:off x="1693719" y="1929807"/>
                <a:ext cx="8219204" cy="671979"/>
              </a:xfrm>
              <a:prstGeom prst="rect">
                <a:avLst/>
              </a:prstGeom>
              <a:noFill/>
            </p:spPr>
            <p:txBody>
              <a:bodyPr wrap="square">
                <a:spAutoFit/>
              </a:bodyPr>
              <a:lstStyle/>
              <a:p>
                <a:pPr algn="l">
                  <a:spcAft>
                    <a:spcPts val="225"/>
                  </a:spcAft>
                  <a:buNone/>
                </a:pPr>
                <a:r>
                  <a:rPr lang="en-US" sz="2000" b="1" i="0" dirty="0">
                    <a:effectLst/>
                    <a:latin typeface="Lato" panose="020F0502020204030203" pitchFamily="34" charset="0"/>
                    <a:ea typeface="Lato" panose="020F0502020204030203" pitchFamily="34" charset="0"/>
                    <a:cs typeface="Lato" panose="020F0502020204030203" pitchFamily="34" charset="0"/>
                  </a:rPr>
                  <a:t>Reminder delivered &amp; feedback collected</a:t>
                </a:r>
              </a:p>
              <a:p>
                <a:pPr algn="l">
                  <a:buNone/>
                </a:pPr>
                <a:r>
                  <a:rPr lang="en-US" sz="1600" b="0" i="0" dirty="0">
                    <a:effectLst/>
                    <a:latin typeface="Lato" panose="020F0502020204030203" pitchFamily="34" charset="0"/>
                    <a:ea typeface="Lato" panose="020F0502020204030203" pitchFamily="34" charset="0"/>
                    <a:cs typeface="Lato" panose="020F0502020204030203" pitchFamily="34" charset="0"/>
                  </a:rPr>
                  <a:t>Web Push / in-app alert → student response updates RL reward</a:t>
                </a:r>
              </a:p>
            </p:txBody>
          </p:sp>
          <p:sp>
            <p:nvSpPr>
              <p:cNvPr id="47" name="TextBox 46">
                <a:extLst>
                  <a:ext uri="{FF2B5EF4-FFF2-40B4-BE49-F238E27FC236}">
                    <a16:creationId xmlns:a16="http://schemas.microsoft.com/office/drawing/2014/main" id="{05ECC308-C67A-2269-B9CA-1E06AFD68D5D}"/>
                  </a:ext>
                </a:extLst>
              </p:cNvPr>
              <p:cNvSpPr txBox="1"/>
              <p:nvPr/>
            </p:nvSpPr>
            <p:spPr>
              <a:xfrm>
                <a:off x="917480" y="1964429"/>
                <a:ext cx="716973" cy="584775"/>
              </a:xfrm>
              <a:prstGeom prst="rect">
                <a:avLst/>
              </a:prstGeom>
              <a:noFill/>
            </p:spPr>
            <p:txBody>
              <a:bodyPr wrap="square">
                <a:spAutoFit/>
              </a:bodyPr>
              <a:lstStyle/>
              <a:p>
                <a:pPr algn="l">
                  <a:buNone/>
                </a:pPr>
                <a:r>
                  <a:rPr lang="en-US" sz="3200" b="1" i="0" dirty="0">
                    <a:solidFill>
                      <a:schemeClr val="tx1">
                        <a:lumMod val="75000"/>
                        <a:lumOff val="25000"/>
                      </a:schemeClr>
                    </a:solidFill>
                    <a:effectLst/>
                    <a:latin typeface="Lato" panose="020F0502020204030203" pitchFamily="34" charset="0"/>
                    <a:ea typeface="Lato" panose="020F0502020204030203" pitchFamily="34" charset="0"/>
                    <a:cs typeface="Lato" panose="020F0502020204030203" pitchFamily="34" charset="0"/>
                  </a:rPr>
                  <a:t>05</a:t>
                </a:r>
                <a:endParaRPr lang="en-US" sz="3600" b="1" i="0" dirty="0">
                  <a:solidFill>
                    <a:schemeClr val="tx1">
                      <a:lumMod val="75000"/>
                      <a:lumOff val="25000"/>
                    </a:schemeClr>
                  </a:solidFill>
                  <a:effectLst/>
                  <a:latin typeface="Lato" panose="020F0502020204030203" pitchFamily="34" charset="0"/>
                  <a:ea typeface="Lato" panose="020F0502020204030203" pitchFamily="34" charset="0"/>
                  <a:cs typeface="Lato" panose="020F0502020204030203" pitchFamily="34" charset="0"/>
                </a:endParaRPr>
              </a:p>
            </p:txBody>
          </p:sp>
        </p:grpSp>
      </p:grpSp>
      <p:sp>
        <p:nvSpPr>
          <p:cNvPr id="49" name="Rectangle 48">
            <a:extLst>
              <a:ext uri="{FF2B5EF4-FFF2-40B4-BE49-F238E27FC236}">
                <a16:creationId xmlns:a16="http://schemas.microsoft.com/office/drawing/2014/main" id="{BA7C27AB-14B4-BF80-2D5C-D78F0A1FACD7}"/>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IT22371690    |    </a:t>
            </a:r>
            <a:r>
              <a:rPr lang="en-US" sz="1600" dirty="0" err="1">
                <a:solidFill>
                  <a:schemeClr val="tx1"/>
                </a:solidFill>
                <a:latin typeface="Lato" pitchFamily="34" charset="0"/>
                <a:ea typeface="Lato" pitchFamily="34" charset="-122"/>
                <a:cs typeface="Lato" pitchFamily="34" charset="-120"/>
              </a:rPr>
              <a:t>Thathsara</a:t>
            </a:r>
            <a:r>
              <a:rPr lang="en-US" sz="1600" dirty="0">
                <a:solidFill>
                  <a:schemeClr val="tx1"/>
                </a:solidFill>
                <a:latin typeface="Lato" pitchFamily="34" charset="0"/>
                <a:ea typeface="Lato" pitchFamily="34" charset="-122"/>
                <a:cs typeface="Lato" pitchFamily="34" charset="-120"/>
              </a:rPr>
              <a:t> W.H.H.    |    R26-SE-022</a:t>
            </a:r>
            <a:endParaRPr lang="en-US" sz="1600" dirty="0">
              <a:solidFill>
                <a:schemeClr val="tx1"/>
              </a:solidFill>
            </a:endParaRPr>
          </a:p>
        </p:txBody>
      </p:sp>
    </p:spTree>
    <p:extLst>
      <p:ext uri="{BB962C8B-B14F-4D97-AF65-F5344CB8AC3E}">
        <p14:creationId xmlns:p14="http://schemas.microsoft.com/office/powerpoint/2010/main" val="2650818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88658" y="747117"/>
            <a:ext cx="4919067" cy="614958"/>
          </a:xfrm>
          <a:prstGeom prst="rect">
            <a:avLst/>
          </a:prstGeom>
          <a:noFill/>
          <a:ln/>
        </p:spPr>
        <p:txBody>
          <a:bodyPr wrap="none" lIns="0" tIns="0" rIns="0" bIns="0" rtlCol="0" anchor="t"/>
          <a:lstStyle/>
          <a:p>
            <a:pPr marL="0" indent="0" algn="l">
              <a:lnSpc>
                <a:spcPts val="4800"/>
              </a:lnSpc>
              <a:buNone/>
            </a:pPr>
            <a:r>
              <a:rPr lang="en-US" sz="4200" b="1" dirty="0">
                <a:latin typeface="Lato Bold" pitchFamily="34" charset="0"/>
                <a:ea typeface="Lato Bold" pitchFamily="34" charset="-122"/>
                <a:cs typeface="Lato Bold" pitchFamily="34" charset="-120"/>
              </a:rPr>
              <a:t>Commercialization</a:t>
            </a:r>
            <a:endParaRPr lang="en-US" sz="4200" dirty="0"/>
          </a:p>
        </p:txBody>
      </p:sp>
      <p:sp>
        <p:nvSpPr>
          <p:cNvPr id="3" name="Text 1"/>
          <p:cNvSpPr/>
          <p:nvPr/>
        </p:nvSpPr>
        <p:spPr>
          <a:xfrm>
            <a:off x="688658" y="1703427"/>
            <a:ext cx="13253085" cy="587931"/>
          </a:xfrm>
          <a:prstGeom prst="rect">
            <a:avLst/>
          </a:prstGeom>
          <a:noFill/>
          <a:ln/>
        </p:spPr>
        <p:txBody>
          <a:bodyPr wrap="square" lIns="0" tIns="0" rIns="0" bIns="0" rtlCol="0" anchor="t"/>
          <a:lstStyle/>
          <a:p>
            <a:pPr marL="0" indent="0" algn="l">
              <a:lnSpc>
                <a:spcPts val="2300"/>
              </a:lnSpc>
              <a:buNone/>
            </a:pPr>
            <a:r>
              <a:rPr lang="en-US" sz="1600" dirty="0">
                <a:latin typeface="Lato" pitchFamily="34" charset="0"/>
                <a:ea typeface="Lato" pitchFamily="34" charset="-122"/>
                <a:cs typeface="Lato" pitchFamily="34" charset="-120"/>
              </a:rPr>
              <a:t>Our commercialization strategy focuses on key markets and customer segments, leveraging our unique value proposition and protected intellectual property.</a:t>
            </a:r>
            <a:endParaRPr lang="en-US" sz="1600" dirty="0"/>
          </a:p>
        </p:txBody>
      </p:sp>
      <p:sp>
        <p:nvSpPr>
          <p:cNvPr id="4" name="Shape 2"/>
          <p:cNvSpPr/>
          <p:nvPr/>
        </p:nvSpPr>
        <p:spPr>
          <a:xfrm>
            <a:off x="688658" y="2483287"/>
            <a:ext cx="6541175" cy="2414230"/>
          </a:xfrm>
          <a:prstGeom prst="roundRect">
            <a:avLst>
              <a:gd name="adj" fmla="val 1223"/>
            </a:avLst>
          </a:prstGeom>
          <a:solidFill>
            <a:srgbClr val="EFECE6"/>
          </a:solidFill>
          <a:ln w="22860">
            <a:solidFill>
              <a:srgbClr val="CBC5B8"/>
            </a:solidFill>
            <a:prstDash val="solid"/>
          </a:ln>
        </p:spPr>
        <p:txBody>
          <a:bodyPr/>
          <a:lstStyle/>
          <a:p>
            <a:endParaRPr lang="en-US"/>
          </a:p>
        </p:txBody>
      </p:sp>
      <p:sp>
        <p:nvSpPr>
          <p:cNvPr id="5" name="Shape 3"/>
          <p:cNvSpPr/>
          <p:nvPr/>
        </p:nvSpPr>
        <p:spPr>
          <a:xfrm>
            <a:off x="711518" y="2506147"/>
            <a:ext cx="6495455" cy="590193"/>
          </a:xfrm>
          <a:prstGeom prst="roundRect">
            <a:avLst>
              <a:gd name="adj" fmla="val 353"/>
            </a:avLst>
          </a:prstGeom>
          <a:solidFill>
            <a:srgbClr val="E5DFD2"/>
          </a:solidFill>
          <a:ln/>
        </p:spPr>
        <p:txBody>
          <a:bodyPr/>
          <a:lstStyle/>
          <a:p>
            <a:endParaRPr lang="en-US"/>
          </a:p>
        </p:txBody>
      </p:sp>
      <p:sp>
        <p:nvSpPr>
          <p:cNvPr id="6" name="Text 4"/>
          <p:cNvSpPr/>
          <p:nvPr/>
        </p:nvSpPr>
        <p:spPr>
          <a:xfrm>
            <a:off x="3811667" y="2616756"/>
            <a:ext cx="295037" cy="368856"/>
          </a:xfrm>
          <a:prstGeom prst="rect">
            <a:avLst/>
          </a:prstGeom>
          <a:noFill/>
          <a:ln/>
        </p:spPr>
        <p:txBody>
          <a:bodyPr wrap="none" lIns="0" tIns="0" rIns="0" bIns="0" rtlCol="0" anchor="t"/>
          <a:lstStyle/>
          <a:p>
            <a:pPr marL="0" indent="0" algn="l">
              <a:lnSpc>
                <a:spcPts val="2300"/>
              </a:lnSpc>
              <a:buNone/>
            </a:pPr>
            <a:r>
              <a:rPr lang="en-US" sz="2300" b="1" dirty="0">
                <a:latin typeface="Lato Bold" pitchFamily="34" charset="0"/>
                <a:ea typeface="Lato Bold" pitchFamily="34" charset="-122"/>
                <a:cs typeface="Lato Bold" pitchFamily="34" charset="-120"/>
              </a:rPr>
              <a:t>1</a:t>
            </a:r>
            <a:endParaRPr lang="en-US" sz="2300" dirty="0"/>
          </a:p>
        </p:txBody>
      </p:sp>
      <p:sp>
        <p:nvSpPr>
          <p:cNvPr id="7" name="Text 5"/>
          <p:cNvSpPr/>
          <p:nvPr/>
        </p:nvSpPr>
        <p:spPr>
          <a:xfrm>
            <a:off x="908209" y="3266956"/>
            <a:ext cx="2459474" cy="307419"/>
          </a:xfrm>
          <a:prstGeom prst="rect">
            <a:avLst/>
          </a:prstGeom>
          <a:noFill/>
          <a:ln/>
        </p:spPr>
        <p:txBody>
          <a:bodyPr wrap="none" lIns="0" tIns="0" rIns="0" bIns="0" rtlCol="0" anchor="t"/>
          <a:lstStyle/>
          <a:p>
            <a:pPr marL="0" indent="0" algn="l">
              <a:lnSpc>
                <a:spcPts val="2400"/>
              </a:lnSpc>
              <a:buNone/>
            </a:pPr>
            <a:r>
              <a:rPr lang="en-US" sz="2000" b="1" dirty="0">
                <a:latin typeface="Lato Bold" pitchFamily="34" charset="0"/>
                <a:ea typeface="Lato Bold" pitchFamily="34" charset="-122"/>
                <a:cs typeface="Lato Bold" pitchFamily="34" charset="-120"/>
              </a:rPr>
              <a:t>Target Market</a:t>
            </a:r>
            <a:endParaRPr lang="en-US" sz="2000" dirty="0"/>
          </a:p>
        </p:txBody>
      </p:sp>
      <p:sp>
        <p:nvSpPr>
          <p:cNvPr id="8" name="Text 6"/>
          <p:cNvSpPr/>
          <p:nvPr/>
        </p:nvSpPr>
        <p:spPr>
          <a:xfrm>
            <a:off x="908209" y="3676769"/>
            <a:ext cx="6102072" cy="1001197"/>
          </a:xfrm>
          <a:prstGeom prst="rect">
            <a:avLst/>
          </a:prstGeom>
          <a:noFill/>
          <a:ln/>
        </p:spPr>
        <p:txBody>
          <a:bodyPr wrap="square" lIns="0" tIns="0" rIns="0" bIns="0" rtlCol="0" anchor="t"/>
          <a:lstStyle/>
          <a:p>
            <a:pPr marL="342900" indent="-342900" algn="l">
              <a:lnSpc>
                <a:spcPts val="250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Universities</a:t>
            </a:r>
            <a:endParaRPr lang="en-US" sz="1600" dirty="0"/>
          </a:p>
          <a:p>
            <a:pPr marL="342900" indent="-342900" algn="l">
              <a:lnSpc>
                <a:spcPts val="250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E-learning platforms</a:t>
            </a:r>
            <a:endParaRPr lang="en-US" sz="1600" dirty="0"/>
          </a:p>
          <a:p>
            <a:pPr marL="342900" indent="-342900" algn="l">
              <a:lnSpc>
                <a:spcPts val="250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Online learning systems</a:t>
            </a:r>
            <a:endParaRPr lang="en-US" sz="1600" dirty="0"/>
          </a:p>
        </p:txBody>
      </p:sp>
      <p:sp>
        <p:nvSpPr>
          <p:cNvPr id="9" name="Shape 7"/>
          <p:cNvSpPr/>
          <p:nvPr/>
        </p:nvSpPr>
        <p:spPr>
          <a:xfrm>
            <a:off x="7400449" y="2483287"/>
            <a:ext cx="6541294" cy="2414230"/>
          </a:xfrm>
          <a:prstGeom prst="roundRect">
            <a:avLst>
              <a:gd name="adj" fmla="val 1223"/>
            </a:avLst>
          </a:prstGeom>
          <a:solidFill>
            <a:srgbClr val="EFECE6"/>
          </a:solidFill>
          <a:ln w="22860">
            <a:solidFill>
              <a:srgbClr val="CBC5B8"/>
            </a:solidFill>
            <a:prstDash val="solid"/>
          </a:ln>
        </p:spPr>
        <p:txBody>
          <a:bodyPr/>
          <a:lstStyle/>
          <a:p>
            <a:endParaRPr lang="en-US"/>
          </a:p>
        </p:txBody>
      </p:sp>
      <p:sp>
        <p:nvSpPr>
          <p:cNvPr id="10" name="Shape 8"/>
          <p:cNvSpPr/>
          <p:nvPr/>
        </p:nvSpPr>
        <p:spPr>
          <a:xfrm>
            <a:off x="7423309" y="2506147"/>
            <a:ext cx="6495574" cy="590193"/>
          </a:xfrm>
          <a:prstGeom prst="roundRect">
            <a:avLst>
              <a:gd name="adj" fmla="val 353"/>
            </a:avLst>
          </a:prstGeom>
          <a:solidFill>
            <a:srgbClr val="E5DFD2"/>
          </a:solidFill>
          <a:ln/>
        </p:spPr>
        <p:txBody>
          <a:bodyPr/>
          <a:lstStyle/>
          <a:p>
            <a:endParaRPr lang="en-US"/>
          </a:p>
        </p:txBody>
      </p:sp>
      <p:sp>
        <p:nvSpPr>
          <p:cNvPr id="11" name="Text 9"/>
          <p:cNvSpPr/>
          <p:nvPr/>
        </p:nvSpPr>
        <p:spPr>
          <a:xfrm>
            <a:off x="10523577" y="2616756"/>
            <a:ext cx="295037" cy="368856"/>
          </a:xfrm>
          <a:prstGeom prst="rect">
            <a:avLst/>
          </a:prstGeom>
          <a:noFill/>
          <a:ln/>
        </p:spPr>
        <p:txBody>
          <a:bodyPr wrap="none" lIns="0" tIns="0" rIns="0" bIns="0" rtlCol="0" anchor="t"/>
          <a:lstStyle/>
          <a:p>
            <a:pPr marL="0" indent="0" algn="l">
              <a:lnSpc>
                <a:spcPts val="2300"/>
              </a:lnSpc>
              <a:buNone/>
            </a:pPr>
            <a:r>
              <a:rPr lang="en-US" sz="2300" b="1" dirty="0">
                <a:latin typeface="Lato Bold" pitchFamily="34" charset="0"/>
                <a:ea typeface="Lato Bold" pitchFamily="34" charset="-122"/>
                <a:cs typeface="Lato Bold" pitchFamily="34" charset="-120"/>
              </a:rPr>
              <a:t>2</a:t>
            </a:r>
            <a:endParaRPr lang="en-US" sz="2300" dirty="0"/>
          </a:p>
        </p:txBody>
      </p:sp>
      <p:sp>
        <p:nvSpPr>
          <p:cNvPr id="12" name="Text 10"/>
          <p:cNvSpPr/>
          <p:nvPr/>
        </p:nvSpPr>
        <p:spPr>
          <a:xfrm>
            <a:off x="7620000" y="3266956"/>
            <a:ext cx="2459474" cy="307419"/>
          </a:xfrm>
          <a:prstGeom prst="rect">
            <a:avLst/>
          </a:prstGeom>
          <a:noFill/>
          <a:ln/>
        </p:spPr>
        <p:txBody>
          <a:bodyPr wrap="none" lIns="0" tIns="0" rIns="0" bIns="0" rtlCol="0" anchor="t"/>
          <a:lstStyle/>
          <a:p>
            <a:pPr marL="0" indent="0" algn="l">
              <a:lnSpc>
                <a:spcPts val="2400"/>
              </a:lnSpc>
              <a:buNone/>
            </a:pPr>
            <a:r>
              <a:rPr lang="en-US" sz="2000" b="1" dirty="0">
                <a:latin typeface="Lato Bold" pitchFamily="34" charset="0"/>
                <a:ea typeface="Lato Bold" pitchFamily="34" charset="-122"/>
                <a:cs typeface="Lato Bold" pitchFamily="34" charset="-120"/>
              </a:rPr>
              <a:t>Customer Profile</a:t>
            </a:r>
            <a:endParaRPr lang="en-US" sz="2000" dirty="0"/>
          </a:p>
        </p:txBody>
      </p:sp>
      <p:sp>
        <p:nvSpPr>
          <p:cNvPr id="13" name="Text 11"/>
          <p:cNvSpPr/>
          <p:nvPr/>
        </p:nvSpPr>
        <p:spPr>
          <a:xfrm>
            <a:off x="7620000" y="3676769"/>
            <a:ext cx="6102191" cy="647581"/>
          </a:xfrm>
          <a:prstGeom prst="rect">
            <a:avLst/>
          </a:prstGeom>
          <a:noFill/>
          <a:ln/>
        </p:spPr>
        <p:txBody>
          <a:bodyPr wrap="square" lIns="0" tIns="0" rIns="0" bIns="0" rtlCol="0" anchor="t"/>
          <a:lstStyle/>
          <a:p>
            <a:pPr marL="342900" indent="-342900" algn="l">
              <a:lnSpc>
                <a:spcPts val="250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Undergraduate students</a:t>
            </a:r>
            <a:endParaRPr lang="en-US" sz="1600" dirty="0"/>
          </a:p>
          <a:p>
            <a:pPr marL="342900" indent="-342900" algn="l">
              <a:lnSpc>
                <a:spcPts val="250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Educational institutions</a:t>
            </a:r>
            <a:endParaRPr lang="en-US" sz="1600" dirty="0"/>
          </a:p>
        </p:txBody>
      </p:sp>
      <p:sp>
        <p:nvSpPr>
          <p:cNvPr id="14" name="Shape 12"/>
          <p:cNvSpPr/>
          <p:nvPr/>
        </p:nvSpPr>
        <p:spPr>
          <a:xfrm>
            <a:off x="688658" y="5068133"/>
            <a:ext cx="6541175" cy="2414230"/>
          </a:xfrm>
          <a:prstGeom prst="roundRect">
            <a:avLst>
              <a:gd name="adj" fmla="val 1223"/>
            </a:avLst>
          </a:prstGeom>
          <a:solidFill>
            <a:srgbClr val="EFECE6"/>
          </a:solidFill>
          <a:ln w="22860">
            <a:solidFill>
              <a:srgbClr val="CBC5B8"/>
            </a:solidFill>
            <a:prstDash val="solid"/>
          </a:ln>
        </p:spPr>
        <p:txBody>
          <a:bodyPr/>
          <a:lstStyle/>
          <a:p>
            <a:endParaRPr lang="en-US"/>
          </a:p>
        </p:txBody>
      </p:sp>
      <p:sp>
        <p:nvSpPr>
          <p:cNvPr id="15" name="Shape 13"/>
          <p:cNvSpPr/>
          <p:nvPr/>
        </p:nvSpPr>
        <p:spPr>
          <a:xfrm>
            <a:off x="711518" y="5090993"/>
            <a:ext cx="6495455" cy="590193"/>
          </a:xfrm>
          <a:prstGeom prst="roundRect">
            <a:avLst>
              <a:gd name="adj" fmla="val 353"/>
            </a:avLst>
          </a:prstGeom>
          <a:solidFill>
            <a:srgbClr val="E5DFD2"/>
          </a:solidFill>
          <a:ln/>
        </p:spPr>
        <p:txBody>
          <a:bodyPr/>
          <a:lstStyle/>
          <a:p>
            <a:endParaRPr lang="en-US"/>
          </a:p>
        </p:txBody>
      </p:sp>
      <p:sp>
        <p:nvSpPr>
          <p:cNvPr id="16" name="Text 14"/>
          <p:cNvSpPr/>
          <p:nvPr/>
        </p:nvSpPr>
        <p:spPr>
          <a:xfrm>
            <a:off x="3811667" y="5201603"/>
            <a:ext cx="295037" cy="368856"/>
          </a:xfrm>
          <a:prstGeom prst="rect">
            <a:avLst/>
          </a:prstGeom>
          <a:noFill/>
          <a:ln/>
        </p:spPr>
        <p:txBody>
          <a:bodyPr wrap="none" lIns="0" tIns="0" rIns="0" bIns="0" rtlCol="0" anchor="t"/>
          <a:lstStyle/>
          <a:p>
            <a:pPr marL="0" indent="0" algn="l">
              <a:lnSpc>
                <a:spcPts val="2300"/>
              </a:lnSpc>
              <a:buNone/>
            </a:pPr>
            <a:r>
              <a:rPr lang="en-US" sz="2300" b="1" dirty="0">
                <a:latin typeface="Lato Bold" pitchFamily="34" charset="0"/>
                <a:ea typeface="Lato Bold" pitchFamily="34" charset="-122"/>
                <a:cs typeface="Lato Bold" pitchFamily="34" charset="-120"/>
              </a:rPr>
              <a:t>3</a:t>
            </a:r>
            <a:endParaRPr lang="en-US" sz="2300" dirty="0"/>
          </a:p>
        </p:txBody>
      </p:sp>
      <p:sp>
        <p:nvSpPr>
          <p:cNvPr id="17" name="Text 15"/>
          <p:cNvSpPr/>
          <p:nvPr/>
        </p:nvSpPr>
        <p:spPr>
          <a:xfrm>
            <a:off x="908209" y="5851803"/>
            <a:ext cx="2459474" cy="307419"/>
          </a:xfrm>
          <a:prstGeom prst="rect">
            <a:avLst/>
          </a:prstGeom>
          <a:noFill/>
          <a:ln/>
        </p:spPr>
        <p:txBody>
          <a:bodyPr wrap="none" lIns="0" tIns="0" rIns="0" bIns="0" rtlCol="0" anchor="t"/>
          <a:lstStyle/>
          <a:p>
            <a:pPr marL="0" indent="0" algn="l">
              <a:lnSpc>
                <a:spcPts val="2400"/>
              </a:lnSpc>
              <a:buNone/>
            </a:pPr>
            <a:r>
              <a:rPr lang="en-US" sz="2000" b="1" dirty="0">
                <a:latin typeface="Lato Bold" pitchFamily="34" charset="0"/>
                <a:ea typeface="Lato Bold" pitchFamily="34" charset="-122"/>
                <a:cs typeface="Lato Bold" pitchFamily="34" charset="-120"/>
              </a:rPr>
              <a:t>Value Proposition</a:t>
            </a:r>
            <a:endParaRPr lang="en-US" sz="2000" dirty="0"/>
          </a:p>
        </p:txBody>
      </p:sp>
      <p:sp>
        <p:nvSpPr>
          <p:cNvPr id="18" name="Text 16"/>
          <p:cNvSpPr/>
          <p:nvPr/>
        </p:nvSpPr>
        <p:spPr>
          <a:xfrm>
            <a:off x="908209" y="6261616"/>
            <a:ext cx="6102072" cy="647581"/>
          </a:xfrm>
          <a:prstGeom prst="rect">
            <a:avLst/>
          </a:prstGeom>
          <a:noFill/>
          <a:ln/>
        </p:spPr>
        <p:txBody>
          <a:bodyPr wrap="square" lIns="0" tIns="0" rIns="0" bIns="0" rtlCol="0" anchor="t"/>
          <a:lstStyle/>
          <a:p>
            <a:pPr marL="342900" indent="-342900" algn="l">
              <a:lnSpc>
                <a:spcPts val="250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AI-powered intelligent study assistant</a:t>
            </a:r>
            <a:endParaRPr lang="en-US" sz="1600" dirty="0"/>
          </a:p>
          <a:p>
            <a:pPr marL="342900" indent="-342900" algn="l">
              <a:lnSpc>
                <a:spcPts val="250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Personalised learning support</a:t>
            </a:r>
            <a:endParaRPr lang="en-US" sz="1600" dirty="0"/>
          </a:p>
        </p:txBody>
      </p:sp>
      <p:sp>
        <p:nvSpPr>
          <p:cNvPr id="19" name="Shape 17"/>
          <p:cNvSpPr/>
          <p:nvPr/>
        </p:nvSpPr>
        <p:spPr>
          <a:xfrm>
            <a:off x="7400449" y="5068133"/>
            <a:ext cx="6541294" cy="2414230"/>
          </a:xfrm>
          <a:prstGeom prst="roundRect">
            <a:avLst>
              <a:gd name="adj" fmla="val 1223"/>
            </a:avLst>
          </a:prstGeom>
          <a:solidFill>
            <a:srgbClr val="EFECE6"/>
          </a:solidFill>
          <a:ln w="22860">
            <a:solidFill>
              <a:srgbClr val="CBC5B8"/>
            </a:solidFill>
            <a:prstDash val="solid"/>
          </a:ln>
        </p:spPr>
        <p:txBody>
          <a:bodyPr/>
          <a:lstStyle/>
          <a:p>
            <a:endParaRPr lang="en-US"/>
          </a:p>
        </p:txBody>
      </p:sp>
      <p:sp>
        <p:nvSpPr>
          <p:cNvPr id="20" name="Shape 18"/>
          <p:cNvSpPr/>
          <p:nvPr/>
        </p:nvSpPr>
        <p:spPr>
          <a:xfrm>
            <a:off x="7423309" y="5090993"/>
            <a:ext cx="6495574" cy="590193"/>
          </a:xfrm>
          <a:prstGeom prst="roundRect">
            <a:avLst>
              <a:gd name="adj" fmla="val 353"/>
            </a:avLst>
          </a:prstGeom>
          <a:solidFill>
            <a:srgbClr val="E5DFD2"/>
          </a:solidFill>
          <a:ln/>
        </p:spPr>
        <p:txBody>
          <a:bodyPr/>
          <a:lstStyle/>
          <a:p>
            <a:endParaRPr lang="en-US"/>
          </a:p>
        </p:txBody>
      </p:sp>
      <p:sp>
        <p:nvSpPr>
          <p:cNvPr id="21" name="Text 19"/>
          <p:cNvSpPr/>
          <p:nvPr/>
        </p:nvSpPr>
        <p:spPr>
          <a:xfrm>
            <a:off x="10523577" y="5201603"/>
            <a:ext cx="295037" cy="368856"/>
          </a:xfrm>
          <a:prstGeom prst="rect">
            <a:avLst/>
          </a:prstGeom>
          <a:noFill/>
          <a:ln/>
        </p:spPr>
        <p:txBody>
          <a:bodyPr wrap="none" lIns="0" tIns="0" rIns="0" bIns="0" rtlCol="0" anchor="t"/>
          <a:lstStyle/>
          <a:p>
            <a:pPr marL="0" indent="0" algn="l">
              <a:lnSpc>
                <a:spcPts val="2300"/>
              </a:lnSpc>
              <a:buNone/>
            </a:pPr>
            <a:r>
              <a:rPr lang="en-US" sz="2300" b="1" dirty="0">
                <a:latin typeface="Lato Bold" pitchFamily="34" charset="0"/>
                <a:ea typeface="Lato Bold" pitchFamily="34" charset="-122"/>
                <a:cs typeface="Lato Bold" pitchFamily="34" charset="-120"/>
              </a:rPr>
              <a:t>4</a:t>
            </a:r>
            <a:endParaRPr lang="en-US" sz="2300" dirty="0"/>
          </a:p>
        </p:txBody>
      </p:sp>
      <p:sp>
        <p:nvSpPr>
          <p:cNvPr id="22" name="Text 20"/>
          <p:cNvSpPr/>
          <p:nvPr/>
        </p:nvSpPr>
        <p:spPr>
          <a:xfrm>
            <a:off x="7620000" y="5851803"/>
            <a:ext cx="2459474" cy="307419"/>
          </a:xfrm>
          <a:prstGeom prst="rect">
            <a:avLst/>
          </a:prstGeom>
          <a:noFill/>
          <a:ln/>
        </p:spPr>
        <p:txBody>
          <a:bodyPr wrap="none" lIns="0" tIns="0" rIns="0" bIns="0" rtlCol="0" anchor="t"/>
          <a:lstStyle/>
          <a:p>
            <a:pPr marL="0" indent="0" algn="l">
              <a:lnSpc>
                <a:spcPts val="2400"/>
              </a:lnSpc>
              <a:buNone/>
            </a:pPr>
            <a:r>
              <a:rPr lang="en-US" sz="2000" b="1" dirty="0">
                <a:latin typeface="Lato Bold" pitchFamily="34" charset="0"/>
                <a:ea typeface="Lato Bold" pitchFamily="34" charset="-122"/>
                <a:cs typeface="Lato Bold" pitchFamily="34" charset="-120"/>
              </a:rPr>
              <a:t>Intellectual Property</a:t>
            </a:r>
            <a:endParaRPr lang="en-US" sz="2000" dirty="0"/>
          </a:p>
        </p:txBody>
      </p:sp>
      <p:sp>
        <p:nvSpPr>
          <p:cNvPr id="23" name="Text 21"/>
          <p:cNvSpPr/>
          <p:nvPr/>
        </p:nvSpPr>
        <p:spPr>
          <a:xfrm>
            <a:off x="7620000" y="6261616"/>
            <a:ext cx="6102191" cy="1001197"/>
          </a:xfrm>
          <a:prstGeom prst="rect">
            <a:avLst/>
          </a:prstGeom>
          <a:noFill/>
          <a:ln/>
        </p:spPr>
        <p:txBody>
          <a:bodyPr wrap="square" lIns="0" tIns="0" rIns="0" bIns="0" rtlCol="0" anchor="t"/>
          <a:lstStyle/>
          <a:p>
            <a:pPr marL="342900" indent="-342900" algn="l">
              <a:lnSpc>
                <a:spcPts val="250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AI models</a:t>
            </a:r>
            <a:endParaRPr lang="en-US" sz="1600" dirty="0"/>
          </a:p>
          <a:p>
            <a:pPr marL="342900" indent="-342900" algn="l">
              <a:lnSpc>
                <a:spcPts val="250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System architecture</a:t>
            </a:r>
            <a:endParaRPr lang="en-US" sz="1600" dirty="0"/>
          </a:p>
          <a:p>
            <a:pPr marL="342900" indent="-342900" algn="l">
              <a:lnSpc>
                <a:spcPts val="2500"/>
              </a:lnSpc>
              <a:buSzPct val="100000"/>
              <a:buFont typeface="Wingdings" panose="05000000000000000000" pitchFamily="2" charset="2"/>
              <a:buChar char="ü"/>
            </a:pPr>
            <a:r>
              <a:rPr lang="en-US" sz="1600" dirty="0">
                <a:latin typeface="Lato" pitchFamily="34" charset="0"/>
                <a:ea typeface="Lato" pitchFamily="34" charset="-122"/>
                <a:cs typeface="Lato" pitchFamily="34" charset="-120"/>
              </a:rPr>
              <a:t>Algorithms</a:t>
            </a:r>
            <a:endParaRPr lang="en-US" sz="1600" dirty="0"/>
          </a:p>
        </p:txBody>
      </p:sp>
      <p:sp>
        <p:nvSpPr>
          <p:cNvPr id="24" name="Rectangle 23">
            <a:extLst>
              <a:ext uri="{FF2B5EF4-FFF2-40B4-BE49-F238E27FC236}">
                <a16:creationId xmlns:a16="http://schemas.microsoft.com/office/drawing/2014/main" id="{ACA4EB40-314C-F4D6-FFE0-96B1DCFF9F9F}"/>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R26-SE-022</a:t>
            </a:r>
            <a:endParaRPr lang="en-US" sz="1600" dirty="0">
              <a:solidFill>
                <a:schemeClr val="tx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37830" y="579715"/>
            <a:ext cx="3952637" cy="494109"/>
          </a:xfrm>
          <a:prstGeom prst="rect">
            <a:avLst/>
          </a:prstGeom>
          <a:noFill/>
          <a:ln/>
        </p:spPr>
        <p:txBody>
          <a:bodyPr wrap="none" lIns="0" tIns="0" rIns="0" bIns="0" rtlCol="0" anchor="t"/>
          <a:lstStyle/>
          <a:p>
            <a:pPr marL="0" indent="0" algn="l">
              <a:lnSpc>
                <a:spcPts val="3850"/>
              </a:lnSpc>
              <a:buNone/>
            </a:pPr>
            <a:r>
              <a:rPr lang="en-US" sz="4200" b="1" dirty="0">
                <a:latin typeface="Lato Bold" pitchFamily="34" charset="0"/>
                <a:ea typeface="Lato Bold" pitchFamily="34" charset="-122"/>
                <a:cs typeface="Lato Bold" pitchFamily="34" charset="-120"/>
              </a:rPr>
              <a:t>Project Plan</a:t>
            </a:r>
            <a:endParaRPr lang="en-US" sz="4200" dirty="0"/>
          </a:p>
        </p:txBody>
      </p:sp>
      <p:sp>
        <p:nvSpPr>
          <p:cNvPr id="3" name="Text 1"/>
          <p:cNvSpPr/>
          <p:nvPr/>
        </p:nvSpPr>
        <p:spPr>
          <a:xfrm>
            <a:off x="737830" y="1294209"/>
            <a:ext cx="13154739" cy="214551"/>
          </a:xfrm>
          <a:prstGeom prst="rect">
            <a:avLst/>
          </a:prstGeom>
          <a:noFill/>
          <a:ln/>
        </p:spPr>
        <p:txBody>
          <a:bodyPr wrap="none" lIns="0" tIns="0" rIns="0" bIns="0" rtlCol="0" anchor="t"/>
          <a:lstStyle/>
          <a:p>
            <a:pPr marL="0" indent="0" algn="l">
              <a:lnSpc>
                <a:spcPts val="1650"/>
              </a:lnSpc>
              <a:buNone/>
            </a:pPr>
            <a:r>
              <a:rPr lang="en-US" sz="1600" dirty="0">
                <a:latin typeface="Lato" pitchFamily="34" charset="0"/>
                <a:ea typeface="Lato" pitchFamily="34" charset="-122"/>
                <a:cs typeface="Lato" pitchFamily="34" charset="-120"/>
              </a:rPr>
              <a:t>Our project plan outlines the key phases and work breakdown structure, ensuring a systematic approach to development and delivery.</a:t>
            </a:r>
            <a:endParaRPr lang="en-US" sz="1600" dirty="0"/>
          </a:p>
        </p:txBody>
      </p:sp>
      <p:sp>
        <p:nvSpPr>
          <p:cNvPr id="6" name="Text 2"/>
          <p:cNvSpPr/>
          <p:nvPr/>
        </p:nvSpPr>
        <p:spPr>
          <a:xfrm>
            <a:off x="737830" y="7263170"/>
            <a:ext cx="13154739" cy="429101"/>
          </a:xfrm>
          <a:prstGeom prst="rect">
            <a:avLst/>
          </a:prstGeom>
          <a:noFill/>
          <a:ln/>
        </p:spPr>
        <p:txBody>
          <a:bodyPr wrap="square" lIns="0" tIns="0" rIns="0" bIns="0" rtlCol="0" anchor="t"/>
          <a:lstStyle/>
          <a:p>
            <a:pPr marL="0" indent="0" algn="l">
              <a:lnSpc>
                <a:spcPts val="1650"/>
              </a:lnSpc>
              <a:buNone/>
            </a:pPr>
            <a:r>
              <a:rPr lang="en-US" sz="1600" dirty="0">
                <a:latin typeface="Lato" pitchFamily="34" charset="0"/>
                <a:ea typeface="Lato" pitchFamily="34" charset="-122"/>
                <a:cs typeface="Lato" pitchFamily="34" charset="-120"/>
              </a:rPr>
              <a:t>This timeline provides a high-level overview of the project's progression, from initial research to final deployment, allocating sufficient time for each critical stage. The total estimated project duration is approximately 20-25 weeks, allowing for sequential and overlapping tasks.</a:t>
            </a:r>
            <a:endParaRPr lang="en-US" sz="1600" dirty="0"/>
          </a:p>
        </p:txBody>
      </p:sp>
      <p:sp>
        <p:nvSpPr>
          <p:cNvPr id="7" name="Rectangle 6">
            <a:extLst>
              <a:ext uri="{FF2B5EF4-FFF2-40B4-BE49-F238E27FC236}">
                <a16:creationId xmlns:a16="http://schemas.microsoft.com/office/drawing/2014/main" id="{4868345A-80DD-11D4-4D33-9E00853FA446}"/>
              </a:ext>
            </a:extLst>
          </p:cNvPr>
          <p:cNvSpPr/>
          <p:nvPr/>
        </p:nvSpPr>
        <p:spPr>
          <a:xfrm>
            <a:off x="-10392" y="7757082"/>
            <a:ext cx="14640791" cy="472054"/>
          </a:xfrm>
          <a:prstGeom prst="rect">
            <a:avLst/>
          </a:prstGeom>
          <a:solidFill>
            <a:srgbClr val="EFEC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Lato" pitchFamily="34" charset="0"/>
                <a:ea typeface="Lato" pitchFamily="34" charset="-122"/>
                <a:cs typeface="Lato" pitchFamily="34" charset="-120"/>
              </a:rPr>
              <a:t>R26-SE-022</a:t>
            </a:r>
            <a:endParaRPr lang="en-US" sz="1600" dirty="0">
              <a:solidFill>
                <a:schemeClr val="tx1"/>
              </a:solidFill>
            </a:endParaRPr>
          </a:p>
        </p:txBody>
      </p:sp>
      <p:pic>
        <p:nvPicPr>
          <p:cNvPr id="9" name="Picture 8">
            <a:extLst>
              <a:ext uri="{FF2B5EF4-FFF2-40B4-BE49-F238E27FC236}">
                <a16:creationId xmlns:a16="http://schemas.microsoft.com/office/drawing/2014/main" id="{9833377F-0517-E55B-0648-9DBB534D6BC6}"/>
              </a:ext>
            </a:extLst>
          </p:cNvPr>
          <p:cNvPicPr>
            <a:picLocks noChangeAspect="1"/>
          </p:cNvPicPr>
          <p:nvPr/>
        </p:nvPicPr>
        <p:blipFill>
          <a:blip r:embed="rId3"/>
          <a:stretch>
            <a:fillRect/>
          </a:stretch>
        </p:blipFill>
        <p:spPr>
          <a:xfrm>
            <a:off x="737830" y="1718754"/>
            <a:ext cx="6320177" cy="3424746"/>
          </a:xfrm>
          <a:prstGeom prst="rect">
            <a:avLst/>
          </a:prstGeom>
        </p:spPr>
      </p:pic>
      <p:pic>
        <p:nvPicPr>
          <p:cNvPr id="11" name="Picture 10">
            <a:extLst>
              <a:ext uri="{FF2B5EF4-FFF2-40B4-BE49-F238E27FC236}">
                <a16:creationId xmlns:a16="http://schemas.microsoft.com/office/drawing/2014/main" id="{1C31B808-7B89-FA0F-D16D-7A5E8559EFCD}"/>
              </a:ext>
            </a:extLst>
          </p:cNvPr>
          <p:cNvPicPr>
            <a:picLocks noChangeAspect="1"/>
          </p:cNvPicPr>
          <p:nvPr/>
        </p:nvPicPr>
        <p:blipFill>
          <a:blip r:embed="rId4"/>
          <a:stretch>
            <a:fillRect/>
          </a:stretch>
        </p:blipFill>
        <p:spPr>
          <a:xfrm>
            <a:off x="7315200" y="3379144"/>
            <a:ext cx="6933256" cy="352871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FECE6">
              <a:alpha val="85000"/>
            </a:srgbClr>
          </a:solidFill>
          <a:ln/>
        </p:spPr>
        <p:txBody>
          <a:bodyPr/>
          <a:lstStyle/>
          <a:p>
            <a:endParaRPr lang="en-US"/>
          </a:p>
        </p:txBody>
      </p:sp>
      <p:sp>
        <p:nvSpPr>
          <p:cNvPr id="4" name="Text 1"/>
          <p:cNvSpPr/>
          <p:nvPr/>
        </p:nvSpPr>
        <p:spPr>
          <a:xfrm>
            <a:off x="793790" y="2010013"/>
            <a:ext cx="13042821" cy="2126456"/>
          </a:xfrm>
          <a:prstGeom prst="rect">
            <a:avLst/>
          </a:prstGeom>
          <a:noFill/>
          <a:ln/>
        </p:spPr>
        <p:txBody>
          <a:bodyPr wrap="none" lIns="0" tIns="0" rIns="0" bIns="0" rtlCol="0" anchor="t"/>
          <a:lstStyle/>
          <a:p>
            <a:pPr marL="0" indent="0" algn="l">
              <a:lnSpc>
                <a:spcPts val="16700"/>
              </a:lnSpc>
              <a:buNone/>
            </a:pPr>
            <a:r>
              <a:rPr lang="en-US" sz="13350" b="1" dirty="0">
                <a:latin typeface="Lato Bold" pitchFamily="34" charset="0"/>
                <a:ea typeface="Lato Bold" pitchFamily="34" charset="-122"/>
                <a:cs typeface="Lato Bold" pitchFamily="34" charset="-120"/>
              </a:rPr>
              <a:t>Thank You</a:t>
            </a:r>
            <a:endParaRPr lang="en-US" sz="13350" dirty="0"/>
          </a:p>
        </p:txBody>
      </p:sp>
      <p:sp>
        <p:nvSpPr>
          <p:cNvPr id="5" name="Text 2"/>
          <p:cNvSpPr/>
          <p:nvPr/>
        </p:nvSpPr>
        <p:spPr>
          <a:xfrm>
            <a:off x="793790" y="4476631"/>
            <a:ext cx="4536519" cy="566976"/>
          </a:xfrm>
          <a:prstGeom prst="rect">
            <a:avLst/>
          </a:prstGeom>
          <a:noFill/>
          <a:ln/>
        </p:spPr>
        <p:txBody>
          <a:bodyPr wrap="none" lIns="0" tIns="0" rIns="0" bIns="0" rtlCol="0" anchor="t"/>
          <a:lstStyle/>
          <a:p>
            <a:pPr marL="0" indent="0" algn="l">
              <a:lnSpc>
                <a:spcPts val="4450"/>
              </a:lnSpc>
              <a:buNone/>
            </a:pPr>
            <a:r>
              <a:rPr lang="en-US" sz="3550" b="1" dirty="0">
                <a:latin typeface="Lato Bold" pitchFamily="34" charset="0"/>
                <a:ea typeface="Lato Bold" pitchFamily="34" charset="-122"/>
                <a:cs typeface="Lato Bold" pitchFamily="34" charset="-120"/>
              </a:rPr>
              <a:t>Questions?</a:t>
            </a:r>
            <a:endParaRPr lang="en-US" sz="3550" dirty="0"/>
          </a:p>
        </p:txBody>
      </p:sp>
      <p:sp>
        <p:nvSpPr>
          <p:cNvPr id="6" name="Text 3"/>
          <p:cNvSpPr/>
          <p:nvPr/>
        </p:nvSpPr>
        <p:spPr>
          <a:xfrm>
            <a:off x="793790" y="5383768"/>
            <a:ext cx="13042821" cy="290274"/>
          </a:xfrm>
          <a:prstGeom prst="rect">
            <a:avLst/>
          </a:prstGeom>
          <a:noFill/>
          <a:ln/>
        </p:spPr>
        <p:txBody>
          <a:bodyPr wrap="none" lIns="0" tIns="0" rIns="0" bIns="0" rtlCol="0" anchor="t"/>
          <a:lstStyle/>
          <a:p>
            <a:pPr marL="0" indent="0" algn="l">
              <a:lnSpc>
                <a:spcPts val="2250"/>
              </a:lnSpc>
              <a:buNone/>
            </a:pPr>
            <a:r>
              <a:rPr lang="en-US" sz="1600" dirty="0">
                <a:latin typeface="Lato" pitchFamily="34" charset="0"/>
                <a:ea typeface="Lato" pitchFamily="34" charset="-122"/>
                <a:cs typeface="Lato" pitchFamily="34" charset="-120"/>
              </a:rPr>
              <a:t>AI-Enabled Intelligent Study Assistant</a:t>
            </a:r>
            <a:endParaRPr lang="en-US" sz="1600" dirty="0"/>
          </a:p>
        </p:txBody>
      </p:sp>
      <p:sp>
        <p:nvSpPr>
          <p:cNvPr id="7" name="Text 4"/>
          <p:cNvSpPr/>
          <p:nvPr/>
        </p:nvSpPr>
        <p:spPr>
          <a:xfrm>
            <a:off x="793790" y="5929193"/>
            <a:ext cx="13042821" cy="290274"/>
          </a:xfrm>
          <a:prstGeom prst="rect">
            <a:avLst/>
          </a:prstGeom>
          <a:noFill/>
          <a:ln/>
        </p:spPr>
        <p:txBody>
          <a:bodyPr wrap="none" lIns="0" tIns="0" rIns="0" bIns="0" rtlCol="0" anchor="t"/>
          <a:lstStyle/>
          <a:p>
            <a:pPr marL="0" indent="0" algn="l">
              <a:lnSpc>
                <a:spcPts val="2250"/>
              </a:lnSpc>
              <a:buNone/>
            </a:pPr>
            <a:r>
              <a:rPr lang="en-US" sz="1600" dirty="0">
                <a:latin typeface="Lato" pitchFamily="34" charset="0"/>
                <a:ea typeface="Lato" pitchFamily="34" charset="-122"/>
                <a:cs typeface="Lato" pitchFamily="34" charset="-120"/>
              </a:rPr>
              <a:t>R26-SE-022</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270</TotalTime>
  <Words>1915</Words>
  <Application>Microsoft Office PowerPoint</Application>
  <PresentationFormat>Custom</PresentationFormat>
  <Paragraphs>360</Paragraphs>
  <Slides>25</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Lato Bold</vt:lpstr>
      <vt:lpstr>Lato</vt:lpstr>
      <vt:lpstr>Wingdings</vt:lpstr>
      <vt:lpstr>Aptos</vt:lpstr>
      <vt:lpstr>Lato Light</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HIRAN HT</cp:lastModifiedBy>
  <cp:revision>5</cp:revision>
  <dcterms:created xsi:type="dcterms:W3CDTF">2026-03-15T16:19:56Z</dcterms:created>
  <dcterms:modified xsi:type="dcterms:W3CDTF">2026-03-15T21:04:53Z</dcterms:modified>
</cp:coreProperties>
</file>