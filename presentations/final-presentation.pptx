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3" r:id="rId6"/>
    <p:sldId id="269" r:id="rId7"/>
    <p:sldId id="271" r:id="rId8"/>
    <p:sldId id="266" r:id="rId9"/>
    <p:sldId id="260" r:id="rId10"/>
    <p:sldId id="273" r:id="rId11"/>
  </p:sldIdLst>
  <p:sldSz cx="12192000" cy="6858000"/>
  <p:notesSz cx="6858000" cy="12192000"/>
  <p:embeddedFontLst>
    <p:embeddedFont>
      <p:font typeface="Baskervville" panose="020B0604020202020204" charset="0"/>
      <p:regular r:id="rId13"/>
    </p:embeddedFont>
    <p:embeddedFont>
      <p:font typeface="Poppins" panose="00000500000000000000" pitchFamily="2" charset="0"/>
      <p:regular r:id="rId14"/>
      <p:bold r:id="rId15"/>
      <p:italic r:id="rId16"/>
    </p:embeddedFont>
    <p:embeddedFont>
      <p:font typeface="Poppins Bold" panose="00000800000000000000" charset="0"/>
      <p:regular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3302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1.jpe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jpeg"/><Relationship Id="rId7" Type="http://schemas.openxmlformats.org/officeDocument/2006/relationships/image" Target="../media/image16.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 Id="rId9" Type="http://schemas.openxmlformats.org/officeDocument/2006/relationships/image" Target="../media/image18.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112813" y="2519859"/>
            <a:ext cx="6537955" cy="1388666"/>
          </a:xfrm>
          <a:prstGeom prst="rect">
            <a:avLst/>
          </a:prstGeom>
          <a:noFill/>
          <a:ln/>
        </p:spPr>
        <p:txBody>
          <a:bodyPr wrap="square" lIns="0" tIns="0" rIns="0" bIns="0" rtlCol="0" anchor="t">
            <a:normAutofit/>
          </a:bodyPr>
          <a:lstStyle/>
          <a:p>
            <a:pPr marL="0" indent="0" algn="l">
              <a:lnSpc>
                <a:spcPct val="104000"/>
              </a:lnSpc>
              <a:buNone/>
            </a:pPr>
            <a:r>
              <a:rPr lang="en-US" sz="4350" dirty="0">
                <a:solidFill>
                  <a:srgbClr val="787878"/>
                </a:solidFill>
                <a:latin typeface="Baskervville" pitchFamily="34" charset="0"/>
                <a:ea typeface="Baskervville" pitchFamily="34" charset="-122"/>
                <a:cs typeface="Baskervville" pitchFamily="34" charset="-120"/>
              </a:rPr>
              <a:t>AuraLearn — Final presentation </a:t>
            </a:r>
            <a:endParaRPr lang="en-US" sz="4350" dirty="0"/>
          </a:p>
        </p:txBody>
      </p:sp>
      <p:sp>
        <p:nvSpPr>
          <p:cNvPr id="4" name="Text 1"/>
          <p:cNvSpPr/>
          <p:nvPr/>
        </p:nvSpPr>
        <p:spPr>
          <a:xfrm>
            <a:off x="5112813" y="4140299"/>
            <a:ext cx="7078882" cy="197743"/>
          </a:xfrm>
          <a:prstGeom prst="rect">
            <a:avLst/>
          </a:prstGeom>
          <a:noFill/>
          <a:ln/>
        </p:spPr>
        <p:txBody>
          <a:bodyPr wrap="none" lIns="0" tIns="0" rIns="0" bIns="0" rtlCol="0" anchor="t"/>
          <a:lstStyle/>
          <a:p>
            <a:pPr marL="0" indent="0" algn="l">
              <a:lnSpc>
                <a:spcPct val="133000"/>
              </a:lnSpc>
              <a:buNone/>
            </a:pPr>
            <a:r>
              <a:rPr lang="en-US" sz="950" dirty="0">
                <a:solidFill>
                  <a:srgbClr val="6E6666"/>
                </a:solidFill>
                <a:latin typeface="Poppins" pitchFamily="34" charset="0"/>
                <a:ea typeface="Poppins" pitchFamily="34" charset="-122"/>
                <a:cs typeface="Poppins" pitchFamily="34" charset="-120"/>
              </a:rPr>
              <a:t>Concise progress for students, lecturers, and EdTech stakeholders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2567583"/>
          </a:xfrm>
          <a:prstGeom prst="rect">
            <a:avLst/>
          </a:prstGeom>
        </p:spPr>
      </p:pic>
      <p:sp>
        <p:nvSpPr>
          <p:cNvPr id="3" name="Text 0"/>
          <p:cNvSpPr/>
          <p:nvPr/>
        </p:nvSpPr>
        <p:spPr>
          <a:xfrm>
            <a:off x="540927" y="3037185"/>
            <a:ext cx="11109841" cy="615156"/>
          </a:xfrm>
          <a:prstGeom prst="rect">
            <a:avLst/>
          </a:prstGeom>
          <a:noFill/>
          <a:ln/>
        </p:spPr>
        <p:txBody>
          <a:bodyPr wrap="none" lIns="0" tIns="0" rIns="0" bIns="0" rtlCol="0" anchor="t"/>
          <a:lstStyle/>
          <a:p>
            <a:pPr marL="0" indent="0" algn="l">
              <a:lnSpc>
                <a:spcPct val="104000"/>
              </a:lnSpc>
              <a:buNone/>
            </a:pPr>
            <a:r>
              <a:rPr lang="en-US" sz="3850" dirty="0">
                <a:solidFill>
                  <a:srgbClr val="787878"/>
                </a:solidFill>
                <a:latin typeface="Baskervville" pitchFamily="34" charset="0"/>
                <a:ea typeface="Baskervville" pitchFamily="34" charset="-122"/>
                <a:cs typeface="Baskervville" pitchFamily="34" charset="-120"/>
              </a:rPr>
              <a:t>Problem, Stakeholders &amp; Pain Points</a:t>
            </a:r>
            <a:endParaRPr lang="en-US" sz="385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0927" y="3851374"/>
            <a:ext cx="136918" cy="136922"/>
          </a:xfrm>
          <a:prstGeom prst="rect">
            <a:avLst/>
          </a:prstGeom>
        </p:spPr>
      </p:pic>
      <p:sp>
        <p:nvSpPr>
          <p:cNvPr id="5" name="Shape 1"/>
          <p:cNvSpPr/>
          <p:nvPr/>
        </p:nvSpPr>
        <p:spPr>
          <a:xfrm>
            <a:off x="540927" y="4048026"/>
            <a:ext cx="5494299" cy="19050"/>
          </a:xfrm>
          <a:prstGeom prst="rect">
            <a:avLst/>
          </a:prstGeom>
          <a:solidFill>
            <a:srgbClr val="C7A2AC"/>
          </a:solidFill>
          <a:ln/>
        </p:spPr>
        <p:txBody>
          <a:bodyPr/>
          <a:lstStyle/>
          <a:p>
            <a:endParaRPr lang="en-US"/>
          </a:p>
        </p:txBody>
      </p:sp>
      <p:sp>
        <p:nvSpPr>
          <p:cNvPr id="6" name="Text 2"/>
          <p:cNvSpPr/>
          <p:nvPr/>
        </p:nvSpPr>
        <p:spPr>
          <a:xfrm>
            <a:off x="540927" y="4154587"/>
            <a:ext cx="5494299" cy="307578"/>
          </a:xfrm>
          <a:prstGeom prst="rect">
            <a:avLst/>
          </a:prstGeom>
          <a:noFill/>
          <a:ln/>
        </p:spPr>
        <p:txBody>
          <a:bodyPr wrap="none" lIns="0" tIns="0" rIns="0" bIns="0" rtlCol="0" anchor="t"/>
          <a:lstStyle/>
          <a:p>
            <a:pPr marL="0" indent="0" algn="l">
              <a:lnSpc>
                <a:spcPct val="104000"/>
              </a:lnSpc>
              <a:buNone/>
            </a:pPr>
            <a:r>
              <a:rPr lang="en-US" sz="1900" dirty="0">
                <a:solidFill>
                  <a:srgbClr val="6E6666"/>
                </a:solidFill>
                <a:latin typeface="Baskervville" pitchFamily="34" charset="0"/>
                <a:ea typeface="Baskervville" pitchFamily="34" charset="-122"/>
                <a:cs typeface="Baskervville" pitchFamily="34" charset="-120"/>
              </a:rPr>
              <a:t>Stakeholders</a:t>
            </a:r>
            <a:endParaRPr lang="en-US" sz="1900" dirty="0"/>
          </a:p>
        </p:txBody>
      </p:sp>
      <p:sp>
        <p:nvSpPr>
          <p:cNvPr id="7" name="Text 3"/>
          <p:cNvSpPr/>
          <p:nvPr/>
        </p:nvSpPr>
        <p:spPr>
          <a:xfrm>
            <a:off x="540927" y="4534892"/>
            <a:ext cx="5494299" cy="206573"/>
          </a:xfrm>
          <a:prstGeom prst="rect">
            <a:avLst/>
          </a:prstGeom>
          <a:noFill/>
          <a:ln/>
        </p:spPr>
        <p:txBody>
          <a:bodyPr wrap="none" lIns="0" tIns="0" rIns="0" bIns="0" rtlCol="0" anchor="t"/>
          <a:lstStyle/>
          <a:p>
            <a:pPr marL="0" indent="0" algn="l">
              <a:lnSpc>
                <a:spcPct val="126000"/>
              </a:lnSpc>
              <a:buNone/>
            </a:pPr>
            <a:r>
              <a:rPr lang="en-US" sz="1050" dirty="0">
                <a:solidFill>
                  <a:srgbClr val="6E6666"/>
                </a:solidFill>
                <a:latin typeface="Poppins" pitchFamily="34" charset="0"/>
                <a:ea typeface="Poppins" pitchFamily="34" charset="-122"/>
                <a:cs typeface="Poppins" pitchFamily="34" charset="-120"/>
              </a:rPr>
              <a:t>University students · Lecturers/instructors · EdTech platforms</a:t>
            </a:r>
            <a:endParaRPr lang="en-US" sz="10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56469" y="3851374"/>
            <a:ext cx="136918" cy="136922"/>
          </a:xfrm>
          <a:prstGeom prst="rect">
            <a:avLst/>
          </a:prstGeom>
        </p:spPr>
      </p:pic>
      <p:sp>
        <p:nvSpPr>
          <p:cNvPr id="9" name="Shape 4"/>
          <p:cNvSpPr/>
          <p:nvPr/>
        </p:nvSpPr>
        <p:spPr>
          <a:xfrm>
            <a:off x="6156469" y="4048026"/>
            <a:ext cx="5494299" cy="19050"/>
          </a:xfrm>
          <a:prstGeom prst="rect">
            <a:avLst/>
          </a:prstGeom>
          <a:solidFill>
            <a:srgbClr val="C7A2AC"/>
          </a:solidFill>
          <a:ln/>
        </p:spPr>
        <p:txBody>
          <a:bodyPr/>
          <a:lstStyle/>
          <a:p>
            <a:endParaRPr lang="en-US"/>
          </a:p>
        </p:txBody>
      </p:sp>
      <p:sp>
        <p:nvSpPr>
          <p:cNvPr id="10" name="Text 5"/>
          <p:cNvSpPr/>
          <p:nvPr/>
        </p:nvSpPr>
        <p:spPr>
          <a:xfrm>
            <a:off x="6156469" y="4154587"/>
            <a:ext cx="5494299" cy="307578"/>
          </a:xfrm>
          <a:prstGeom prst="rect">
            <a:avLst/>
          </a:prstGeom>
          <a:noFill/>
          <a:ln/>
        </p:spPr>
        <p:txBody>
          <a:bodyPr wrap="none" lIns="0" tIns="0" rIns="0" bIns="0" rtlCol="0" anchor="t"/>
          <a:lstStyle/>
          <a:p>
            <a:pPr marL="0" indent="0" algn="l">
              <a:lnSpc>
                <a:spcPct val="104000"/>
              </a:lnSpc>
              <a:buNone/>
            </a:pPr>
            <a:r>
              <a:rPr lang="en-US" sz="1900" dirty="0">
                <a:solidFill>
                  <a:srgbClr val="6E6666"/>
                </a:solidFill>
                <a:latin typeface="Baskervville" pitchFamily="34" charset="0"/>
                <a:ea typeface="Baskervville" pitchFamily="34" charset="-122"/>
                <a:cs typeface="Baskervville" pitchFamily="34" charset="-120"/>
              </a:rPr>
              <a:t>Information overload</a:t>
            </a:r>
            <a:endParaRPr lang="en-US" sz="1900" dirty="0"/>
          </a:p>
        </p:txBody>
      </p:sp>
      <p:sp>
        <p:nvSpPr>
          <p:cNvPr id="11" name="Text 6"/>
          <p:cNvSpPr/>
          <p:nvPr/>
        </p:nvSpPr>
        <p:spPr>
          <a:xfrm>
            <a:off x="6156469" y="4534892"/>
            <a:ext cx="5494299" cy="413147"/>
          </a:xfrm>
          <a:prstGeom prst="rect">
            <a:avLst/>
          </a:prstGeom>
          <a:noFill/>
          <a:ln/>
        </p:spPr>
        <p:txBody>
          <a:bodyPr wrap="square" lIns="0" tIns="0" rIns="0" bIns="0" rtlCol="0" anchor="t">
            <a:normAutofit/>
          </a:bodyPr>
          <a:lstStyle/>
          <a:p>
            <a:pPr marL="0" indent="0" algn="l">
              <a:lnSpc>
                <a:spcPct val="126000"/>
              </a:lnSpc>
              <a:buNone/>
            </a:pPr>
            <a:r>
              <a:rPr lang="en-US" sz="1050" dirty="0">
                <a:solidFill>
                  <a:srgbClr val="6E6666"/>
                </a:solidFill>
                <a:latin typeface="Poppins" pitchFamily="34" charset="0"/>
                <a:ea typeface="Poppins" pitchFamily="34" charset="-122"/>
                <a:cs typeface="Poppins" pitchFamily="34" charset="-120"/>
              </a:rPr>
              <a:t>Students struggle to filter exam‑relevant content from voluminous lecture materials</a:t>
            </a:r>
            <a:endParaRPr lang="en-US" sz="10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0927" y="5189041"/>
            <a:ext cx="136918" cy="136922"/>
          </a:xfrm>
          <a:prstGeom prst="rect">
            <a:avLst/>
          </a:prstGeom>
        </p:spPr>
      </p:pic>
      <p:sp>
        <p:nvSpPr>
          <p:cNvPr id="13" name="Shape 7"/>
          <p:cNvSpPr/>
          <p:nvPr/>
        </p:nvSpPr>
        <p:spPr>
          <a:xfrm>
            <a:off x="540927" y="5385693"/>
            <a:ext cx="5494299" cy="19050"/>
          </a:xfrm>
          <a:prstGeom prst="rect">
            <a:avLst/>
          </a:prstGeom>
          <a:solidFill>
            <a:srgbClr val="C7A2AC"/>
          </a:solidFill>
          <a:ln/>
        </p:spPr>
        <p:txBody>
          <a:bodyPr/>
          <a:lstStyle/>
          <a:p>
            <a:endParaRPr lang="en-US"/>
          </a:p>
        </p:txBody>
      </p:sp>
      <p:sp>
        <p:nvSpPr>
          <p:cNvPr id="14" name="Text 8"/>
          <p:cNvSpPr/>
          <p:nvPr/>
        </p:nvSpPr>
        <p:spPr>
          <a:xfrm>
            <a:off x="540927" y="5492254"/>
            <a:ext cx="5494299" cy="307578"/>
          </a:xfrm>
          <a:prstGeom prst="rect">
            <a:avLst/>
          </a:prstGeom>
          <a:noFill/>
          <a:ln/>
        </p:spPr>
        <p:txBody>
          <a:bodyPr wrap="none" lIns="0" tIns="0" rIns="0" bIns="0" rtlCol="0" anchor="t"/>
          <a:lstStyle/>
          <a:p>
            <a:pPr marL="0" indent="0" algn="l">
              <a:lnSpc>
                <a:spcPct val="104000"/>
              </a:lnSpc>
              <a:buNone/>
            </a:pPr>
            <a:r>
              <a:rPr lang="en-US" sz="1900" dirty="0">
                <a:solidFill>
                  <a:srgbClr val="6E6666"/>
                </a:solidFill>
                <a:latin typeface="Baskervville" pitchFamily="34" charset="0"/>
                <a:ea typeface="Baskervville" pitchFamily="34" charset="-122"/>
                <a:cs typeface="Baskervville" pitchFamily="34" charset="-120"/>
              </a:rPr>
              <a:t>Misinformation (hallucinations)</a:t>
            </a:r>
            <a:endParaRPr lang="en-US" sz="1900" dirty="0"/>
          </a:p>
        </p:txBody>
      </p:sp>
      <p:sp>
        <p:nvSpPr>
          <p:cNvPr id="15" name="Text 9"/>
          <p:cNvSpPr/>
          <p:nvPr/>
        </p:nvSpPr>
        <p:spPr>
          <a:xfrm>
            <a:off x="540927" y="5872559"/>
            <a:ext cx="5494299" cy="413147"/>
          </a:xfrm>
          <a:prstGeom prst="rect">
            <a:avLst/>
          </a:prstGeom>
          <a:noFill/>
          <a:ln/>
        </p:spPr>
        <p:txBody>
          <a:bodyPr wrap="square" lIns="0" tIns="0" rIns="0" bIns="0" rtlCol="0" anchor="t">
            <a:normAutofit/>
          </a:bodyPr>
          <a:lstStyle/>
          <a:p>
            <a:pPr marL="0" indent="0" algn="l">
              <a:lnSpc>
                <a:spcPct val="126000"/>
              </a:lnSpc>
              <a:buNone/>
            </a:pPr>
            <a:r>
              <a:rPr lang="en-US" sz="1050" dirty="0">
                <a:solidFill>
                  <a:srgbClr val="6E6666"/>
                </a:solidFill>
                <a:latin typeface="Poppins" pitchFamily="34" charset="0"/>
                <a:ea typeface="Poppins" pitchFamily="34" charset="-122"/>
                <a:cs typeface="Poppins" pitchFamily="34" charset="-120"/>
              </a:rPr>
              <a:t>AI tutors sometimes deliver unverified or incorrect answers during high‑stakes prep</a:t>
            </a:r>
            <a:endParaRPr lang="en-US" sz="105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156469" y="5189041"/>
            <a:ext cx="136918" cy="136922"/>
          </a:xfrm>
          <a:prstGeom prst="rect">
            <a:avLst/>
          </a:prstGeom>
        </p:spPr>
      </p:pic>
      <p:sp>
        <p:nvSpPr>
          <p:cNvPr id="17" name="Shape 10"/>
          <p:cNvSpPr/>
          <p:nvPr/>
        </p:nvSpPr>
        <p:spPr>
          <a:xfrm>
            <a:off x="6156469" y="5385693"/>
            <a:ext cx="5494299" cy="19050"/>
          </a:xfrm>
          <a:prstGeom prst="rect">
            <a:avLst/>
          </a:prstGeom>
          <a:solidFill>
            <a:srgbClr val="C7A2AC"/>
          </a:solidFill>
          <a:ln/>
        </p:spPr>
        <p:txBody>
          <a:bodyPr/>
          <a:lstStyle/>
          <a:p>
            <a:endParaRPr lang="en-US"/>
          </a:p>
        </p:txBody>
      </p:sp>
      <p:sp>
        <p:nvSpPr>
          <p:cNvPr id="18" name="Text 11"/>
          <p:cNvSpPr/>
          <p:nvPr/>
        </p:nvSpPr>
        <p:spPr>
          <a:xfrm>
            <a:off x="6156469" y="5492254"/>
            <a:ext cx="5494299" cy="307578"/>
          </a:xfrm>
          <a:prstGeom prst="rect">
            <a:avLst/>
          </a:prstGeom>
          <a:noFill/>
          <a:ln/>
        </p:spPr>
        <p:txBody>
          <a:bodyPr wrap="none" lIns="0" tIns="0" rIns="0" bIns="0" rtlCol="0" anchor="t"/>
          <a:lstStyle/>
          <a:p>
            <a:pPr marL="0" indent="0" algn="l">
              <a:lnSpc>
                <a:spcPct val="104000"/>
              </a:lnSpc>
              <a:buNone/>
            </a:pPr>
            <a:r>
              <a:rPr lang="en-US" sz="1900" dirty="0">
                <a:solidFill>
                  <a:srgbClr val="6E6666"/>
                </a:solidFill>
                <a:latin typeface="Baskervville" pitchFamily="34" charset="0"/>
                <a:ea typeface="Baskervville" pitchFamily="34" charset="-122"/>
                <a:cs typeface="Baskervville" pitchFamily="34" charset="-120"/>
              </a:rPr>
              <a:t>Ignored emotional states</a:t>
            </a:r>
            <a:endParaRPr lang="en-US" sz="1900" dirty="0"/>
          </a:p>
        </p:txBody>
      </p:sp>
      <p:sp>
        <p:nvSpPr>
          <p:cNvPr id="19" name="Text 12"/>
          <p:cNvSpPr/>
          <p:nvPr/>
        </p:nvSpPr>
        <p:spPr>
          <a:xfrm>
            <a:off x="6156469" y="5872559"/>
            <a:ext cx="5494299" cy="413147"/>
          </a:xfrm>
          <a:prstGeom prst="rect">
            <a:avLst/>
          </a:prstGeom>
          <a:noFill/>
          <a:ln/>
        </p:spPr>
        <p:txBody>
          <a:bodyPr wrap="square" lIns="0" tIns="0" rIns="0" bIns="0" rtlCol="0" anchor="t">
            <a:normAutofit/>
          </a:bodyPr>
          <a:lstStyle/>
          <a:p>
            <a:pPr marL="0" indent="0" algn="l">
              <a:lnSpc>
                <a:spcPct val="126000"/>
              </a:lnSpc>
              <a:buNone/>
            </a:pPr>
            <a:r>
              <a:rPr lang="en-US" sz="1050" dirty="0">
                <a:solidFill>
                  <a:srgbClr val="6E6666"/>
                </a:solidFill>
                <a:latin typeface="Poppins" pitchFamily="34" charset="0"/>
                <a:ea typeface="Poppins" pitchFamily="34" charset="-122"/>
                <a:cs typeface="Poppins" pitchFamily="34" charset="-120"/>
              </a:rPr>
              <a:t>Scheduling ignores fatigue, confusion and cognitive burnout — lowers effectiveness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0927" y="620216"/>
            <a:ext cx="11109841" cy="694333"/>
          </a:xfrm>
          <a:prstGeom prst="rect">
            <a:avLst/>
          </a:prstGeom>
          <a:noFill/>
          <a:ln/>
        </p:spPr>
        <p:txBody>
          <a:bodyPr wrap="none" lIns="0" tIns="0" rIns="0" bIns="0" rtlCol="0" anchor="t"/>
          <a:lstStyle/>
          <a:p>
            <a:pPr marL="0" indent="0" algn="l">
              <a:lnSpc>
                <a:spcPct val="104000"/>
              </a:lnSpc>
              <a:buNone/>
            </a:pPr>
            <a:r>
              <a:rPr lang="en-US" sz="4350" dirty="0">
                <a:solidFill>
                  <a:srgbClr val="787878"/>
                </a:solidFill>
                <a:latin typeface="Baskervville" pitchFamily="34" charset="0"/>
                <a:ea typeface="Baskervville" pitchFamily="34" charset="-122"/>
                <a:cs typeface="Baskervville" pitchFamily="34" charset="-120"/>
              </a:rPr>
              <a:t>Panel Feedback — Responses</a:t>
            </a:r>
            <a:endParaRPr lang="en-US" sz="4350" dirty="0"/>
          </a:p>
        </p:txBody>
      </p:sp>
      <p:graphicFrame>
        <p:nvGraphicFramePr>
          <p:cNvPr id="4" name="Table 0"/>
          <p:cNvGraphicFramePr>
            <a:graphicFrameLocks noGrp="1"/>
          </p:cNvGraphicFramePr>
          <p:nvPr>
            <p:extLst>
              <p:ext uri="{D42A27DB-BD31-4B8C-83A1-F6EECF244321}">
                <p14:modId xmlns:p14="http://schemas.microsoft.com/office/powerpoint/2010/main" val="1663117504"/>
              </p:ext>
            </p:extLst>
          </p:nvPr>
        </p:nvGraphicFramePr>
        <p:xfrm>
          <a:off x="540927" y="1623616"/>
          <a:ext cx="11109840" cy="4576521"/>
        </p:xfrm>
        <a:graphic>
          <a:graphicData uri="http://schemas.openxmlformats.org/drawingml/2006/table">
            <a:tbl>
              <a:tblPr/>
              <a:tblGrid>
                <a:gridCol w="2221968">
                  <a:extLst>
                    <a:ext uri="{9D8B030D-6E8A-4147-A177-3AD203B41FA5}">
                      <a16:colId xmlns:a16="http://schemas.microsoft.com/office/drawing/2014/main" val="20000"/>
                    </a:ext>
                  </a:extLst>
                </a:gridCol>
                <a:gridCol w="4443936">
                  <a:extLst>
                    <a:ext uri="{9D8B030D-6E8A-4147-A177-3AD203B41FA5}">
                      <a16:colId xmlns:a16="http://schemas.microsoft.com/office/drawing/2014/main" val="20001"/>
                    </a:ext>
                  </a:extLst>
                </a:gridCol>
                <a:gridCol w="4443936">
                  <a:extLst>
                    <a:ext uri="{9D8B030D-6E8A-4147-A177-3AD203B41FA5}">
                      <a16:colId xmlns:a16="http://schemas.microsoft.com/office/drawing/2014/main" val="20002"/>
                    </a:ext>
                  </a:extLst>
                </a:gridCol>
              </a:tblGrid>
              <a:tr h="448458">
                <a:tc>
                  <a:txBody>
                    <a:bodyPr/>
                    <a:lstStyle/>
                    <a:p>
                      <a:pPr marL="0" indent="0">
                        <a:buNone/>
                      </a:pPr>
                      <a:r>
                        <a:rPr lang="en-US" sz="1200" b="1" dirty="0">
                          <a:solidFill>
                            <a:srgbClr val="FFFFFF"/>
                          </a:solidFill>
                          <a:latin typeface="Poppins" pitchFamily="34" charset="0"/>
                          <a:ea typeface="Poppins" pitchFamily="34" charset="-122"/>
                          <a:cs typeface="Poppins" pitchFamily="34" charset="-120"/>
                        </a:rPr>
                        <a:t>Student ID &amp; Name</a:t>
                      </a:r>
                      <a:endParaRPr lang="en-US" sz="1200" dirty="0">
                        <a:latin typeface="Poppins" charset="0"/>
                        <a:ea typeface="Poppins" charset="0"/>
                        <a:cs typeface="Poppins" charset="0"/>
                      </a:endParaRPr>
                    </a:p>
                  </a:txBody>
                  <a:tcPr marL="154570" marR="154570" marT="6350" marB="6350" anchor="ctr">
                    <a:lnL w="12700" cap="flat" cmpd="sng" algn="ctr">
                      <a:solidFill>
                        <a:srgbClr val="D2C5C9"/>
                      </a:solidFill>
                      <a:prstDash val="solid"/>
                      <a:round/>
                      <a:headEnd type="none" w="med" len="med"/>
                      <a:tailEnd type="none" w="med" len="med"/>
                    </a:lnL>
                    <a:lnR w="12700" cap="flat" cmpd="sng" algn="ctr">
                      <a:solidFill>
                        <a:srgbClr val="D2C5C9"/>
                      </a:solidFill>
                      <a:prstDash val="solid"/>
                      <a:round/>
                      <a:headEnd type="none" w="med" len="med"/>
                      <a:tailEnd type="none" w="med" len="med"/>
                    </a:lnR>
                    <a:lnT w="12700" cap="flat" cmpd="sng" algn="ctr">
                      <a:solidFill>
                        <a:srgbClr val="D2C5C9"/>
                      </a:solidFill>
                      <a:prstDash val="solid"/>
                      <a:round/>
                      <a:headEnd type="none" w="med" len="med"/>
                      <a:tailEnd type="none" w="med" len="med"/>
                    </a:lnT>
                    <a:lnB w="12700" cap="flat" cmpd="sng" algn="ctr">
                      <a:solidFill>
                        <a:srgbClr val="D2C5C9"/>
                      </a:solidFill>
                      <a:prstDash val="solid"/>
                      <a:round/>
                      <a:headEnd type="none" w="med" len="med"/>
                      <a:tailEnd type="none" w="med" len="med"/>
                    </a:lnB>
                    <a:solidFill>
                      <a:srgbClr val="0B3D91"/>
                    </a:solidFill>
                  </a:tcPr>
                </a:tc>
                <a:tc>
                  <a:txBody>
                    <a:bodyPr/>
                    <a:lstStyle/>
                    <a:p>
                      <a:pPr marL="0" indent="0">
                        <a:buNone/>
                      </a:pPr>
                      <a:r>
                        <a:rPr lang="en-US" sz="1200" b="1" dirty="0">
                          <a:solidFill>
                            <a:srgbClr val="FFFFFF"/>
                          </a:solidFill>
                          <a:latin typeface="Poppins" pitchFamily="34" charset="0"/>
                          <a:ea typeface="Poppins" pitchFamily="34" charset="-122"/>
                          <a:cs typeface="Poppins" pitchFamily="34" charset="-120"/>
                        </a:rPr>
                        <a:t>Panel Comments</a:t>
                      </a:r>
                      <a:endParaRPr lang="en-US" sz="1200" dirty="0">
                        <a:latin typeface="Poppins" charset="0"/>
                        <a:ea typeface="Poppins" charset="0"/>
                        <a:cs typeface="Poppins" charset="0"/>
                      </a:endParaRPr>
                    </a:p>
                  </a:txBody>
                  <a:tcPr marL="154570" marR="154570" marT="6350" marB="6350" anchor="ctr">
                    <a:lnL w="12700" cap="flat" cmpd="sng" algn="ctr">
                      <a:solidFill>
                        <a:srgbClr val="D2C5C9"/>
                      </a:solidFill>
                      <a:prstDash val="solid"/>
                      <a:round/>
                      <a:headEnd type="none" w="med" len="med"/>
                      <a:tailEnd type="none" w="med" len="med"/>
                    </a:lnL>
                    <a:lnR w="12700" cap="flat" cmpd="sng" algn="ctr">
                      <a:solidFill>
                        <a:srgbClr val="D2C5C9"/>
                      </a:solidFill>
                      <a:prstDash val="solid"/>
                      <a:round/>
                      <a:headEnd type="none" w="med" len="med"/>
                      <a:tailEnd type="none" w="med" len="med"/>
                    </a:lnR>
                    <a:lnT w="12700" cap="flat" cmpd="sng" algn="ctr">
                      <a:solidFill>
                        <a:srgbClr val="D2C5C9"/>
                      </a:solidFill>
                      <a:prstDash val="solid"/>
                      <a:round/>
                      <a:headEnd type="none" w="med" len="med"/>
                      <a:tailEnd type="none" w="med" len="med"/>
                    </a:lnT>
                    <a:lnB w="12700" cap="flat" cmpd="sng" algn="ctr">
                      <a:solidFill>
                        <a:srgbClr val="D2C5C9"/>
                      </a:solidFill>
                      <a:prstDash val="solid"/>
                      <a:round/>
                      <a:headEnd type="none" w="med" len="med"/>
                      <a:tailEnd type="none" w="med" len="med"/>
                    </a:lnB>
                    <a:solidFill>
                      <a:srgbClr val="0B3D91"/>
                    </a:solidFill>
                  </a:tcPr>
                </a:tc>
                <a:tc>
                  <a:txBody>
                    <a:bodyPr/>
                    <a:lstStyle/>
                    <a:p>
                      <a:pPr marL="0" indent="0">
                        <a:buNone/>
                      </a:pPr>
                      <a:r>
                        <a:rPr lang="en-US" sz="1200" b="1" dirty="0">
                          <a:solidFill>
                            <a:srgbClr val="FFFFFF"/>
                          </a:solidFill>
                          <a:latin typeface="Poppins" pitchFamily="34" charset="0"/>
                          <a:ea typeface="Poppins" pitchFamily="34" charset="-122"/>
                          <a:cs typeface="Poppins" pitchFamily="34" charset="-120"/>
                        </a:rPr>
                        <a:t>How we addressed them</a:t>
                      </a:r>
                      <a:endParaRPr lang="en-US" sz="1200" dirty="0">
                        <a:latin typeface="Poppins" charset="0"/>
                        <a:ea typeface="Poppins" charset="0"/>
                        <a:cs typeface="Poppins" charset="0"/>
                      </a:endParaRPr>
                    </a:p>
                  </a:txBody>
                  <a:tcPr marL="154570" marR="154570" marT="6350" marB="6350" anchor="ctr">
                    <a:lnL w="12700" cap="flat" cmpd="sng" algn="ctr">
                      <a:solidFill>
                        <a:srgbClr val="D2C5C9"/>
                      </a:solidFill>
                      <a:prstDash val="solid"/>
                      <a:round/>
                      <a:headEnd type="none" w="med" len="med"/>
                      <a:tailEnd type="none" w="med" len="med"/>
                    </a:lnL>
                    <a:lnR w="12700" cap="flat" cmpd="sng" algn="ctr">
                      <a:solidFill>
                        <a:srgbClr val="D2C5C9"/>
                      </a:solidFill>
                      <a:prstDash val="solid"/>
                      <a:round/>
                      <a:headEnd type="none" w="med" len="med"/>
                      <a:tailEnd type="none" w="med" len="med"/>
                    </a:lnR>
                    <a:lnT w="12700" cap="flat" cmpd="sng" algn="ctr">
                      <a:solidFill>
                        <a:srgbClr val="D2C5C9"/>
                      </a:solidFill>
                      <a:prstDash val="solid"/>
                      <a:round/>
                      <a:headEnd type="none" w="med" len="med"/>
                      <a:tailEnd type="none" w="med" len="med"/>
                    </a:lnT>
                    <a:lnB w="12700" cap="flat" cmpd="sng" algn="ctr">
                      <a:solidFill>
                        <a:srgbClr val="D2C5C9"/>
                      </a:solidFill>
                      <a:prstDash val="solid"/>
                      <a:round/>
                      <a:headEnd type="none" w="med" len="med"/>
                      <a:tailEnd type="none" w="med" len="med"/>
                    </a:lnB>
                    <a:solidFill>
                      <a:srgbClr val="0B3D91"/>
                    </a:solidFill>
                  </a:tcPr>
                </a:tc>
                <a:extLst>
                  <a:ext uri="{0D108BD9-81ED-4DB2-BD59-A6C34878D82A}">
                    <a16:rowId xmlns:a16="http://schemas.microsoft.com/office/drawing/2014/main" val="10000"/>
                  </a:ext>
                </a:extLst>
              </a:tr>
              <a:tr h="946126">
                <a:tc>
                  <a:txBody>
                    <a:bodyPr/>
                    <a:lstStyle/>
                    <a:p>
                      <a:pPr marL="0" indent="0">
                        <a:buNone/>
                      </a:pPr>
                      <a:r>
                        <a:rPr lang="en-US" sz="1200" b="1" dirty="0">
                          <a:solidFill>
                            <a:srgbClr val="6E6666"/>
                          </a:solidFill>
                          <a:latin typeface="Poppins" pitchFamily="34" charset="0"/>
                          <a:ea typeface="Poppins" pitchFamily="34" charset="-122"/>
                          <a:cs typeface="Poppins" pitchFamily="34" charset="-120"/>
                        </a:rPr>
                        <a:t>IT22120120(Sonal Dilmith)</a:t>
                      </a:r>
                      <a:endParaRPr lang="en-US" sz="1200" dirty="0">
                        <a:latin typeface="Poppins" charset="0"/>
                        <a:ea typeface="Poppins" charset="0"/>
                        <a:cs typeface="Poppins" charset="0"/>
                      </a:endParaRPr>
                    </a:p>
                  </a:txBody>
                  <a:tcPr marL="154570" marR="154570" marT="6350" marB="6350" anchor="ctr">
                    <a:lnL w="12700" cap="flat" cmpd="sng" algn="ctr">
                      <a:solidFill>
                        <a:srgbClr val="D2C5C9"/>
                      </a:solidFill>
                      <a:prstDash val="solid"/>
                      <a:round/>
                      <a:headEnd type="none" w="med" len="med"/>
                      <a:tailEnd type="none" w="med" len="med"/>
                    </a:lnL>
                    <a:lnR w="12700" cap="flat" cmpd="sng" algn="ctr">
                      <a:solidFill>
                        <a:srgbClr val="D2C5C9"/>
                      </a:solidFill>
                      <a:prstDash val="solid"/>
                      <a:round/>
                      <a:headEnd type="none" w="med" len="med"/>
                      <a:tailEnd type="none" w="med" len="med"/>
                    </a:lnR>
                    <a:lnT w="12700" cap="flat" cmpd="sng" algn="ctr">
                      <a:solidFill>
                        <a:srgbClr val="D2C5C9"/>
                      </a:solidFill>
                      <a:prstDash val="solid"/>
                      <a:round/>
                      <a:headEnd type="none" w="med" len="med"/>
                      <a:tailEnd type="none" w="med" len="med"/>
                    </a:lnT>
                    <a:lnB w="12700" cap="flat" cmpd="sng" algn="ctr">
                      <a:solidFill>
                        <a:srgbClr val="D2C5C9"/>
                      </a:solidFill>
                      <a:prstDash val="solid"/>
                      <a:round/>
                      <a:headEnd type="none" w="med" len="med"/>
                      <a:tailEnd type="none" w="med" len="med"/>
                    </a:lnB>
                  </a:tcPr>
                </a:tc>
                <a:tc>
                  <a:txBody>
                    <a:bodyPr/>
                    <a:lstStyle/>
                    <a:p>
                      <a:pPr marL="0" indent="0" algn="l" defTabSz="914400" rtl="0" eaLnBrk="1" latinLnBrk="0" hangingPunct="1">
                        <a:buNone/>
                      </a:pPr>
                      <a:r>
                        <a:rPr lang="en-US" sz="1200" kern="1200" dirty="0">
                          <a:solidFill>
                            <a:srgbClr val="6E6666"/>
                          </a:solidFill>
                          <a:latin typeface="Poppins" pitchFamily="34" charset="0"/>
                          <a:cs typeface="Poppins" pitchFamily="34" charset="-120"/>
                        </a:rPr>
                        <a:t>Need to have a specific idea about the RAG module for the component and how can make changes according to your requirements.</a:t>
                      </a:r>
                      <a:endParaRPr lang="en-US" sz="1200" kern="1200" dirty="0">
                        <a:solidFill>
                          <a:srgbClr val="6E6666"/>
                        </a:solidFill>
                        <a:latin typeface="Poppins" pitchFamily="34" charset="0"/>
                        <a:ea typeface="Poppins" charset="0"/>
                        <a:cs typeface="Poppins" pitchFamily="34" charset="-120"/>
                      </a:endParaRPr>
                    </a:p>
                  </a:txBody>
                  <a:tcPr marL="154570" marR="154570" marT="6350" marB="6350" anchor="ctr">
                    <a:lnL w="12700" cap="flat" cmpd="sng" algn="ctr">
                      <a:solidFill>
                        <a:srgbClr val="D2C5C9"/>
                      </a:solidFill>
                      <a:prstDash val="solid"/>
                      <a:round/>
                      <a:headEnd type="none" w="med" len="med"/>
                      <a:tailEnd type="none" w="med" len="med"/>
                    </a:lnL>
                    <a:lnR w="12700" cap="flat" cmpd="sng" algn="ctr">
                      <a:solidFill>
                        <a:srgbClr val="D2C5C9"/>
                      </a:solidFill>
                      <a:prstDash val="solid"/>
                      <a:round/>
                      <a:headEnd type="none" w="med" len="med"/>
                      <a:tailEnd type="none" w="med" len="med"/>
                    </a:lnR>
                    <a:lnT w="12700" cap="flat" cmpd="sng" algn="ctr">
                      <a:solidFill>
                        <a:srgbClr val="D2C5C9"/>
                      </a:solidFill>
                      <a:prstDash val="solid"/>
                      <a:round/>
                      <a:headEnd type="none" w="med" len="med"/>
                      <a:tailEnd type="none" w="med" len="med"/>
                    </a:lnT>
                    <a:lnB w="12700" cap="flat" cmpd="sng" algn="ctr">
                      <a:solidFill>
                        <a:srgbClr val="D2C5C9"/>
                      </a:solidFill>
                      <a:prstDash val="solid"/>
                      <a:round/>
                      <a:headEnd type="none" w="med" len="med"/>
                      <a:tailEnd type="none" w="med" len="med"/>
                    </a:lnB>
                  </a:tcPr>
                </a:tc>
                <a:tc>
                  <a:txBody>
                    <a:bodyPr/>
                    <a:lstStyle/>
                    <a:p>
                      <a:pPr marL="0" indent="0" algn="l" defTabSz="914400" rtl="0" eaLnBrk="1" latinLnBrk="0" hangingPunct="1">
                        <a:buNone/>
                      </a:pPr>
                      <a:r>
                        <a:rPr lang="en-US" sz="1200" kern="1200" dirty="0">
                          <a:solidFill>
                            <a:srgbClr val="6E6666"/>
                          </a:solidFill>
                          <a:latin typeface="Poppins" pitchFamily="34" charset="0"/>
                          <a:ea typeface="Poppins" charset="0"/>
                          <a:cs typeface="Poppins" pitchFamily="34" charset="-120"/>
                        </a:rPr>
                        <a:t>Analyzed the RAG module in more detail and refined the process in which the rag module is used and created separate files for this process for easier definition of responsibilities. </a:t>
                      </a:r>
                    </a:p>
                  </a:txBody>
                  <a:tcPr marL="154570" marR="154570" marT="6350" marB="6350" anchor="ctr">
                    <a:lnL w="12700" cap="flat" cmpd="sng" algn="ctr">
                      <a:solidFill>
                        <a:srgbClr val="D2C5C9"/>
                      </a:solidFill>
                      <a:prstDash val="solid"/>
                      <a:round/>
                      <a:headEnd type="none" w="med" len="med"/>
                      <a:tailEnd type="none" w="med" len="med"/>
                    </a:lnL>
                    <a:lnR w="12700" cap="flat" cmpd="sng" algn="ctr">
                      <a:solidFill>
                        <a:srgbClr val="D2C5C9"/>
                      </a:solidFill>
                      <a:prstDash val="solid"/>
                      <a:round/>
                      <a:headEnd type="none" w="med" len="med"/>
                      <a:tailEnd type="none" w="med" len="med"/>
                    </a:lnR>
                    <a:lnT w="12700" cap="flat" cmpd="sng" algn="ctr">
                      <a:solidFill>
                        <a:srgbClr val="D2C5C9"/>
                      </a:solidFill>
                      <a:prstDash val="solid"/>
                      <a:round/>
                      <a:headEnd type="none" w="med" len="med"/>
                      <a:tailEnd type="none" w="med" len="med"/>
                    </a:lnT>
                    <a:lnB w="12700" cap="flat" cmpd="sng" algn="ctr">
                      <a:solidFill>
                        <a:srgbClr val="D2C5C9"/>
                      </a:solidFill>
                      <a:prstDash val="solid"/>
                      <a:round/>
                      <a:headEnd type="none" w="med" len="med"/>
                      <a:tailEnd type="none" w="med" len="med"/>
                    </a:lnB>
                  </a:tcPr>
                </a:tc>
                <a:extLst>
                  <a:ext uri="{0D108BD9-81ED-4DB2-BD59-A6C34878D82A}">
                    <a16:rowId xmlns:a16="http://schemas.microsoft.com/office/drawing/2014/main" val="10001"/>
                  </a:ext>
                </a:extLst>
              </a:tr>
              <a:tr h="946126">
                <a:tc>
                  <a:txBody>
                    <a:bodyPr/>
                    <a:lstStyle/>
                    <a:p>
                      <a:pPr marL="0" indent="0">
                        <a:buNone/>
                      </a:pPr>
                      <a:r>
                        <a:rPr lang="en-US" sz="1200" b="1" dirty="0">
                          <a:solidFill>
                            <a:srgbClr val="6E6666"/>
                          </a:solidFill>
                          <a:latin typeface="Poppins" pitchFamily="34" charset="0"/>
                          <a:ea typeface="Poppins" pitchFamily="34" charset="-122"/>
                          <a:cs typeface="Poppins" pitchFamily="34" charset="-120"/>
                        </a:rPr>
                        <a:t>IT22224552(K.K.G.Y. Mihiraj)</a:t>
                      </a:r>
                      <a:endParaRPr lang="en-US" sz="1200" dirty="0">
                        <a:latin typeface="Poppins" charset="0"/>
                        <a:ea typeface="Poppins" charset="0"/>
                        <a:cs typeface="Poppins" charset="0"/>
                      </a:endParaRPr>
                    </a:p>
                  </a:txBody>
                  <a:tcPr marL="154570" marR="154570" marT="6350" marB="6350" anchor="ctr">
                    <a:lnL w="12700" cap="flat" cmpd="sng" algn="ctr">
                      <a:solidFill>
                        <a:srgbClr val="D2C5C9"/>
                      </a:solidFill>
                      <a:prstDash val="solid"/>
                      <a:round/>
                      <a:headEnd type="none" w="med" len="med"/>
                      <a:tailEnd type="none" w="med" len="med"/>
                    </a:lnL>
                    <a:lnR w="12700" cap="flat" cmpd="sng" algn="ctr">
                      <a:solidFill>
                        <a:srgbClr val="D2C5C9"/>
                      </a:solidFill>
                      <a:prstDash val="solid"/>
                      <a:round/>
                      <a:headEnd type="none" w="med" len="med"/>
                      <a:tailEnd type="none" w="med" len="med"/>
                    </a:lnR>
                    <a:lnT w="12700" cap="flat" cmpd="sng" algn="ctr">
                      <a:solidFill>
                        <a:srgbClr val="D2C5C9"/>
                      </a:solidFill>
                      <a:prstDash val="solid"/>
                      <a:round/>
                      <a:headEnd type="none" w="med" len="med"/>
                      <a:tailEnd type="none" w="med" len="med"/>
                    </a:lnT>
                    <a:lnB w="12700" cap="flat" cmpd="sng" algn="ctr">
                      <a:solidFill>
                        <a:srgbClr val="D2C5C9"/>
                      </a:solidFill>
                      <a:prstDash val="solid"/>
                      <a:round/>
                      <a:headEnd type="none" w="med" len="med"/>
                      <a:tailEnd type="none" w="med" len="med"/>
                    </a:lnB>
                  </a:tcPr>
                </a:tc>
                <a:tc>
                  <a:txBody>
                    <a:bodyPr/>
                    <a:lstStyle/>
                    <a:p>
                      <a:pPr marL="0" indent="0" algn="l" defTabSz="914400" rtl="0" eaLnBrk="1" latinLnBrk="0" hangingPunct="1">
                        <a:buNone/>
                      </a:pPr>
                      <a:r>
                        <a:rPr lang="en-US" sz="1200" kern="1200" dirty="0">
                          <a:solidFill>
                            <a:srgbClr val="6E6666"/>
                          </a:solidFill>
                          <a:latin typeface="Poppins" pitchFamily="34" charset="0"/>
                          <a:cs typeface="Poppins" pitchFamily="34" charset="-120"/>
                        </a:rPr>
                        <a:t>Think of how you validate that a predicted state is educationally meaningful rather than only visually correlated with an expression. </a:t>
                      </a:r>
                      <a:endParaRPr lang="en-US" sz="1200" kern="1200" dirty="0">
                        <a:solidFill>
                          <a:srgbClr val="6E6666"/>
                        </a:solidFill>
                        <a:latin typeface="Poppins" pitchFamily="34" charset="0"/>
                        <a:ea typeface="Poppins" charset="0"/>
                        <a:cs typeface="Poppins" pitchFamily="34" charset="-120"/>
                      </a:endParaRPr>
                    </a:p>
                  </a:txBody>
                  <a:tcPr marL="154570" marR="154570" marT="6350" marB="6350" anchor="ctr">
                    <a:lnL w="12700" cap="flat" cmpd="sng" algn="ctr">
                      <a:solidFill>
                        <a:srgbClr val="D2C5C9"/>
                      </a:solidFill>
                      <a:prstDash val="solid"/>
                      <a:round/>
                      <a:headEnd type="none" w="med" len="med"/>
                      <a:tailEnd type="none" w="med" len="med"/>
                    </a:lnL>
                    <a:lnR w="12700" cap="flat" cmpd="sng" algn="ctr">
                      <a:solidFill>
                        <a:srgbClr val="D2C5C9"/>
                      </a:solidFill>
                      <a:prstDash val="solid"/>
                      <a:round/>
                      <a:headEnd type="none" w="med" len="med"/>
                      <a:tailEnd type="none" w="med" len="med"/>
                    </a:lnR>
                    <a:lnT w="12700" cap="flat" cmpd="sng" algn="ctr">
                      <a:solidFill>
                        <a:srgbClr val="D2C5C9"/>
                      </a:solidFill>
                      <a:prstDash val="solid"/>
                      <a:round/>
                      <a:headEnd type="none" w="med" len="med"/>
                      <a:tailEnd type="none" w="med" len="med"/>
                    </a:lnT>
                    <a:lnB w="12700" cap="flat" cmpd="sng" algn="ctr">
                      <a:solidFill>
                        <a:srgbClr val="D2C5C9"/>
                      </a:solidFill>
                      <a:prstDash val="solid"/>
                      <a:round/>
                      <a:headEnd type="none" w="med" len="med"/>
                      <a:tailEnd type="none" w="med" len="med"/>
                    </a:lnB>
                  </a:tcPr>
                </a:tc>
                <a:tc>
                  <a:txBody>
                    <a:bodyPr/>
                    <a:lstStyle/>
                    <a:p>
                      <a:pPr marL="0" indent="0" algn="l" defTabSz="914400" rtl="0" eaLnBrk="1" latinLnBrk="0" hangingPunct="1">
                        <a:buNone/>
                      </a:pPr>
                      <a:r>
                        <a:rPr lang="en-US" sz="1200" kern="1200" dirty="0">
                          <a:solidFill>
                            <a:srgbClr val="6E6666"/>
                          </a:solidFill>
                          <a:latin typeface="Poppins" pitchFamily="34" charset="0"/>
                          <a:ea typeface="Poppins" charset="0"/>
                          <a:cs typeface="Poppins" pitchFamily="34" charset="-120"/>
                        </a:rPr>
                        <a:t>Rather than predicting every emotion that the system identifies only considered the meaning emotions that are necessary for the project and got those emotions monitored and validated by the clinical psychologist.</a:t>
                      </a:r>
                    </a:p>
                    <a:p>
                      <a:pPr marL="0" indent="0" algn="l" defTabSz="914400" rtl="0" eaLnBrk="1" latinLnBrk="0" hangingPunct="1">
                        <a:buNone/>
                      </a:pPr>
                      <a:r>
                        <a:rPr lang="en-US" sz="1200" kern="1200" dirty="0">
                          <a:solidFill>
                            <a:srgbClr val="6E6666"/>
                          </a:solidFill>
                          <a:latin typeface="Poppins" pitchFamily="34" charset="0"/>
                          <a:ea typeface="Poppins" charset="0"/>
                          <a:cs typeface="Poppins" pitchFamily="34" charset="-120"/>
                        </a:rPr>
                        <a:t>Also removed the emotion monitoring frame from being displayed to the user rather it run in the background.</a:t>
                      </a:r>
                    </a:p>
                  </a:txBody>
                  <a:tcPr marL="154570" marR="154570" marT="6350" marB="6350" anchor="ctr">
                    <a:lnL w="12700" cap="flat" cmpd="sng" algn="ctr">
                      <a:solidFill>
                        <a:srgbClr val="D2C5C9"/>
                      </a:solidFill>
                      <a:prstDash val="solid"/>
                      <a:round/>
                      <a:headEnd type="none" w="med" len="med"/>
                      <a:tailEnd type="none" w="med" len="med"/>
                    </a:lnL>
                    <a:lnR w="12700" cap="flat" cmpd="sng" algn="ctr">
                      <a:solidFill>
                        <a:srgbClr val="D2C5C9"/>
                      </a:solidFill>
                      <a:prstDash val="solid"/>
                      <a:round/>
                      <a:headEnd type="none" w="med" len="med"/>
                      <a:tailEnd type="none" w="med" len="med"/>
                    </a:lnR>
                    <a:lnT w="12700" cap="flat" cmpd="sng" algn="ctr">
                      <a:solidFill>
                        <a:srgbClr val="D2C5C9"/>
                      </a:solidFill>
                      <a:prstDash val="solid"/>
                      <a:round/>
                      <a:headEnd type="none" w="med" len="med"/>
                      <a:tailEnd type="none" w="med" len="med"/>
                    </a:lnT>
                    <a:lnB w="12700" cap="flat" cmpd="sng" algn="ctr">
                      <a:solidFill>
                        <a:srgbClr val="D2C5C9"/>
                      </a:solidFill>
                      <a:prstDash val="solid"/>
                      <a:round/>
                      <a:headEnd type="none" w="med" len="med"/>
                      <a:tailEnd type="none" w="med" len="med"/>
                    </a:lnB>
                  </a:tcPr>
                </a:tc>
                <a:extLst>
                  <a:ext uri="{0D108BD9-81ED-4DB2-BD59-A6C34878D82A}">
                    <a16:rowId xmlns:a16="http://schemas.microsoft.com/office/drawing/2014/main" val="10002"/>
                  </a:ext>
                </a:extLst>
              </a:tr>
              <a:tr h="946126">
                <a:tc>
                  <a:txBody>
                    <a:bodyPr/>
                    <a:lstStyle/>
                    <a:p>
                      <a:pPr marL="0" indent="0">
                        <a:buNone/>
                      </a:pPr>
                      <a:r>
                        <a:rPr lang="en-US" sz="1200" b="1" dirty="0">
                          <a:solidFill>
                            <a:srgbClr val="6E6666"/>
                          </a:solidFill>
                          <a:latin typeface="Poppins" pitchFamily="34" charset="0"/>
                          <a:ea typeface="Poppins" pitchFamily="34" charset="-122"/>
                          <a:cs typeface="Poppins" pitchFamily="34" charset="-120"/>
                        </a:rPr>
                        <a:t>IT22371690(W.H.H. Thathsara)</a:t>
                      </a:r>
                      <a:endParaRPr lang="en-US" sz="1200" dirty="0">
                        <a:latin typeface="Poppins" charset="0"/>
                        <a:ea typeface="Poppins" charset="0"/>
                        <a:cs typeface="Poppins" charset="0"/>
                      </a:endParaRPr>
                    </a:p>
                  </a:txBody>
                  <a:tcPr marL="154570" marR="154570" marT="6350" marB="6350" anchor="ctr">
                    <a:lnL w="12700" cap="flat" cmpd="sng" algn="ctr">
                      <a:solidFill>
                        <a:srgbClr val="D2C5C9"/>
                      </a:solidFill>
                      <a:prstDash val="solid"/>
                      <a:round/>
                      <a:headEnd type="none" w="med" len="med"/>
                      <a:tailEnd type="none" w="med" len="med"/>
                    </a:lnL>
                    <a:lnR w="12700" cap="flat" cmpd="sng" algn="ctr">
                      <a:solidFill>
                        <a:srgbClr val="D2C5C9"/>
                      </a:solidFill>
                      <a:prstDash val="solid"/>
                      <a:round/>
                      <a:headEnd type="none" w="med" len="med"/>
                      <a:tailEnd type="none" w="med" len="med"/>
                    </a:lnR>
                    <a:lnT w="12700" cap="flat" cmpd="sng" algn="ctr">
                      <a:solidFill>
                        <a:srgbClr val="D2C5C9"/>
                      </a:solidFill>
                      <a:prstDash val="solid"/>
                      <a:round/>
                      <a:headEnd type="none" w="med" len="med"/>
                      <a:tailEnd type="none" w="med" len="med"/>
                    </a:lnT>
                    <a:lnB w="12700" cap="flat" cmpd="sng" algn="ctr">
                      <a:solidFill>
                        <a:srgbClr val="D2C5C9"/>
                      </a:solidFill>
                      <a:prstDash val="solid"/>
                      <a:round/>
                      <a:headEnd type="none" w="med" len="med"/>
                      <a:tailEnd type="none" w="med" len="med"/>
                    </a:lnB>
                  </a:tcPr>
                </a:tc>
                <a:tc>
                  <a:txBody>
                    <a:bodyPr/>
                    <a:lstStyle/>
                    <a:p>
                      <a:pPr marL="0" indent="0" algn="l" defTabSz="914400" rtl="0" eaLnBrk="1" latinLnBrk="0" hangingPunct="1">
                        <a:buNone/>
                      </a:pPr>
                      <a:r>
                        <a:rPr lang="en-US" sz="1200" kern="1200" dirty="0">
                          <a:solidFill>
                            <a:srgbClr val="6E6666"/>
                          </a:solidFill>
                          <a:latin typeface="Poppins" pitchFamily="34" charset="0"/>
                          <a:cs typeface="Poppins" pitchFamily="34" charset="-120"/>
                        </a:rPr>
                        <a:t>Should validate the output with the industry expert when coming to the final presentation.</a:t>
                      </a:r>
                      <a:endParaRPr lang="en-US" sz="1200" kern="1200" dirty="0">
                        <a:solidFill>
                          <a:srgbClr val="6E6666"/>
                        </a:solidFill>
                        <a:latin typeface="Poppins" pitchFamily="34" charset="0"/>
                        <a:ea typeface="Poppins" charset="0"/>
                        <a:cs typeface="Poppins" pitchFamily="34" charset="-120"/>
                      </a:endParaRPr>
                    </a:p>
                  </a:txBody>
                  <a:tcPr marL="154570" marR="154570" marT="6350" marB="6350" anchor="ctr">
                    <a:lnL w="12700" cap="flat" cmpd="sng" algn="ctr">
                      <a:solidFill>
                        <a:srgbClr val="D2C5C9"/>
                      </a:solidFill>
                      <a:prstDash val="solid"/>
                      <a:round/>
                      <a:headEnd type="none" w="med" len="med"/>
                      <a:tailEnd type="none" w="med" len="med"/>
                    </a:lnL>
                    <a:lnR w="12700" cap="flat" cmpd="sng" algn="ctr">
                      <a:solidFill>
                        <a:srgbClr val="D2C5C9"/>
                      </a:solidFill>
                      <a:prstDash val="solid"/>
                      <a:round/>
                      <a:headEnd type="none" w="med" len="med"/>
                      <a:tailEnd type="none" w="med" len="med"/>
                    </a:lnR>
                    <a:lnT w="12700" cap="flat" cmpd="sng" algn="ctr">
                      <a:solidFill>
                        <a:srgbClr val="D2C5C9"/>
                      </a:solidFill>
                      <a:prstDash val="solid"/>
                      <a:round/>
                      <a:headEnd type="none" w="med" len="med"/>
                      <a:tailEnd type="none" w="med" len="med"/>
                    </a:lnT>
                    <a:lnB w="12700" cap="flat" cmpd="sng" algn="ctr">
                      <a:solidFill>
                        <a:srgbClr val="D2C5C9"/>
                      </a:solidFill>
                      <a:prstDash val="solid"/>
                      <a:round/>
                      <a:headEnd type="none" w="med" len="med"/>
                      <a:tailEnd type="none" w="med" len="med"/>
                    </a:lnB>
                  </a:tcPr>
                </a:tc>
                <a:tc>
                  <a:txBody>
                    <a:bodyPr/>
                    <a:lstStyle/>
                    <a:p>
                      <a:pPr marL="0" indent="0" algn="l" defTabSz="914400" rtl="0" eaLnBrk="1" latinLnBrk="0" hangingPunct="1">
                        <a:buNone/>
                      </a:pPr>
                      <a:r>
                        <a:rPr lang="en-US" sz="1200" kern="1200" dirty="0">
                          <a:solidFill>
                            <a:srgbClr val="6E6666"/>
                          </a:solidFill>
                          <a:latin typeface="Poppins" pitchFamily="34" charset="0"/>
                          <a:ea typeface="Poppins" charset="0"/>
                          <a:cs typeface="Poppins" pitchFamily="34" charset="-120"/>
                        </a:rPr>
                        <a:t>Validated the projects output through a clinical psychologist and got his view , ideas and approval to go ahead in this project.</a:t>
                      </a:r>
                    </a:p>
                  </a:txBody>
                  <a:tcPr marL="154570" marR="154570" marT="6350" marB="6350" anchor="ctr">
                    <a:lnL w="12700" cap="flat" cmpd="sng" algn="ctr">
                      <a:solidFill>
                        <a:srgbClr val="D2C5C9"/>
                      </a:solidFill>
                      <a:prstDash val="solid"/>
                      <a:round/>
                      <a:headEnd type="none" w="med" len="med"/>
                      <a:tailEnd type="none" w="med" len="med"/>
                    </a:lnL>
                    <a:lnR w="12700" cap="flat" cmpd="sng" algn="ctr">
                      <a:solidFill>
                        <a:srgbClr val="D2C5C9"/>
                      </a:solidFill>
                      <a:prstDash val="solid"/>
                      <a:round/>
                      <a:headEnd type="none" w="med" len="med"/>
                      <a:tailEnd type="none" w="med" len="med"/>
                    </a:lnR>
                    <a:lnT w="12700" cap="flat" cmpd="sng" algn="ctr">
                      <a:solidFill>
                        <a:srgbClr val="D2C5C9"/>
                      </a:solidFill>
                      <a:prstDash val="solid"/>
                      <a:round/>
                      <a:headEnd type="none" w="med" len="med"/>
                      <a:tailEnd type="none" w="med" len="med"/>
                    </a:lnT>
                    <a:lnB w="12700" cap="flat" cmpd="sng" algn="ctr">
                      <a:solidFill>
                        <a:srgbClr val="D2C5C9"/>
                      </a:solidFill>
                      <a:prstDash val="solid"/>
                      <a:round/>
                      <a:headEnd type="none" w="med" len="med"/>
                      <a:tailEnd type="none" w="med" len="med"/>
                    </a:lnB>
                  </a:tcPr>
                </a:tc>
                <a:extLst>
                  <a:ext uri="{0D108BD9-81ED-4DB2-BD59-A6C34878D82A}">
                    <a16:rowId xmlns:a16="http://schemas.microsoft.com/office/drawing/2014/main" val="10003"/>
                  </a:ext>
                </a:extLst>
              </a:tr>
              <a:tr h="942951">
                <a:tc>
                  <a:txBody>
                    <a:bodyPr/>
                    <a:lstStyle/>
                    <a:p>
                      <a:pPr marL="0" indent="0">
                        <a:buNone/>
                      </a:pPr>
                      <a:r>
                        <a:rPr lang="en-US" sz="1200" b="1" dirty="0">
                          <a:solidFill>
                            <a:srgbClr val="6E6666"/>
                          </a:solidFill>
                          <a:latin typeface="Poppins" pitchFamily="34" charset="0"/>
                          <a:ea typeface="Poppins" pitchFamily="34" charset="-122"/>
                          <a:cs typeface="Poppins" pitchFamily="34" charset="-120"/>
                        </a:rPr>
                        <a:t>IT22187178(T.G.K.G. Vijithapala)</a:t>
                      </a:r>
                      <a:endParaRPr lang="en-US" sz="1200" dirty="0">
                        <a:latin typeface="Poppins" charset="0"/>
                        <a:ea typeface="Poppins" charset="0"/>
                        <a:cs typeface="Poppins" charset="0"/>
                      </a:endParaRPr>
                    </a:p>
                  </a:txBody>
                  <a:tcPr marL="154570" marR="154570" marT="6350" marB="6350" anchor="ctr">
                    <a:lnL w="12700" cap="flat" cmpd="sng" algn="ctr">
                      <a:solidFill>
                        <a:srgbClr val="D2C5C9"/>
                      </a:solidFill>
                      <a:prstDash val="solid"/>
                      <a:round/>
                      <a:headEnd type="none" w="med" len="med"/>
                      <a:tailEnd type="none" w="med" len="med"/>
                    </a:lnL>
                    <a:lnR w="12700" cap="flat" cmpd="sng" algn="ctr">
                      <a:solidFill>
                        <a:srgbClr val="D2C5C9"/>
                      </a:solidFill>
                      <a:prstDash val="solid"/>
                      <a:round/>
                      <a:headEnd type="none" w="med" len="med"/>
                      <a:tailEnd type="none" w="med" len="med"/>
                    </a:lnR>
                    <a:lnT w="12700" cap="flat" cmpd="sng" algn="ctr">
                      <a:solidFill>
                        <a:srgbClr val="D2C5C9"/>
                      </a:solidFill>
                      <a:prstDash val="solid"/>
                      <a:round/>
                      <a:headEnd type="none" w="med" len="med"/>
                      <a:tailEnd type="none" w="med" len="med"/>
                    </a:lnT>
                    <a:lnB w="12700" cap="flat" cmpd="sng" algn="ctr">
                      <a:solidFill>
                        <a:srgbClr val="D2C5C9"/>
                      </a:solidFill>
                      <a:prstDash val="solid"/>
                      <a:round/>
                      <a:headEnd type="none" w="med" len="med"/>
                      <a:tailEnd type="none" w="med" len="med"/>
                    </a:lnB>
                  </a:tcPr>
                </a:tc>
                <a:tc>
                  <a:txBody>
                    <a:bodyPr/>
                    <a:lstStyle/>
                    <a:p>
                      <a:pPr marL="0" indent="0" algn="l" defTabSz="914400" rtl="0" eaLnBrk="1" latinLnBrk="0" hangingPunct="1">
                        <a:buNone/>
                      </a:pPr>
                      <a:r>
                        <a:rPr lang="en-US" sz="1200" kern="1200" dirty="0">
                          <a:solidFill>
                            <a:srgbClr val="6E6666"/>
                          </a:solidFill>
                          <a:latin typeface="Poppins" pitchFamily="34" charset="0"/>
                          <a:cs typeface="Poppins" pitchFamily="34" charset="-120"/>
                        </a:rPr>
                        <a:t>Flashcards should be evaluated for correctness, difficulty, duplication, and etc. Not even with </a:t>
                      </a:r>
                      <a:r>
                        <a:rPr lang="en-US" sz="1200" kern="1200" dirty="0" err="1">
                          <a:solidFill>
                            <a:srgbClr val="6E6666"/>
                          </a:solidFill>
                          <a:latin typeface="Poppins" pitchFamily="34" charset="0"/>
                          <a:cs typeface="Poppins" pitchFamily="34" charset="-120"/>
                        </a:rPr>
                        <a:t>chatGPT</a:t>
                      </a:r>
                      <a:r>
                        <a:rPr lang="en-US" sz="1200" kern="1200" dirty="0">
                          <a:solidFill>
                            <a:srgbClr val="6E6666"/>
                          </a:solidFill>
                          <a:latin typeface="Poppins" pitchFamily="34" charset="0"/>
                          <a:cs typeface="Poppins" pitchFamily="34" charset="-120"/>
                        </a:rPr>
                        <a:t> use other LLMs for </a:t>
                      </a:r>
                      <a:r>
                        <a:rPr lang="en-US" sz="1200" kern="1200" dirty="0" err="1">
                          <a:solidFill>
                            <a:srgbClr val="6E6666"/>
                          </a:solidFill>
                          <a:latin typeface="Poppins" pitchFamily="34" charset="0"/>
                          <a:cs typeface="Poppins" pitchFamily="34" charset="-120"/>
                        </a:rPr>
                        <a:t>evalyuare</a:t>
                      </a:r>
                      <a:r>
                        <a:rPr lang="en-US" sz="1200" kern="1200" dirty="0">
                          <a:solidFill>
                            <a:srgbClr val="6E6666"/>
                          </a:solidFill>
                          <a:latin typeface="Poppins" pitchFamily="34" charset="0"/>
                          <a:cs typeface="Poppins" pitchFamily="34" charset="-120"/>
                        </a:rPr>
                        <a:t> the current model.</a:t>
                      </a:r>
                      <a:endParaRPr lang="en-US" sz="1200" kern="1200" dirty="0">
                        <a:solidFill>
                          <a:srgbClr val="6E6666"/>
                        </a:solidFill>
                        <a:latin typeface="Poppins" pitchFamily="34" charset="0"/>
                        <a:ea typeface="Poppins" charset="0"/>
                        <a:cs typeface="Poppins" pitchFamily="34" charset="-120"/>
                      </a:endParaRPr>
                    </a:p>
                  </a:txBody>
                  <a:tcPr marL="154570" marR="154570" marT="6350" marB="6350" anchor="ctr">
                    <a:lnL w="12700" cap="flat" cmpd="sng" algn="ctr">
                      <a:solidFill>
                        <a:srgbClr val="D2C5C9"/>
                      </a:solidFill>
                      <a:prstDash val="solid"/>
                      <a:round/>
                      <a:headEnd type="none" w="med" len="med"/>
                      <a:tailEnd type="none" w="med" len="med"/>
                    </a:lnL>
                    <a:lnR w="12700" cap="flat" cmpd="sng" algn="ctr">
                      <a:solidFill>
                        <a:srgbClr val="D2C5C9"/>
                      </a:solidFill>
                      <a:prstDash val="solid"/>
                      <a:round/>
                      <a:headEnd type="none" w="med" len="med"/>
                      <a:tailEnd type="none" w="med" len="med"/>
                    </a:lnR>
                    <a:lnT w="12700" cap="flat" cmpd="sng" algn="ctr">
                      <a:solidFill>
                        <a:srgbClr val="D2C5C9"/>
                      </a:solidFill>
                      <a:prstDash val="solid"/>
                      <a:round/>
                      <a:headEnd type="none" w="med" len="med"/>
                      <a:tailEnd type="none" w="med" len="med"/>
                    </a:lnT>
                    <a:lnB w="12700" cap="flat" cmpd="sng" algn="ctr">
                      <a:solidFill>
                        <a:srgbClr val="D2C5C9"/>
                      </a:solidFill>
                      <a:prstDash val="solid"/>
                      <a:round/>
                      <a:headEnd type="none" w="med" len="med"/>
                      <a:tailEnd type="none" w="med" len="med"/>
                    </a:lnB>
                  </a:tcPr>
                </a:tc>
                <a:tc>
                  <a:txBody>
                    <a:bodyPr/>
                    <a:lstStyle/>
                    <a:p>
                      <a:pPr marL="0" indent="0">
                        <a:buNone/>
                      </a:pPr>
                      <a:r>
                        <a:rPr lang="en-US" sz="1200" dirty="0">
                          <a:solidFill>
                            <a:srgbClr val="6E6666"/>
                          </a:solidFill>
                          <a:latin typeface="Poppins" pitchFamily="34" charset="0"/>
                          <a:ea typeface="Poppins" pitchFamily="34" charset="-122"/>
                          <a:cs typeface="Poppins" pitchFamily="34" charset="-120"/>
                        </a:rPr>
                        <a:t>Flash cards were evaluated by the supervisor for their educational effectiveness. Already checked with other models for the results and confirmed it</a:t>
                      </a:r>
                      <a:endParaRPr lang="en-US" sz="1200" dirty="0">
                        <a:latin typeface="Poppins" charset="0"/>
                        <a:ea typeface="Poppins" charset="0"/>
                        <a:cs typeface="Poppins" charset="0"/>
                      </a:endParaRPr>
                    </a:p>
                  </a:txBody>
                  <a:tcPr marL="154570" marR="154570" marT="6350" marB="6350" anchor="ctr">
                    <a:lnL w="12700" cap="flat" cmpd="sng" algn="ctr">
                      <a:solidFill>
                        <a:srgbClr val="D2C5C9"/>
                      </a:solidFill>
                      <a:prstDash val="solid"/>
                      <a:round/>
                      <a:headEnd type="none" w="med" len="med"/>
                      <a:tailEnd type="none" w="med" len="med"/>
                    </a:lnL>
                    <a:lnR w="12700" cap="flat" cmpd="sng" algn="ctr">
                      <a:solidFill>
                        <a:srgbClr val="D2C5C9"/>
                      </a:solidFill>
                      <a:prstDash val="solid"/>
                      <a:round/>
                      <a:headEnd type="none" w="med" len="med"/>
                      <a:tailEnd type="none" w="med" len="med"/>
                    </a:lnR>
                    <a:lnT w="12700" cap="flat" cmpd="sng" algn="ctr">
                      <a:solidFill>
                        <a:srgbClr val="D2C5C9"/>
                      </a:solidFill>
                      <a:prstDash val="solid"/>
                      <a:round/>
                      <a:headEnd type="none" w="med" len="med"/>
                      <a:tailEnd type="none" w="med" len="med"/>
                    </a:lnT>
                    <a:lnB w="12700" cap="flat" cmpd="sng" algn="ctr">
                      <a:solidFill>
                        <a:srgbClr val="D2C5C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Text 1"/>
          <p:cNvSpPr/>
          <p:nvPr/>
        </p:nvSpPr>
        <p:spPr>
          <a:xfrm>
            <a:off x="540927" y="6040041"/>
            <a:ext cx="11650768" cy="197743"/>
          </a:xfrm>
          <a:prstGeom prst="rect">
            <a:avLst/>
          </a:prstGeom>
          <a:noFill/>
          <a:ln/>
        </p:spPr>
        <p:txBody>
          <a:bodyPr wrap="none" lIns="0" tIns="0" rIns="0" bIns="0" rtlCol="0" anchor="t"/>
          <a:lstStyle/>
          <a:p>
            <a:pPr marL="0" indent="0" algn="l">
              <a:lnSpc>
                <a:spcPct val="133000"/>
              </a:lnSpc>
              <a:buNone/>
            </a:pP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0927" y="478532"/>
            <a:ext cx="11109841" cy="694333"/>
          </a:xfrm>
          <a:prstGeom prst="rect">
            <a:avLst/>
          </a:prstGeom>
          <a:noFill/>
          <a:ln/>
        </p:spPr>
        <p:txBody>
          <a:bodyPr wrap="none" lIns="0" tIns="0" rIns="0" bIns="0" rtlCol="0" anchor="t"/>
          <a:lstStyle/>
          <a:p>
            <a:pPr marL="0" indent="0" algn="l">
              <a:lnSpc>
                <a:spcPct val="104000"/>
              </a:lnSpc>
              <a:buNone/>
            </a:pPr>
            <a:r>
              <a:rPr lang="en-US" sz="4350" dirty="0">
                <a:solidFill>
                  <a:srgbClr val="787878"/>
                </a:solidFill>
                <a:latin typeface="Baskervville" pitchFamily="34" charset="0"/>
                <a:ea typeface="Baskervville" pitchFamily="34" charset="-122"/>
                <a:cs typeface="Baskervville" pitchFamily="34" charset="-120"/>
              </a:rPr>
              <a:t>Research Gap, Objectives &amp; Strands</a:t>
            </a:r>
            <a:endParaRPr lang="en-US" sz="4350" dirty="0"/>
          </a:p>
        </p:txBody>
      </p:sp>
      <p:pic>
        <p:nvPicPr>
          <p:cNvPr id="3" name="Image 0" descr="preencoded.png"/>
          <p:cNvPicPr>
            <a:picLocks noChangeAspect="1"/>
          </p:cNvPicPr>
          <p:nvPr/>
        </p:nvPicPr>
        <p:blipFill>
          <a:blip r:embed="rId3"/>
          <a:stretch>
            <a:fillRect/>
          </a:stretch>
        </p:blipFill>
        <p:spPr>
          <a:xfrm>
            <a:off x="540927" y="1578471"/>
            <a:ext cx="4792047" cy="2715518"/>
          </a:xfrm>
          <a:prstGeom prst="rect">
            <a:avLst/>
          </a:prstGeom>
        </p:spPr>
      </p:pic>
      <p:sp>
        <p:nvSpPr>
          <p:cNvPr id="4" name="Text 1"/>
          <p:cNvSpPr/>
          <p:nvPr/>
        </p:nvSpPr>
        <p:spPr>
          <a:xfrm>
            <a:off x="5716345" y="2688927"/>
            <a:ext cx="5940673" cy="494506"/>
          </a:xfrm>
          <a:prstGeom prst="rect">
            <a:avLst/>
          </a:prstGeom>
          <a:noFill/>
          <a:ln/>
        </p:spPr>
        <p:txBody>
          <a:bodyPr wrap="square" lIns="0" tIns="0" rIns="0" bIns="0" rtlCol="0" anchor="t">
            <a:normAutofit/>
          </a:bodyPr>
          <a:lstStyle/>
          <a:p>
            <a:pPr marL="0" indent="0" algn="l">
              <a:lnSpc>
                <a:spcPct val="133000"/>
              </a:lnSpc>
              <a:buNone/>
            </a:pPr>
            <a:r>
              <a:rPr lang="en-US" sz="1200" b="1" dirty="0">
                <a:solidFill>
                  <a:srgbClr val="6E6666"/>
                </a:solidFill>
                <a:latin typeface="Poppins Bold" pitchFamily="34" charset="0"/>
                <a:ea typeface="Poppins Bold" pitchFamily="34" charset="-122"/>
                <a:cs typeface="Poppins Bold" pitchFamily="34" charset="-120"/>
              </a:rPr>
              <a:t>Research gap</a:t>
            </a:r>
            <a:r>
              <a:rPr lang="en-US" sz="1200" dirty="0">
                <a:solidFill>
                  <a:srgbClr val="6E6666"/>
                </a:solidFill>
                <a:latin typeface="Poppins" pitchFamily="34" charset="0"/>
                <a:ea typeface="Poppins" pitchFamily="34" charset="-122"/>
                <a:cs typeface="Poppins" pitchFamily="34" charset="-120"/>
              </a:rPr>
              <a:t>: Tools are disjoint — lack emotion‑aware scheduling, hallucination control, and curriculum‑mapped summaries.</a:t>
            </a:r>
            <a:endParaRPr lang="en-US" sz="1200" dirty="0"/>
          </a:p>
        </p:txBody>
      </p:sp>
      <p:sp>
        <p:nvSpPr>
          <p:cNvPr id="5" name="Shape 2"/>
          <p:cNvSpPr/>
          <p:nvPr/>
        </p:nvSpPr>
        <p:spPr>
          <a:xfrm>
            <a:off x="540927" y="4641652"/>
            <a:ext cx="3600261" cy="1737717"/>
          </a:xfrm>
          <a:prstGeom prst="roundRect">
            <a:avLst>
              <a:gd name="adj" fmla="val 13342"/>
            </a:avLst>
          </a:prstGeom>
          <a:solidFill>
            <a:srgbClr val="ECDFE3"/>
          </a:solidFill>
          <a:ln/>
        </p:spPr>
        <p:txBody>
          <a:bodyPr/>
          <a:lstStyle/>
          <a:p>
            <a:endParaRPr lang="en-US"/>
          </a:p>
        </p:txBody>
      </p:sp>
      <p:sp>
        <p:nvSpPr>
          <p:cNvPr id="6" name="Text 3"/>
          <p:cNvSpPr/>
          <p:nvPr/>
        </p:nvSpPr>
        <p:spPr>
          <a:xfrm>
            <a:off x="695407" y="4796135"/>
            <a:ext cx="3291301" cy="347067"/>
          </a:xfrm>
          <a:prstGeom prst="rect">
            <a:avLst/>
          </a:prstGeom>
          <a:noFill/>
          <a:ln/>
        </p:spPr>
        <p:txBody>
          <a:bodyPr wrap="none" lIns="0" tIns="0" rIns="0" bIns="0" rtlCol="0" anchor="t"/>
          <a:lstStyle/>
          <a:p>
            <a:pPr marL="0" indent="0" algn="l">
              <a:lnSpc>
                <a:spcPct val="104000"/>
              </a:lnSpc>
              <a:buNone/>
            </a:pPr>
            <a:r>
              <a:rPr lang="en-US" sz="2150" dirty="0">
                <a:solidFill>
                  <a:srgbClr val="000000"/>
                </a:solidFill>
                <a:latin typeface="Baskervville" pitchFamily="34" charset="0"/>
                <a:ea typeface="Baskervville" pitchFamily="34" charset="-122"/>
                <a:cs typeface="Baskervville" pitchFamily="34" charset="-120"/>
              </a:rPr>
              <a:t>System objective</a:t>
            </a:r>
            <a:endParaRPr lang="en-US" sz="2150" dirty="0"/>
          </a:p>
        </p:txBody>
      </p:sp>
      <p:sp>
        <p:nvSpPr>
          <p:cNvPr id="7" name="Text 4"/>
          <p:cNvSpPr/>
          <p:nvPr/>
        </p:nvSpPr>
        <p:spPr>
          <a:xfrm>
            <a:off x="695407" y="5235873"/>
            <a:ext cx="3291301" cy="741759"/>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000000"/>
                </a:solidFill>
                <a:latin typeface="Poppins" pitchFamily="34" charset="0"/>
                <a:ea typeface="Poppins" pitchFamily="34" charset="-122"/>
                <a:cs typeface="Poppins" pitchFamily="34" charset="-120"/>
              </a:rPr>
              <a:t>End‑to‑end Smart Study Assistant: grounded tutoring, objective‑aligned flashcards, emotion‑aware scheduling.</a:t>
            </a:r>
            <a:endParaRPr lang="en-US" sz="1200" dirty="0"/>
          </a:p>
        </p:txBody>
      </p:sp>
      <p:sp>
        <p:nvSpPr>
          <p:cNvPr id="8" name="Shape 5"/>
          <p:cNvSpPr/>
          <p:nvPr/>
        </p:nvSpPr>
        <p:spPr>
          <a:xfrm>
            <a:off x="4295668" y="4641652"/>
            <a:ext cx="3600261" cy="1737717"/>
          </a:xfrm>
          <a:prstGeom prst="roundRect">
            <a:avLst>
              <a:gd name="adj" fmla="val 13342"/>
            </a:avLst>
          </a:prstGeom>
          <a:solidFill>
            <a:srgbClr val="ECDFE3"/>
          </a:solidFill>
          <a:ln/>
        </p:spPr>
        <p:txBody>
          <a:bodyPr/>
          <a:lstStyle/>
          <a:p>
            <a:endParaRPr lang="en-US"/>
          </a:p>
        </p:txBody>
      </p:sp>
      <p:sp>
        <p:nvSpPr>
          <p:cNvPr id="9" name="Text 6"/>
          <p:cNvSpPr/>
          <p:nvPr/>
        </p:nvSpPr>
        <p:spPr>
          <a:xfrm>
            <a:off x="4450147" y="4796135"/>
            <a:ext cx="3291301" cy="347067"/>
          </a:xfrm>
          <a:prstGeom prst="rect">
            <a:avLst/>
          </a:prstGeom>
          <a:noFill/>
          <a:ln/>
        </p:spPr>
        <p:txBody>
          <a:bodyPr wrap="none" lIns="0" tIns="0" rIns="0" bIns="0" rtlCol="0" anchor="t"/>
          <a:lstStyle/>
          <a:p>
            <a:pPr marL="0" indent="0" algn="l">
              <a:lnSpc>
                <a:spcPct val="104000"/>
              </a:lnSpc>
              <a:buNone/>
            </a:pPr>
            <a:r>
              <a:rPr lang="en-US" sz="2150" dirty="0">
                <a:solidFill>
                  <a:srgbClr val="000000"/>
                </a:solidFill>
                <a:latin typeface="Baskervville" pitchFamily="34" charset="0"/>
                <a:ea typeface="Baskervville" pitchFamily="34" charset="-122"/>
                <a:cs typeface="Baskervville" pitchFamily="34" charset="-120"/>
              </a:rPr>
              <a:t>Research strand</a:t>
            </a:r>
            <a:endParaRPr lang="en-US" sz="2150" dirty="0"/>
          </a:p>
        </p:txBody>
      </p:sp>
      <p:sp>
        <p:nvSpPr>
          <p:cNvPr id="10" name="Text 7"/>
          <p:cNvSpPr/>
          <p:nvPr/>
        </p:nvSpPr>
        <p:spPr>
          <a:xfrm>
            <a:off x="4450147" y="5235873"/>
            <a:ext cx="3291301" cy="741759"/>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000000"/>
                </a:solidFill>
                <a:latin typeface="Poppins" pitchFamily="34" charset="0"/>
                <a:ea typeface="Poppins" pitchFamily="34" charset="-122"/>
                <a:cs typeface="Poppins" pitchFamily="34" charset="-120"/>
              </a:rPr>
              <a:t>LLM uncertainty estimation · affective computing + memory decay · semantic curriculum alignment</a:t>
            </a:r>
            <a:endParaRPr lang="en-US" sz="1200" dirty="0"/>
          </a:p>
        </p:txBody>
      </p:sp>
      <p:sp>
        <p:nvSpPr>
          <p:cNvPr id="11" name="Shape 8"/>
          <p:cNvSpPr/>
          <p:nvPr/>
        </p:nvSpPr>
        <p:spPr>
          <a:xfrm>
            <a:off x="8050408" y="4641652"/>
            <a:ext cx="3600261" cy="1737717"/>
          </a:xfrm>
          <a:prstGeom prst="roundRect">
            <a:avLst>
              <a:gd name="adj" fmla="val 13342"/>
            </a:avLst>
          </a:prstGeom>
          <a:solidFill>
            <a:srgbClr val="ECDFE3"/>
          </a:solidFill>
          <a:ln/>
        </p:spPr>
        <p:txBody>
          <a:bodyPr/>
          <a:lstStyle/>
          <a:p>
            <a:endParaRPr lang="en-US"/>
          </a:p>
        </p:txBody>
      </p:sp>
      <p:sp>
        <p:nvSpPr>
          <p:cNvPr id="12" name="Text 9"/>
          <p:cNvSpPr/>
          <p:nvPr/>
        </p:nvSpPr>
        <p:spPr>
          <a:xfrm>
            <a:off x="8204888" y="4796135"/>
            <a:ext cx="3291301" cy="347067"/>
          </a:xfrm>
          <a:prstGeom prst="rect">
            <a:avLst/>
          </a:prstGeom>
          <a:noFill/>
          <a:ln/>
        </p:spPr>
        <p:txBody>
          <a:bodyPr wrap="none" lIns="0" tIns="0" rIns="0" bIns="0" rtlCol="0" anchor="t"/>
          <a:lstStyle/>
          <a:p>
            <a:pPr marL="0" indent="0" algn="l">
              <a:lnSpc>
                <a:spcPct val="104000"/>
              </a:lnSpc>
              <a:buNone/>
            </a:pPr>
            <a:r>
              <a:rPr lang="en-US" sz="2150" dirty="0">
                <a:solidFill>
                  <a:srgbClr val="000000"/>
                </a:solidFill>
                <a:latin typeface="Baskervville" pitchFamily="34" charset="0"/>
                <a:ea typeface="Baskervville" pitchFamily="34" charset="-122"/>
                <a:cs typeface="Baskervville" pitchFamily="34" charset="-120"/>
              </a:rPr>
              <a:t>Development strand</a:t>
            </a:r>
            <a:endParaRPr lang="en-US" sz="2150" dirty="0"/>
          </a:p>
        </p:txBody>
      </p:sp>
      <p:sp>
        <p:nvSpPr>
          <p:cNvPr id="13" name="Text 10"/>
          <p:cNvSpPr/>
          <p:nvPr/>
        </p:nvSpPr>
        <p:spPr>
          <a:xfrm>
            <a:off x="8204888" y="5235873"/>
            <a:ext cx="3291301" cy="989013"/>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000000"/>
                </a:solidFill>
                <a:latin typeface="Poppins" pitchFamily="34" charset="0"/>
                <a:ea typeface="Poppins" pitchFamily="34" charset="-122"/>
                <a:cs typeface="Poppins" pitchFamily="34" charset="-120"/>
              </a:rPr>
              <a:t>RAG vector DB engineering (FAISS/Chroma) · MediaPipe optimization for low‑spec laptops · RL scheduler via FastAPI microservices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0927" y="478532"/>
            <a:ext cx="11109841" cy="694333"/>
          </a:xfrm>
          <a:prstGeom prst="rect">
            <a:avLst/>
          </a:prstGeom>
          <a:noFill/>
          <a:ln/>
        </p:spPr>
        <p:txBody>
          <a:bodyPr wrap="square" lIns="0" tIns="0" rIns="0" bIns="0" rtlCol="0" anchor="t">
            <a:normAutofit/>
          </a:bodyPr>
          <a:lstStyle/>
          <a:p>
            <a:pPr marL="0" indent="0" algn="l">
              <a:lnSpc>
                <a:spcPct val="104000"/>
              </a:lnSpc>
              <a:spcAft>
                <a:spcPts val="0"/>
              </a:spcAft>
              <a:buNone/>
            </a:pPr>
            <a:r>
              <a:rPr lang="en-US" sz="4350" dirty="0">
                <a:solidFill>
                  <a:srgbClr val="787878"/>
                </a:solidFill>
                <a:latin typeface="Baskervville" pitchFamily="34" charset="0"/>
                <a:ea typeface="Baskervville" pitchFamily="34" charset="-122"/>
                <a:cs typeface="Baskervville" pitchFamily="34" charset="-120"/>
              </a:rPr>
              <a:t>Clinical Psychologist Evaluation</a:t>
            </a:r>
            <a:endParaRPr lang="en-US" sz="4350" dirty="0"/>
          </a:p>
        </p:txBody>
      </p:sp>
      <p:sp>
        <p:nvSpPr>
          <p:cNvPr id="3" name="VIDEO PLACEHOLDER"/>
          <p:cNvSpPr/>
          <p:nvPr/>
        </p:nvSpPr>
        <p:spPr>
          <a:xfrm>
            <a:off x="540927" y="1578471"/>
            <a:ext cx="6400000" cy="3600000"/>
          </a:xfrm>
          <a:prstGeom prst="roundRect">
            <a:avLst>
              <a:gd name="adj" fmla="val 4000"/>
            </a:avLst>
          </a:prstGeom>
          <a:solidFill>
            <a:srgbClr val="ECDFE3"/>
          </a:solidFill>
          <a:ln>
            <a:noFill/>
          </a:ln>
        </p:spPr>
        <p:txBody>
          <a:bodyPr/>
          <a:lstStyle/>
          <a:p>
            <a:endParaRPr lang="en-US"/>
          </a:p>
        </p:txBody>
      </p:sp>
      <p:sp>
        <p:nvSpPr>
          <p:cNvPr id="7" name="Video caption"/>
          <p:cNvSpPr txBox="1"/>
          <p:nvPr/>
        </p:nvSpPr>
        <p:spPr>
          <a:xfrm>
            <a:off x="1200770" y="5511404"/>
            <a:ext cx="6400000" cy="40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050" b="1" dirty="0">
                <a:solidFill>
                  <a:srgbClr val="6E6666"/>
                </a:solidFill>
                <a:latin typeface="Poppins Bold" pitchFamily="34" charset="0"/>
                <a:ea typeface="Poppins Bold" pitchFamily="34" charset="-122"/>
                <a:cs typeface="Poppins Bold" pitchFamily="34" charset="-120"/>
              </a:rPr>
              <a:t>Video: </a:t>
            </a:r>
            <a:r>
              <a:rPr lang="en-US" sz="1050" i="1" dirty="0">
                <a:solidFill>
                  <a:srgbClr val="6E6666"/>
                </a:solidFill>
                <a:latin typeface="Poppins" pitchFamily="34" charset="0"/>
                <a:ea typeface="Poppins" pitchFamily="34" charset="-122"/>
                <a:cs typeface="Poppins" pitchFamily="34" charset="-120"/>
              </a:rPr>
              <a:t>[Clinical psychologist feedback on detected emotion states · duration]</a:t>
            </a:r>
            <a:endParaRPr lang="en-US" sz="1050" dirty="0"/>
          </a:p>
        </p:txBody>
      </p:sp>
      <p:cxnSp>
        <p:nvCxnSpPr>
          <p:cNvPr id="8" name="Row line"/>
          <p:cNvCxnSpPr/>
          <p:nvPr/>
        </p:nvCxnSpPr>
        <p:spPr>
          <a:xfrm>
            <a:off x="7300000" y="1578471"/>
            <a:ext cx="4350768" cy="0"/>
          </a:xfrm>
          <a:prstGeom prst="line">
            <a:avLst/>
          </a:prstGeom>
          <a:ln w="12700">
            <a:solidFill>
              <a:srgbClr val="B79BA6"/>
            </a:solidFill>
          </a:ln>
        </p:spPr>
      </p:cxnSp>
      <p:sp>
        <p:nvSpPr>
          <p:cNvPr id="9" name="Row heading"/>
          <p:cNvSpPr txBox="1"/>
          <p:nvPr/>
        </p:nvSpPr>
        <p:spPr>
          <a:xfrm>
            <a:off x="7300000" y="1698471"/>
            <a:ext cx="4350768" cy="347067"/>
          </a:xfrm>
          <a:prstGeom prst="rect">
            <a:avLst/>
          </a:prstGeom>
          <a:noFill/>
          <a:ln/>
        </p:spPr>
        <p:txBody>
          <a:bodyPr wrap="square" lIns="0" tIns="0" rIns="0" bIns="0" rtlCol="0" anchor="t">
            <a:normAutofit/>
          </a:bodyPr>
          <a:lstStyle/>
          <a:p>
            <a:pPr marL="0" indent="0" algn="l">
              <a:lnSpc>
                <a:spcPct val="104000"/>
              </a:lnSpc>
              <a:spcAft>
                <a:spcPts val="0"/>
              </a:spcAft>
              <a:buNone/>
            </a:pPr>
            <a:r>
              <a:rPr lang="en-US" sz="1950" dirty="0">
                <a:solidFill>
                  <a:srgbClr val="6E6666"/>
                </a:solidFill>
                <a:latin typeface="Baskervville" pitchFamily="34" charset="0"/>
                <a:ea typeface="Baskervville" pitchFamily="34" charset="-122"/>
                <a:cs typeface="Baskervville" pitchFamily="34" charset="-120"/>
              </a:rPr>
              <a:t>Evaluator</a:t>
            </a:r>
            <a:endParaRPr lang="en-US" sz="1950" dirty="0"/>
          </a:p>
        </p:txBody>
      </p:sp>
      <p:sp>
        <p:nvSpPr>
          <p:cNvPr id="10" name="Row body"/>
          <p:cNvSpPr txBox="1"/>
          <p:nvPr/>
        </p:nvSpPr>
        <p:spPr>
          <a:xfrm>
            <a:off x="7300000" y="2138471"/>
            <a:ext cx="4350768" cy="720000"/>
          </a:xfrm>
          <a:prstGeom prst="rect">
            <a:avLst/>
          </a:prstGeom>
          <a:noFill/>
          <a:ln/>
        </p:spPr>
        <p:txBody>
          <a:bodyPr wrap="square" lIns="0" tIns="0" rIns="0" bIns="0" rtlCol="0" anchor="t">
            <a:normAutofit/>
          </a:bodyPr>
          <a:lstStyle/>
          <a:p>
            <a:pPr marL="0" indent="0" algn="l">
              <a:lnSpc>
                <a:spcPct val="133000"/>
              </a:lnSpc>
              <a:spcAft>
                <a:spcPts val="300"/>
              </a:spcAft>
              <a:buNone/>
            </a:pPr>
            <a:r>
              <a:rPr lang="en-US" sz="1200" dirty="0">
                <a:solidFill>
                  <a:srgbClr val="6E6666"/>
                </a:solidFill>
                <a:latin typeface="Poppins" pitchFamily="34" charset="0"/>
                <a:cs typeface="Poppins" pitchFamily="34" charset="-120"/>
              </a:rPr>
              <a:t>Supportive follow-up regarding </a:t>
            </a:r>
            <a:r>
              <a:rPr lang="en-US" sz="1200" dirty="0" err="1">
                <a:solidFill>
                  <a:srgbClr val="6E6666"/>
                </a:solidFill>
                <a:latin typeface="Poppins" pitchFamily="34" charset="0"/>
                <a:cs typeface="Poppins" pitchFamily="34" charset="-120"/>
              </a:rPr>
              <a:t>AuraLearn</a:t>
            </a:r>
            <a:r>
              <a:rPr lang="en-US" sz="1200" dirty="0">
                <a:solidFill>
                  <a:srgbClr val="6E6666"/>
                </a:solidFill>
                <a:latin typeface="Poppins" pitchFamily="34" charset="0"/>
                <a:cs typeface="Poppins" pitchFamily="34" charset="-120"/>
              </a:rPr>
              <a:t> system</a:t>
            </a:r>
            <a:endParaRPr lang="en-US" sz="1200" dirty="0"/>
          </a:p>
          <a:p>
            <a:pPr marL="0" indent="0" algn="l">
              <a:lnSpc>
                <a:spcPct val="133000"/>
              </a:lnSpc>
              <a:spcAft>
                <a:spcPts val="300"/>
              </a:spcAft>
              <a:buNone/>
            </a:pPr>
            <a:r>
              <a:rPr lang="en-US" sz="1200" i="1" dirty="0">
                <a:solidFill>
                  <a:srgbClr val="6E6666"/>
                </a:solidFill>
                <a:latin typeface="Poppins" pitchFamily="34" charset="0"/>
                <a:ea typeface="Poppins" pitchFamily="34" charset="-122"/>
                <a:cs typeface="Poppins" pitchFamily="34" charset="-120"/>
              </a:rPr>
              <a:t>[</a:t>
            </a:r>
            <a:r>
              <a:rPr lang="en-US" sz="1200" i="1" dirty="0" err="1">
                <a:solidFill>
                  <a:srgbClr val="6E6666"/>
                </a:solidFill>
                <a:latin typeface="Poppins" pitchFamily="34" charset="0"/>
                <a:ea typeface="Poppins" pitchFamily="34" charset="-122"/>
                <a:cs typeface="Poppins" pitchFamily="34" charset="-120"/>
              </a:rPr>
              <a:t>Dinuka</a:t>
            </a:r>
            <a:r>
              <a:rPr lang="en-US" sz="1200" i="1" dirty="0">
                <a:solidFill>
                  <a:srgbClr val="6E6666"/>
                </a:solidFill>
                <a:latin typeface="Poppins" pitchFamily="34" charset="0"/>
                <a:ea typeface="Poppins" pitchFamily="34" charset="-122"/>
                <a:cs typeface="Poppins" pitchFamily="34" charset="-120"/>
              </a:rPr>
              <a:t> </a:t>
            </a:r>
            <a:r>
              <a:rPr lang="en-US" sz="1200" i="1" dirty="0" err="1">
                <a:solidFill>
                  <a:srgbClr val="6E6666"/>
                </a:solidFill>
                <a:latin typeface="Poppins" pitchFamily="34" charset="0"/>
                <a:ea typeface="Poppins" pitchFamily="34" charset="-122"/>
                <a:cs typeface="Poppins" pitchFamily="34" charset="-120"/>
              </a:rPr>
              <a:t>Sandeepa</a:t>
            </a:r>
            <a:r>
              <a:rPr lang="en-US" sz="1200" i="1" dirty="0">
                <a:solidFill>
                  <a:srgbClr val="6E6666"/>
                </a:solidFill>
                <a:latin typeface="Poppins" pitchFamily="34" charset="0"/>
                <a:ea typeface="Poppins" pitchFamily="34" charset="-122"/>
                <a:cs typeface="Poppins" pitchFamily="34" charset="-120"/>
              </a:rPr>
              <a:t> </a:t>
            </a:r>
            <a:r>
              <a:rPr lang="en-US" sz="1200" i="1" dirty="0" err="1">
                <a:solidFill>
                  <a:srgbClr val="6E6666"/>
                </a:solidFill>
                <a:latin typeface="Poppins" pitchFamily="34" charset="0"/>
                <a:ea typeface="Poppins" pitchFamily="34" charset="-122"/>
                <a:cs typeface="Poppins" pitchFamily="34" charset="-120"/>
              </a:rPr>
              <a:t>Subasigha</a:t>
            </a:r>
            <a:r>
              <a:rPr lang="en-US" sz="1200" i="1" dirty="0">
                <a:solidFill>
                  <a:srgbClr val="6E6666"/>
                </a:solidFill>
                <a:latin typeface="Poppins" pitchFamily="34" charset="0"/>
                <a:ea typeface="Poppins" pitchFamily="34" charset="-122"/>
                <a:cs typeface="Poppins" pitchFamily="34" charset="-120"/>
              </a:rPr>
              <a:t>-psychological counselor</a:t>
            </a:r>
            <a:endParaRPr lang="en-US" sz="1200" dirty="0"/>
          </a:p>
        </p:txBody>
      </p:sp>
      <p:cxnSp>
        <p:nvCxnSpPr>
          <p:cNvPr id="11" name="Row line"/>
          <p:cNvCxnSpPr/>
          <p:nvPr/>
        </p:nvCxnSpPr>
        <p:spPr>
          <a:xfrm>
            <a:off x="7300000" y="2958471"/>
            <a:ext cx="4350768" cy="0"/>
          </a:xfrm>
          <a:prstGeom prst="line">
            <a:avLst/>
          </a:prstGeom>
          <a:ln w="12700">
            <a:solidFill>
              <a:srgbClr val="B79BA6"/>
            </a:solidFill>
          </a:ln>
        </p:spPr>
      </p:cxnSp>
      <p:sp>
        <p:nvSpPr>
          <p:cNvPr id="12" name="Row heading"/>
          <p:cNvSpPr txBox="1"/>
          <p:nvPr/>
        </p:nvSpPr>
        <p:spPr>
          <a:xfrm>
            <a:off x="7300000" y="3078471"/>
            <a:ext cx="4350768" cy="347067"/>
          </a:xfrm>
          <a:prstGeom prst="rect">
            <a:avLst/>
          </a:prstGeom>
          <a:noFill/>
          <a:ln/>
        </p:spPr>
        <p:txBody>
          <a:bodyPr wrap="square" lIns="0" tIns="0" rIns="0" bIns="0" rtlCol="0" anchor="t">
            <a:normAutofit/>
          </a:bodyPr>
          <a:lstStyle/>
          <a:p>
            <a:pPr marL="0" indent="0" algn="l">
              <a:lnSpc>
                <a:spcPct val="104000"/>
              </a:lnSpc>
              <a:spcAft>
                <a:spcPts val="0"/>
              </a:spcAft>
              <a:buNone/>
            </a:pPr>
            <a:r>
              <a:rPr lang="en-US" sz="1950" dirty="0">
                <a:solidFill>
                  <a:srgbClr val="6E6666"/>
                </a:solidFill>
                <a:latin typeface="Baskervville" pitchFamily="34" charset="0"/>
                <a:ea typeface="Baskervville" pitchFamily="34" charset="-122"/>
                <a:cs typeface="Baskervville" pitchFamily="34" charset="-120"/>
              </a:rPr>
              <a:t>What was validated</a:t>
            </a:r>
            <a:endParaRPr lang="en-US" sz="1950" dirty="0"/>
          </a:p>
        </p:txBody>
      </p:sp>
      <p:sp>
        <p:nvSpPr>
          <p:cNvPr id="13" name="Row body"/>
          <p:cNvSpPr txBox="1"/>
          <p:nvPr/>
        </p:nvSpPr>
        <p:spPr>
          <a:xfrm>
            <a:off x="7266243" y="3464938"/>
            <a:ext cx="4350768" cy="720000"/>
          </a:xfrm>
          <a:prstGeom prst="rect">
            <a:avLst/>
          </a:prstGeom>
          <a:noFill/>
          <a:ln/>
        </p:spPr>
        <p:txBody>
          <a:bodyPr wrap="square" lIns="0" tIns="0" rIns="0" bIns="0" rtlCol="0" anchor="t">
            <a:noAutofit/>
          </a:bodyPr>
          <a:lstStyle/>
          <a:p>
            <a:pPr marL="285750" indent="-285750">
              <a:lnSpc>
                <a:spcPct val="133000"/>
              </a:lnSpc>
              <a:spcAft>
                <a:spcPts val="300"/>
              </a:spcAft>
              <a:buFont typeface="Arial" panose="020B0604020202020204" pitchFamily="34" charset="0"/>
              <a:buChar char="•"/>
            </a:pPr>
            <a:r>
              <a:rPr lang="en-US" sz="1400" dirty="0"/>
              <a:t>The System's Reporting Capability</a:t>
            </a:r>
          </a:p>
          <a:p>
            <a:pPr marL="285750" indent="-285750">
              <a:lnSpc>
                <a:spcPct val="133000"/>
              </a:lnSpc>
              <a:spcAft>
                <a:spcPts val="300"/>
              </a:spcAft>
              <a:buFont typeface="Arial" panose="020B0604020202020204" pitchFamily="34" charset="0"/>
              <a:buChar char="•"/>
            </a:pPr>
            <a:r>
              <a:rPr lang="en-US" sz="1400" dirty="0"/>
              <a:t>The Usefulness of the Output Data</a:t>
            </a:r>
          </a:p>
          <a:p>
            <a:pPr marL="285750" indent="-285750">
              <a:lnSpc>
                <a:spcPct val="133000"/>
              </a:lnSpc>
              <a:spcAft>
                <a:spcPts val="300"/>
              </a:spcAft>
              <a:buFont typeface="Arial" panose="020B0604020202020204" pitchFamily="34" charset="0"/>
              <a:buChar char="•"/>
            </a:pPr>
            <a:r>
              <a:rPr lang="en-US" sz="1400" dirty="0"/>
              <a:t>The System's Role as a Support Tool</a:t>
            </a:r>
            <a:br>
              <a:rPr lang="en-US" sz="1400" dirty="0"/>
            </a:br>
            <a:endParaRPr lang="en-US" sz="1400" dirty="0"/>
          </a:p>
        </p:txBody>
      </p:sp>
      <p:cxnSp>
        <p:nvCxnSpPr>
          <p:cNvPr id="14" name="Row line"/>
          <p:cNvCxnSpPr/>
          <p:nvPr/>
        </p:nvCxnSpPr>
        <p:spPr>
          <a:xfrm>
            <a:off x="7369011" y="4833415"/>
            <a:ext cx="4350768" cy="0"/>
          </a:xfrm>
          <a:prstGeom prst="line">
            <a:avLst/>
          </a:prstGeom>
          <a:ln w="12700">
            <a:solidFill>
              <a:srgbClr val="B79BA6"/>
            </a:solidFill>
          </a:ln>
        </p:spPr>
      </p:cxnSp>
      <p:pic>
        <p:nvPicPr>
          <p:cNvPr id="19" name="WhatsApp Video 2026-10-20 at 7.40.18 PM">
            <a:hlinkClick r:id="" action="ppaction://media"/>
            <a:extLst>
              <a:ext uri="{FF2B5EF4-FFF2-40B4-BE49-F238E27FC236}">
                <a16:creationId xmlns:a16="http://schemas.microsoft.com/office/drawing/2014/main" id="{DA62AB01-F8DF-261A-F09B-88B655E41F3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866243" y="1587402"/>
            <a:ext cx="3096883" cy="3600000"/>
          </a:xfrm>
          <a:prstGeom prst="rect">
            <a:avLst/>
          </a:prstGeom>
        </p:spPr>
      </p:pic>
      <p:pic>
        <p:nvPicPr>
          <p:cNvPr id="21" name="Picture 20">
            <a:extLst>
              <a:ext uri="{FF2B5EF4-FFF2-40B4-BE49-F238E27FC236}">
                <a16:creationId xmlns:a16="http://schemas.microsoft.com/office/drawing/2014/main" id="{E3351D3D-4799-1E14-B832-9C9A7521AFE3}"/>
              </a:ext>
            </a:extLst>
          </p:cNvPr>
          <p:cNvPicPr>
            <a:picLocks noChangeAspect="1"/>
          </p:cNvPicPr>
          <p:nvPr/>
        </p:nvPicPr>
        <p:blipFill>
          <a:blip r:embed="rId5"/>
          <a:stretch>
            <a:fillRect/>
          </a:stretch>
        </p:blipFill>
        <p:spPr>
          <a:xfrm>
            <a:off x="4397285" y="1584426"/>
            <a:ext cx="2109482" cy="36059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7014"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9"/>
                </p:tgtEl>
              </p:cMediaNode>
            </p:video>
            <p:seq concurrent="1"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9"/>
                                        </p:tgtEl>
                                      </p:cBhvr>
                                    </p:cmd>
                                  </p:childTnLst>
                                </p:cTn>
                              </p:par>
                            </p:childTnLst>
                          </p:cTn>
                        </p:par>
                      </p:childTnLst>
                    </p:cTn>
                  </p:par>
                </p:childTnLst>
              </p:cTn>
              <p:nextCondLst>
                <p:cond evt="onClick" delay="0">
                  <p:tgtEl>
                    <p:spTgt spid="19"/>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0927" y="478532"/>
            <a:ext cx="11109841" cy="694333"/>
          </a:xfrm>
          <a:prstGeom prst="rect">
            <a:avLst/>
          </a:prstGeom>
          <a:noFill/>
          <a:ln/>
        </p:spPr>
        <p:txBody>
          <a:bodyPr wrap="square" lIns="0" tIns="0" rIns="0" bIns="0" rtlCol="0" anchor="t">
            <a:normAutofit/>
          </a:bodyPr>
          <a:lstStyle/>
          <a:p>
            <a:pPr marL="0" indent="0" algn="l">
              <a:lnSpc>
                <a:spcPct val="104000"/>
              </a:lnSpc>
              <a:spcAft>
                <a:spcPts val="0"/>
              </a:spcAft>
              <a:buNone/>
            </a:pPr>
            <a:r>
              <a:rPr lang="en-US" sz="4350" dirty="0">
                <a:solidFill>
                  <a:srgbClr val="787878"/>
                </a:solidFill>
                <a:latin typeface="Baskervville" pitchFamily="34" charset="0"/>
                <a:ea typeface="Baskervville" pitchFamily="34" charset="-122"/>
                <a:cs typeface="Baskervville" pitchFamily="34" charset="-120"/>
              </a:rPr>
              <a:t>Supervisor &amp; Student Evaluation</a:t>
            </a:r>
            <a:endParaRPr lang="en-US" sz="4350" dirty="0"/>
          </a:p>
        </p:txBody>
      </p:sp>
      <p:sp>
        <p:nvSpPr>
          <p:cNvPr id="3" name="Left heading"/>
          <p:cNvSpPr txBox="1"/>
          <p:nvPr/>
        </p:nvSpPr>
        <p:spPr>
          <a:xfrm>
            <a:off x="540927" y="1560000"/>
            <a:ext cx="5400000" cy="347067"/>
          </a:xfrm>
          <a:prstGeom prst="rect">
            <a:avLst/>
          </a:prstGeom>
          <a:noFill/>
          <a:ln/>
        </p:spPr>
        <p:txBody>
          <a:bodyPr wrap="square" lIns="0" tIns="0" rIns="0" bIns="0" rtlCol="0" anchor="t">
            <a:normAutofit/>
          </a:bodyPr>
          <a:lstStyle/>
          <a:p>
            <a:pPr marL="0" indent="0" algn="l">
              <a:lnSpc>
                <a:spcPct val="104000"/>
              </a:lnSpc>
              <a:spcAft>
                <a:spcPts val="0"/>
              </a:spcAft>
              <a:buNone/>
            </a:pPr>
            <a:r>
              <a:rPr lang="en-US" sz="2150" dirty="0">
                <a:solidFill>
                  <a:srgbClr val="000000"/>
                </a:solidFill>
                <a:latin typeface="Baskervville" pitchFamily="34" charset="0"/>
                <a:ea typeface="Baskervville" pitchFamily="34" charset="-122"/>
                <a:cs typeface="Baskervville" pitchFamily="34" charset="-120"/>
              </a:rPr>
              <a:t>Supervisors’ comments</a:t>
            </a:r>
            <a:endParaRPr lang="en-US" sz="2150" dirty="0"/>
          </a:p>
        </p:txBody>
      </p:sp>
      <p:sp>
        <p:nvSpPr>
          <p:cNvPr id="4" name="Comment card"/>
          <p:cNvSpPr/>
          <p:nvPr/>
        </p:nvSpPr>
        <p:spPr>
          <a:xfrm>
            <a:off x="540927" y="2060000"/>
            <a:ext cx="5400000" cy="1280000"/>
          </a:xfrm>
          <a:prstGeom prst="roundRect">
            <a:avLst>
              <a:gd name="adj" fmla="val 9000"/>
            </a:avLst>
          </a:prstGeom>
          <a:solidFill>
            <a:srgbClr val="ECDFE3"/>
          </a:solidFill>
          <a:ln>
            <a:noFill/>
          </a:ln>
        </p:spPr>
        <p:txBody>
          <a:bodyPr/>
          <a:lstStyle/>
          <a:p>
            <a:endParaRPr lang="en-US"/>
          </a:p>
        </p:txBody>
      </p:sp>
      <p:sp>
        <p:nvSpPr>
          <p:cNvPr id="5" name="Quote mark"/>
          <p:cNvSpPr txBox="1"/>
          <p:nvPr/>
        </p:nvSpPr>
        <p:spPr>
          <a:xfrm>
            <a:off x="740927" y="2120000"/>
            <a:ext cx="400000" cy="520000"/>
          </a:xfrm>
          <a:prstGeom prst="rect">
            <a:avLst/>
          </a:prstGeom>
          <a:noFill/>
          <a:ln/>
        </p:spPr>
        <p:txBody>
          <a:bodyPr wrap="square" lIns="0" tIns="0" rIns="0" bIns="0" rtlCol="0" anchor="t">
            <a:normAutofit fontScale="92500" lnSpcReduction="20000"/>
          </a:bodyPr>
          <a:lstStyle/>
          <a:p>
            <a:pPr marL="0" indent="0" algn="l">
              <a:lnSpc>
                <a:spcPct val="100000"/>
              </a:lnSpc>
              <a:spcAft>
                <a:spcPts val="0"/>
              </a:spcAft>
              <a:buNone/>
            </a:pPr>
            <a:r>
              <a:rPr lang="en-US" sz="4350" dirty="0">
                <a:solidFill>
                  <a:srgbClr val="B79BA6"/>
                </a:solidFill>
                <a:latin typeface="Baskervville" pitchFamily="34" charset="0"/>
                <a:ea typeface="Baskervville" pitchFamily="34" charset="-122"/>
                <a:cs typeface="Baskervville" pitchFamily="34" charset="-120"/>
              </a:rPr>
              <a:t>“</a:t>
            </a:r>
            <a:endParaRPr lang="en-US" sz="4350" dirty="0"/>
          </a:p>
        </p:txBody>
      </p:sp>
      <p:sp>
        <p:nvSpPr>
          <p:cNvPr id="6" name="Comment"/>
          <p:cNvSpPr txBox="1"/>
          <p:nvPr/>
        </p:nvSpPr>
        <p:spPr>
          <a:xfrm>
            <a:off x="1240927" y="2210000"/>
            <a:ext cx="4500000" cy="78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AuraLearn shows strong technical progress. The four components are well integrated, with models trained and linked end to end.</a:t>
            </a:r>
            <a:endParaRPr lang="en-US" sz="1200" dirty="0"/>
          </a:p>
        </p:txBody>
      </p:sp>
      <p:sp>
        <p:nvSpPr>
          <p:cNvPr id="7" name="Commenter"/>
          <p:cNvSpPr txBox="1"/>
          <p:nvPr/>
        </p:nvSpPr>
        <p:spPr>
          <a:xfrm>
            <a:off x="1240927" y="3020000"/>
            <a:ext cx="4500000" cy="230000"/>
          </a:xfrm>
          <a:prstGeom prst="rect">
            <a:avLst/>
          </a:prstGeom>
          <a:noFill/>
          <a:ln/>
        </p:spPr>
        <p:txBody>
          <a:bodyPr wrap="square" lIns="0" tIns="0" rIns="0" bIns="0" rtlCol="0" anchor="t">
            <a:normAutofit/>
          </a:bodyPr>
          <a:lstStyle/>
          <a:p>
            <a:pPr marL="0" indent="0" algn="l">
              <a:lnSpc>
                <a:spcPct val="120000"/>
              </a:lnSpc>
              <a:spcAft>
                <a:spcPts val="0"/>
              </a:spcAft>
              <a:buNone/>
            </a:pPr>
            <a:r>
              <a:rPr lang="en-US" sz="1050" i="1" dirty="0">
                <a:solidFill>
                  <a:srgbClr val="6E6666"/>
                </a:solidFill>
                <a:latin typeface="Poppins" pitchFamily="34" charset="0"/>
                <a:ea typeface="Poppins" pitchFamily="34" charset="-122"/>
                <a:cs typeface="Poppins" pitchFamily="34" charset="-120"/>
              </a:rPr>
              <a:t>— Supervisor</a:t>
            </a:r>
            <a:endParaRPr lang="en-US" sz="1050" dirty="0"/>
          </a:p>
        </p:txBody>
      </p:sp>
      <p:sp>
        <p:nvSpPr>
          <p:cNvPr id="8" name="Comment card"/>
          <p:cNvSpPr/>
          <p:nvPr/>
        </p:nvSpPr>
        <p:spPr>
          <a:xfrm>
            <a:off x="540927" y="3470000"/>
            <a:ext cx="5400000" cy="1280000"/>
          </a:xfrm>
          <a:prstGeom prst="roundRect">
            <a:avLst>
              <a:gd name="adj" fmla="val 9000"/>
            </a:avLst>
          </a:prstGeom>
          <a:solidFill>
            <a:srgbClr val="ECDFE3"/>
          </a:solidFill>
          <a:ln>
            <a:noFill/>
          </a:ln>
        </p:spPr>
        <p:txBody>
          <a:bodyPr/>
          <a:lstStyle/>
          <a:p>
            <a:endParaRPr lang="en-US"/>
          </a:p>
        </p:txBody>
      </p:sp>
      <p:sp>
        <p:nvSpPr>
          <p:cNvPr id="9" name="Quote mark"/>
          <p:cNvSpPr txBox="1"/>
          <p:nvPr/>
        </p:nvSpPr>
        <p:spPr>
          <a:xfrm>
            <a:off x="740927" y="3530000"/>
            <a:ext cx="400000" cy="520000"/>
          </a:xfrm>
          <a:prstGeom prst="rect">
            <a:avLst/>
          </a:prstGeom>
          <a:noFill/>
          <a:ln/>
        </p:spPr>
        <p:txBody>
          <a:bodyPr wrap="square" lIns="0" tIns="0" rIns="0" bIns="0" rtlCol="0" anchor="t">
            <a:normAutofit fontScale="92500" lnSpcReduction="20000"/>
          </a:bodyPr>
          <a:lstStyle/>
          <a:p>
            <a:pPr marL="0" indent="0" algn="l">
              <a:lnSpc>
                <a:spcPct val="100000"/>
              </a:lnSpc>
              <a:spcAft>
                <a:spcPts val="0"/>
              </a:spcAft>
              <a:buNone/>
            </a:pPr>
            <a:r>
              <a:rPr lang="en-US" sz="4350" dirty="0">
                <a:solidFill>
                  <a:srgbClr val="B79BA6"/>
                </a:solidFill>
                <a:latin typeface="Baskervville" pitchFamily="34" charset="0"/>
                <a:ea typeface="Baskervville" pitchFamily="34" charset="-122"/>
                <a:cs typeface="Baskervville" pitchFamily="34" charset="-120"/>
              </a:rPr>
              <a:t>“</a:t>
            </a:r>
            <a:endParaRPr lang="en-US" sz="4350" dirty="0"/>
          </a:p>
        </p:txBody>
      </p:sp>
      <p:sp>
        <p:nvSpPr>
          <p:cNvPr id="10" name="Comment"/>
          <p:cNvSpPr txBox="1"/>
          <p:nvPr/>
        </p:nvSpPr>
        <p:spPr>
          <a:xfrm>
            <a:off x="1240927" y="3620000"/>
            <a:ext cx="4500000" cy="78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Evaluating the flashcards for educational effectiveness and cross-checking them with other LLMs strengthened the quality of the output.</a:t>
            </a:r>
            <a:endParaRPr lang="en-US" sz="1200" dirty="0"/>
          </a:p>
        </p:txBody>
      </p:sp>
      <p:sp>
        <p:nvSpPr>
          <p:cNvPr id="11" name="Commenter"/>
          <p:cNvSpPr txBox="1"/>
          <p:nvPr/>
        </p:nvSpPr>
        <p:spPr>
          <a:xfrm>
            <a:off x="1240927" y="4430000"/>
            <a:ext cx="4500000" cy="230000"/>
          </a:xfrm>
          <a:prstGeom prst="rect">
            <a:avLst/>
          </a:prstGeom>
          <a:noFill/>
          <a:ln/>
        </p:spPr>
        <p:txBody>
          <a:bodyPr wrap="square" lIns="0" tIns="0" rIns="0" bIns="0" rtlCol="0" anchor="t">
            <a:normAutofit/>
          </a:bodyPr>
          <a:lstStyle/>
          <a:p>
            <a:pPr marL="0" indent="0" algn="l">
              <a:lnSpc>
                <a:spcPct val="120000"/>
              </a:lnSpc>
              <a:spcAft>
                <a:spcPts val="0"/>
              </a:spcAft>
              <a:buNone/>
            </a:pPr>
            <a:r>
              <a:rPr lang="en-US" sz="1050" i="1" dirty="0">
                <a:solidFill>
                  <a:srgbClr val="6E6666"/>
                </a:solidFill>
                <a:latin typeface="Poppins" pitchFamily="34" charset="0"/>
                <a:ea typeface="Poppins" pitchFamily="34" charset="-122"/>
                <a:cs typeface="Poppins" pitchFamily="34" charset="-120"/>
              </a:rPr>
              <a:t>— Supervisor</a:t>
            </a:r>
            <a:endParaRPr lang="en-US" sz="1050" dirty="0"/>
          </a:p>
        </p:txBody>
      </p:sp>
      <p:sp>
        <p:nvSpPr>
          <p:cNvPr id="12" name="Comment card"/>
          <p:cNvSpPr/>
          <p:nvPr/>
        </p:nvSpPr>
        <p:spPr>
          <a:xfrm>
            <a:off x="540927" y="4880000"/>
            <a:ext cx="5400000" cy="1280000"/>
          </a:xfrm>
          <a:prstGeom prst="roundRect">
            <a:avLst>
              <a:gd name="adj" fmla="val 9000"/>
            </a:avLst>
          </a:prstGeom>
          <a:solidFill>
            <a:srgbClr val="ECDFE3"/>
          </a:solidFill>
          <a:ln>
            <a:noFill/>
          </a:ln>
        </p:spPr>
        <p:txBody>
          <a:bodyPr/>
          <a:lstStyle/>
          <a:p>
            <a:endParaRPr lang="en-US"/>
          </a:p>
        </p:txBody>
      </p:sp>
      <p:sp>
        <p:nvSpPr>
          <p:cNvPr id="13" name="Quote mark"/>
          <p:cNvSpPr txBox="1"/>
          <p:nvPr/>
        </p:nvSpPr>
        <p:spPr>
          <a:xfrm>
            <a:off x="740927" y="4940000"/>
            <a:ext cx="400000" cy="520000"/>
          </a:xfrm>
          <a:prstGeom prst="rect">
            <a:avLst/>
          </a:prstGeom>
          <a:noFill/>
          <a:ln/>
        </p:spPr>
        <p:txBody>
          <a:bodyPr wrap="square" lIns="0" tIns="0" rIns="0" bIns="0" rtlCol="0" anchor="t">
            <a:normAutofit fontScale="92500" lnSpcReduction="20000"/>
          </a:bodyPr>
          <a:lstStyle/>
          <a:p>
            <a:pPr marL="0" indent="0" algn="l">
              <a:lnSpc>
                <a:spcPct val="100000"/>
              </a:lnSpc>
              <a:spcAft>
                <a:spcPts val="0"/>
              </a:spcAft>
              <a:buNone/>
            </a:pPr>
            <a:r>
              <a:rPr lang="en-US" sz="4350" dirty="0">
                <a:solidFill>
                  <a:srgbClr val="B79BA6"/>
                </a:solidFill>
                <a:latin typeface="Baskervville" pitchFamily="34" charset="0"/>
                <a:ea typeface="Baskervville" pitchFamily="34" charset="-122"/>
                <a:cs typeface="Baskervville" pitchFamily="34" charset="-120"/>
              </a:rPr>
              <a:t>“</a:t>
            </a:r>
            <a:endParaRPr lang="en-US" sz="4350" dirty="0"/>
          </a:p>
        </p:txBody>
      </p:sp>
      <p:sp>
        <p:nvSpPr>
          <p:cNvPr id="14" name="Comment"/>
          <p:cNvSpPr txBox="1"/>
          <p:nvPr/>
        </p:nvSpPr>
        <p:spPr>
          <a:xfrm>
            <a:off x="1240927" y="5030000"/>
            <a:ext cx="4500000" cy="78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Running emotion monitoring in the background and validating the emotion states with a clinical psychologist addressed the panel’s concerns well.</a:t>
            </a:r>
            <a:endParaRPr lang="en-US" sz="1200" dirty="0"/>
          </a:p>
        </p:txBody>
      </p:sp>
      <p:sp>
        <p:nvSpPr>
          <p:cNvPr id="15" name="Commenter"/>
          <p:cNvSpPr txBox="1"/>
          <p:nvPr/>
        </p:nvSpPr>
        <p:spPr>
          <a:xfrm>
            <a:off x="1240927" y="5840000"/>
            <a:ext cx="4500000" cy="230000"/>
          </a:xfrm>
          <a:prstGeom prst="rect">
            <a:avLst/>
          </a:prstGeom>
          <a:noFill/>
          <a:ln/>
        </p:spPr>
        <p:txBody>
          <a:bodyPr wrap="square" lIns="0" tIns="0" rIns="0" bIns="0" rtlCol="0" anchor="t">
            <a:normAutofit/>
          </a:bodyPr>
          <a:lstStyle/>
          <a:p>
            <a:pPr marL="0" indent="0" algn="l">
              <a:lnSpc>
                <a:spcPct val="120000"/>
              </a:lnSpc>
              <a:spcAft>
                <a:spcPts val="0"/>
              </a:spcAft>
              <a:buNone/>
            </a:pPr>
            <a:r>
              <a:rPr lang="en-US" sz="1050" i="1" dirty="0">
                <a:solidFill>
                  <a:srgbClr val="6E6666"/>
                </a:solidFill>
                <a:latin typeface="Poppins" pitchFamily="34" charset="0"/>
                <a:ea typeface="Poppins" pitchFamily="34" charset="-122"/>
                <a:cs typeface="Poppins" pitchFamily="34" charset="-120"/>
              </a:rPr>
              <a:t>— Co-supervisor</a:t>
            </a:r>
            <a:endParaRPr lang="en-US" sz="1050" dirty="0"/>
          </a:p>
        </p:txBody>
      </p:sp>
      <p:sp>
        <p:nvSpPr>
          <p:cNvPr id="16" name="Right heading"/>
          <p:cNvSpPr txBox="1"/>
          <p:nvPr/>
        </p:nvSpPr>
        <p:spPr>
          <a:xfrm>
            <a:off x="6250768" y="1560000"/>
            <a:ext cx="5400000" cy="347067"/>
          </a:xfrm>
          <a:prstGeom prst="rect">
            <a:avLst/>
          </a:prstGeom>
          <a:noFill/>
          <a:ln/>
        </p:spPr>
        <p:txBody>
          <a:bodyPr wrap="square" lIns="0" tIns="0" rIns="0" bIns="0" rtlCol="0" anchor="t">
            <a:normAutofit/>
          </a:bodyPr>
          <a:lstStyle/>
          <a:p>
            <a:pPr marL="0" indent="0" algn="l">
              <a:lnSpc>
                <a:spcPct val="104000"/>
              </a:lnSpc>
              <a:spcAft>
                <a:spcPts val="0"/>
              </a:spcAft>
              <a:buNone/>
            </a:pPr>
            <a:r>
              <a:rPr lang="en-US" sz="2150" dirty="0">
                <a:solidFill>
                  <a:srgbClr val="000000"/>
                </a:solidFill>
                <a:latin typeface="Baskervville" pitchFamily="34" charset="0"/>
                <a:ea typeface="Baskervville" pitchFamily="34" charset="-122"/>
                <a:cs typeface="Baskervville" pitchFamily="34" charset="-120"/>
              </a:rPr>
              <a:t>Student feedback</a:t>
            </a:r>
            <a:endParaRPr lang="en-US" sz="2150" dirty="0"/>
          </a:p>
        </p:txBody>
      </p:sp>
      <p:cxnSp>
        <p:nvCxnSpPr>
          <p:cNvPr id="17" name="Feedback line"/>
          <p:cNvCxnSpPr/>
          <p:nvPr/>
        </p:nvCxnSpPr>
        <p:spPr>
          <a:xfrm>
            <a:off x="6250768" y="2060000"/>
            <a:ext cx="5400000" cy="0"/>
          </a:xfrm>
          <a:prstGeom prst="line">
            <a:avLst/>
          </a:prstGeom>
          <a:ln w="12700">
            <a:solidFill>
              <a:srgbClr val="B79BA6"/>
            </a:solidFill>
          </a:ln>
        </p:spPr>
      </p:cxnSp>
      <p:sp>
        <p:nvSpPr>
          <p:cNvPr id="18" name="Feedback"/>
          <p:cNvSpPr txBox="1"/>
          <p:nvPr/>
        </p:nvSpPr>
        <p:spPr>
          <a:xfrm>
            <a:off x="6250768" y="2170000"/>
            <a:ext cx="5400000" cy="42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The summaries kept what I needed for exams and saved me hours.</a:t>
            </a:r>
            <a:endParaRPr lang="en-US" sz="1200" dirty="0"/>
          </a:p>
        </p:txBody>
      </p:sp>
      <p:sp>
        <p:nvSpPr>
          <p:cNvPr id="19" name="Student"/>
          <p:cNvSpPr txBox="1"/>
          <p:nvPr/>
        </p:nvSpPr>
        <p:spPr>
          <a:xfrm>
            <a:off x="6250768" y="2620000"/>
            <a:ext cx="5400000" cy="230000"/>
          </a:xfrm>
          <a:prstGeom prst="rect">
            <a:avLst/>
          </a:prstGeom>
          <a:noFill/>
          <a:ln/>
        </p:spPr>
        <p:txBody>
          <a:bodyPr wrap="square" lIns="0" tIns="0" rIns="0" bIns="0" rtlCol="0" anchor="t">
            <a:normAutofit/>
          </a:bodyPr>
          <a:lstStyle/>
          <a:p>
            <a:pPr marL="0" indent="0" algn="l">
              <a:lnSpc>
                <a:spcPct val="120000"/>
              </a:lnSpc>
              <a:spcAft>
                <a:spcPts val="0"/>
              </a:spcAft>
              <a:buNone/>
            </a:pPr>
            <a:r>
              <a:rPr lang="en-US" sz="1050" i="1" dirty="0">
                <a:solidFill>
                  <a:srgbClr val="6E6666"/>
                </a:solidFill>
                <a:latin typeface="Poppins" pitchFamily="34" charset="0"/>
                <a:ea typeface="Poppins" pitchFamily="34" charset="-122"/>
                <a:cs typeface="Poppins" pitchFamily="34" charset="-120"/>
              </a:rPr>
              <a:t>— SLIIT student</a:t>
            </a:r>
            <a:endParaRPr lang="en-US" sz="1050" dirty="0"/>
          </a:p>
        </p:txBody>
      </p:sp>
      <p:cxnSp>
        <p:nvCxnSpPr>
          <p:cNvPr id="20" name="Feedback line"/>
          <p:cNvCxnSpPr/>
          <p:nvPr/>
        </p:nvCxnSpPr>
        <p:spPr>
          <a:xfrm>
            <a:off x="6250768" y="2910000"/>
            <a:ext cx="5400000" cy="0"/>
          </a:xfrm>
          <a:prstGeom prst="line">
            <a:avLst/>
          </a:prstGeom>
          <a:ln w="12700">
            <a:solidFill>
              <a:srgbClr val="B79BA6"/>
            </a:solidFill>
          </a:ln>
        </p:spPr>
      </p:cxnSp>
      <p:sp>
        <p:nvSpPr>
          <p:cNvPr id="21" name="Feedback"/>
          <p:cNvSpPr txBox="1"/>
          <p:nvPr/>
        </p:nvSpPr>
        <p:spPr>
          <a:xfrm>
            <a:off x="6250768" y="3020000"/>
            <a:ext cx="5400000" cy="42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The flashcards were clear, and the tutor told me when it was not sure.</a:t>
            </a:r>
            <a:endParaRPr lang="en-US" sz="1200" dirty="0"/>
          </a:p>
        </p:txBody>
      </p:sp>
      <p:sp>
        <p:nvSpPr>
          <p:cNvPr id="22" name="Student"/>
          <p:cNvSpPr txBox="1"/>
          <p:nvPr/>
        </p:nvSpPr>
        <p:spPr>
          <a:xfrm>
            <a:off x="6250768" y="3470000"/>
            <a:ext cx="5400000" cy="230000"/>
          </a:xfrm>
          <a:prstGeom prst="rect">
            <a:avLst/>
          </a:prstGeom>
          <a:noFill/>
          <a:ln/>
        </p:spPr>
        <p:txBody>
          <a:bodyPr wrap="square" lIns="0" tIns="0" rIns="0" bIns="0" rtlCol="0" anchor="t">
            <a:normAutofit/>
          </a:bodyPr>
          <a:lstStyle/>
          <a:p>
            <a:pPr marL="0" indent="0" algn="l">
              <a:lnSpc>
                <a:spcPct val="120000"/>
              </a:lnSpc>
              <a:spcAft>
                <a:spcPts val="0"/>
              </a:spcAft>
              <a:buNone/>
            </a:pPr>
            <a:r>
              <a:rPr lang="en-US" sz="1050" i="1" dirty="0">
                <a:solidFill>
                  <a:srgbClr val="6E6666"/>
                </a:solidFill>
                <a:latin typeface="Poppins" pitchFamily="34" charset="0"/>
                <a:ea typeface="Poppins" pitchFamily="34" charset="-122"/>
                <a:cs typeface="Poppins" pitchFamily="34" charset="-120"/>
              </a:rPr>
              <a:t>— SLIIT student</a:t>
            </a:r>
            <a:endParaRPr lang="en-US" sz="1050" dirty="0"/>
          </a:p>
        </p:txBody>
      </p:sp>
      <p:cxnSp>
        <p:nvCxnSpPr>
          <p:cNvPr id="23" name="Feedback line"/>
          <p:cNvCxnSpPr/>
          <p:nvPr/>
        </p:nvCxnSpPr>
        <p:spPr>
          <a:xfrm>
            <a:off x="6250768" y="3760000"/>
            <a:ext cx="5400000" cy="0"/>
          </a:xfrm>
          <a:prstGeom prst="line">
            <a:avLst/>
          </a:prstGeom>
          <a:ln w="12700">
            <a:solidFill>
              <a:srgbClr val="B79BA6"/>
            </a:solidFill>
          </a:ln>
        </p:spPr>
      </p:cxnSp>
      <p:sp>
        <p:nvSpPr>
          <p:cNvPr id="24" name="Feedback"/>
          <p:cNvSpPr txBox="1"/>
          <p:nvPr/>
        </p:nvSpPr>
        <p:spPr>
          <a:xfrm>
            <a:off x="6250768" y="3870000"/>
            <a:ext cx="5400000" cy="42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Break reminders came at the right time, when I was getting tired.</a:t>
            </a:r>
            <a:endParaRPr lang="en-US" sz="1200" dirty="0"/>
          </a:p>
        </p:txBody>
      </p:sp>
      <p:sp>
        <p:nvSpPr>
          <p:cNvPr id="25" name="Student"/>
          <p:cNvSpPr txBox="1"/>
          <p:nvPr/>
        </p:nvSpPr>
        <p:spPr>
          <a:xfrm>
            <a:off x="6250768" y="4320000"/>
            <a:ext cx="5400000" cy="230000"/>
          </a:xfrm>
          <a:prstGeom prst="rect">
            <a:avLst/>
          </a:prstGeom>
          <a:noFill/>
          <a:ln/>
        </p:spPr>
        <p:txBody>
          <a:bodyPr wrap="square" lIns="0" tIns="0" rIns="0" bIns="0" rtlCol="0" anchor="t">
            <a:normAutofit/>
          </a:bodyPr>
          <a:lstStyle/>
          <a:p>
            <a:pPr marL="0" indent="0" algn="l">
              <a:lnSpc>
                <a:spcPct val="120000"/>
              </a:lnSpc>
              <a:spcAft>
                <a:spcPts val="0"/>
              </a:spcAft>
              <a:buNone/>
            </a:pPr>
            <a:r>
              <a:rPr lang="en-US" sz="1050" i="1" dirty="0">
                <a:solidFill>
                  <a:srgbClr val="6E6666"/>
                </a:solidFill>
                <a:latin typeface="Poppins" pitchFamily="34" charset="0"/>
                <a:ea typeface="Poppins" pitchFamily="34" charset="-122"/>
                <a:cs typeface="Poppins" pitchFamily="34" charset="-120"/>
              </a:rPr>
              <a:t>— SLIIT student</a:t>
            </a:r>
            <a:endParaRPr lang="en-US" sz="1050" dirty="0"/>
          </a:p>
        </p:txBody>
      </p:sp>
      <p:cxnSp>
        <p:nvCxnSpPr>
          <p:cNvPr id="26" name="Feedback line"/>
          <p:cNvCxnSpPr/>
          <p:nvPr/>
        </p:nvCxnSpPr>
        <p:spPr>
          <a:xfrm>
            <a:off x="6250768" y="4610000"/>
            <a:ext cx="5400000" cy="0"/>
          </a:xfrm>
          <a:prstGeom prst="line">
            <a:avLst/>
          </a:prstGeom>
          <a:ln w="12700">
            <a:solidFill>
              <a:srgbClr val="B79BA6"/>
            </a:solidFill>
          </a:ln>
        </p:spPr>
      </p:cxnSp>
      <p:sp>
        <p:nvSpPr>
          <p:cNvPr id="27" name="Feedback"/>
          <p:cNvSpPr txBox="1"/>
          <p:nvPr/>
        </p:nvSpPr>
        <p:spPr>
          <a:xfrm>
            <a:off x="6250768" y="4720000"/>
            <a:ext cx="5400000" cy="42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The camera runs quietly in the background and nothing is saved.</a:t>
            </a:r>
            <a:endParaRPr lang="en-US" sz="1200" dirty="0"/>
          </a:p>
        </p:txBody>
      </p:sp>
      <p:sp>
        <p:nvSpPr>
          <p:cNvPr id="28" name="Student"/>
          <p:cNvSpPr txBox="1"/>
          <p:nvPr/>
        </p:nvSpPr>
        <p:spPr>
          <a:xfrm>
            <a:off x="6250768" y="5170000"/>
            <a:ext cx="5400000" cy="230000"/>
          </a:xfrm>
          <a:prstGeom prst="rect">
            <a:avLst/>
          </a:prstGeom>
          <a:noFill/>
          <a:ln/>
        </p:spPr>
        <p:txBody>
          <a:bodyPr wrap="square" lIns="0" tIns="0" rIns="0" bIns="0" rtlCol="0" anchor="t">
            <a:normAutofit/>
          </a:bodyPr>
          <a:lstStyle/>
          <a:p>
            <a:pPr marL="0" indent="0" algn="l">
              <a:lnSpc>
                <a:spcPct val="120000"/>
              </a:lnSpc>
              <a:spcAft>
                <a:spcPts val="0"/>
              </a:spcAft>
              <a:buNone/>
            </a:pPr>
            <a:r>
              <a:rPr lang="en-US" sz="1050" i="1" dirty="0">
                <a:solidFill>
                  <a:srgbClr val="6E6666"/>
                </a:solidFill>
                <a:latin typeface="Poppins" pitchFamily="34" charset="0"/>
                <a:ea typeface="Poppins" pitchFamily="34" charset="-122"/>
                <a:cs typeface="Poppins" pitchFamily="34" charset="-120"/>
              </a:rPr>
              <a:t>— SLIIT student</a:t>
            </a:r>
            <a:endParaRPr lang="en-US" sz="1050" dirty="0"/>
          </a:p>
        </p:txBody>
      </p:sp>
      <p:cxnSp>
        <p:nvCxnSpPr>
          <p:cNvPr id="29" name="Feedback line"/>
          <p:cNvCxnSpPr/>
          <p:nvPr/>
        </p:nvCxnSpPr>
        <p:spPr>
          <a:xfrm>
            <a:off x="6250768" y="5460000"/>
            <a:ext cx="5400000" cy="0"/>
          </a:xfrm>
          <a:prstGeom prst="line">
            <a:avLst/>
          </a:prstGeom>
          <a:ln w="12700">
            <a:solidFill>
              <a:srgbClr val="B79BA6"/>
            </a:solidFill>
          </a:ln>
        </p:spPr>
      </p:cxnSp>
      <p:sp>
        <p:nvSpPr>
          <p:cNvPr id="30" name="Feedback"/>
          <p:cNvSpPr txBox="1"/>
          <p:nvPr/>
        </p:nvSpPr>
        <p:spPr>
          <a:xfrm>
            <a:off x="6250768" y="5570000"/>
            <a:ext cx="5400000" cy="42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Easy to use — it felt like one tool, not four separate apps.</a:t>
            </a:r>
            <a:endParaRPr lang="en-US" sz="1200" dirty="0"/>
          </a:p>
        </p:txBody>
      </p:sp>
      <p:sp>
        <p:nvSpPr>
          <p:cNvPr id="31" name="Student"/>
          <p:cNvSpPr txBox="1"/>
          <p:nvPr/>
        </p:nvSpPr>
        <p:spPr>
          <a:xfrm>
            <a:off x="6250768" y="6020000"/>
            <a:ext cx="5400000" cy="230000"/>
          </a:xfrm>
          <a:prstGeom prst="rect">
            <a:avLst/>
          </a:prstGeom>
          <a:noFill/>
          <a:ln/>
        </p:spPr>
        <p:txBody>
          <a:bodyPr wrap="square" lIns="0" tIns="0" rIns="0" bIns="0" rtlCol="0" anchor="t">
            <a:normAutofit/>
          </a:bodyPr>
          <a:lstStyle/>
          <a:p>
            <a:pPr marL="0" indent="0" algn="l">
              <a:lnSpc>
                <a:spcPct val="120000"/>
              </a:lnSpc>
              <a:spcAft>
                <a:spcPts val="0"/>
              </a:spcAft>
              <a:buNone/>
            </a:pPr>
            <a:r>
              <a:rPr lang="en-US" sz="1050" i="1" dirty="0">
                <a:solidFill>
                  <a:srgbClr val="6E6666"/>
                </a:solidFill>
                <a:latin typeface="Poppins" pitchFamily="34" charset="0"/>
                <a:ea typeface="Poppins" pitchFamily="34" charset="-122"/>
                <a:cs typeface="Poppins" pitchFamily="34" charset="-120"/>
              </a:rPr>
              <a:t>— SLIIT student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0927" y="478532"/>
            <a:ext cx="11109841" cy="694333"/>
          </a:xfrm>
          <a:prstGeom prst="rect">
            <a:avLst/>
          </a:prstGeom>
          <a:noFill/>
          <a:ln/>
        </p:spPr>
        <p:txBody>
          <a:bodyPr wrap="square" lIns="0" tIns="0" rIns="0" bIns="0" rtlCol="0" anchor="t">
            <a:normAutofit/>
          </a:bodyPr>
          <a:lstStyle/>
          <a:p>
            <a:pPr marL="0" indent="0" algn="l">
              <a:lnSpc>
                <a:spcPct val="104000"/>
              </a:lnSpc>
              <a:spcAft>
                <a:spcPts val="0"/>
              </a:spcAft>
              <a:buNone/>
            </a:pPr>
            <a:r>
              <a:rPr lang="en-US" sz="4350" dirty="0">
                <a:solidFill>
                  <a:srgbClr val="787878"/>
                </a:solidFill>
                <a:latin typeface="Baskervville" pitchFamily="34" charset="0"/>
                <a:ea typeface="Baskervville" pitchFamily="34" charset="-122"/>
                <a:cs typeface="Baskervville" pitchFamily="34" charset="-120"/>
              </a:rPr>
              <a:t>How We Used AI in AuraLearn</a:t>
            </a:r>
            <a:endParaRPr lang="en-US" sz="4350" dirty="0"/>
          </a:p>
        </p:txBody>
      </p:sp>
      <p:sp>
        <p:nvSpPr>
          <p:cNvPr id="3" name="Intro"/>
          <p:cNvSpPr txBox="1"/>
          <p:nvPr/>
        </p:nvSpPr>
        <p:spPr>
          <a:xfrm>
            <a:off x="540927" y="1330000"/>
            <a:ext cx="11109841" cy="30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AI supported the team across the whole project, from code to documents.</a:t>
            </a:r>
            <a:endParaRPr lang="en-US" sz="1200" dirty="0"/>
          </a:p>
        </p:txBody>
      </p:sp>
      <p:sp>
        <p:nvSpPr>
          <p:cNvPr id="4" name="AI use card"/>
          <p:cNvSpPr/>
          <p:nvPr/>
        </p:nvSpPr>
        <p:spPr>
          <a:xfrm>
            <a:off x="540927" y="1800000"/>
            <a:ext cx="3590000" cy="1700000"/>
          </a:xfrm>
          <a:prstGeom prst="roundRect">
            <a:avLst>
              <a:gd name="adj" fmla="val 8000"/>
            </a:avLst>
          </a:prstGeom>
          <a:solidFill>
            <a:srgbClr val="ECDFE3"/>
          </a:solidFill>
          <a:ln>
            <a:noFill/>
          </a:ln>
        </p:spPr>
        <p:txBody>
          <a:bodyPr/>
          <a:lstStyle/>
          <a:p>
            <a:endParaRPr lang="en-US"/>
          </a:p>
        </p:txBody>
      </p:sp>
      <p:sp>
        <p:nvSpPr>
          <p:cNvPr id="5" name="Number"/>
          <p:cNvSpPr/>
          <p:nvPr/>
        </p:nvSpPr>
        <p:spPr>
          <a:xfrm>
            <a:off x="710927" y="1970000"/>
            <a:ext cx="380000" cy="380000"/>
          </a:xfrm>
          <a:prstGeom prst="ellipse">
            <a:avLst/>
          </a:prstGeom>
          <a:solidFill>
            <a:srgbClr val="B79BA6"/>
          </a:solidFill>
          <a:ln>
            <a:noFill/>
          </a:ln>
        </p:spPr>
        <p:txBody>
          <a:bodyPr/>
          <a:lstStyle/>
          <a:p>
            <a:endParaRPr lang="en-US"/>
          </a:p>
        </p:txBody>
      </p:sp>
      <p:sp>
        <p:nvSpPr>
          <p:cNvPr id="6" name="Number label"/>
          <p:cNvSpPr txBox="1"/>
          <p:nvPr/>
        </p:nvSpPr>
        <p:spPr>
          <a:xfrm>
            <a:off x="710927" y="1970000"/>
            <a:ext cx="380000" cy="380000"/>
          </a:xfrm>
          <a:prstGeom prst="rect">
            <a:avLst/>
          </a:prstGeom>
          <a:noFill/>
          <a:ln/>
        </p:spPr>
        <p:txBody>
          <a:bodyPr wrap="square" lIns="0" tIns="0" rIns="0" bIns="0" rtlCol="0" anchor="ctr">
            <a:normAutofit/>
          </a:bodyPr>
          <a:lstStyle/>
          <a:p>
            <a:pPr marL="0" indent="0" algn="ctr">
              <a:lnSpc>
                <a:spcPct val="100000"/>
              </a:lnSpc>
              <a:spcAft>
                <a:spcPts val="0"/>
              </a:spcAft>
              <a:buNone/>
            </a:pPr>
            <a:r>
              <a:rPr lang="en-US" sz="1200" dirty="0">
                <a:solidFill>
                  <a:srgbClr val="FFFFFF"/>
                </a:solidFill>
                <a:latin typeface="Poppins Bold" pitchFamily="34" charset="0"/>
                <a:ea typeface="Poppins Bold" pitchFamily="34" charset="-122"/>
                <a:cs typeface="Poppins Bold" pitchFamily="34" charset="-120"/>
              </a:rPr>
              <a:t>1</a:t>
            </a:r>
            <a:endParaRPr lang="en-US" sz="1200" dirty="0"/>
          </a:p>
        </p:txBody>
      </p:sp>
      <p:sp>
        <p:nvSpPr>
          <p:cNvPr id="7" name="Card heading"/>
          <p:cNvSpPr txBox="1"/>
          <p:nvPr/>
        </p:nvSpPr>
        <p:spPr>
          <a:xfrm>
            <a:off x="1240927" y="1990000"/>
            <a:ext cx="2720000" cy="347067"/>
          </a:xfrm>
          <a:prstGeom prst="rect">
            <a:avLst/>
          </a:prstGeom>
          <a:noFill/>
          <a:ln/>
        </p:spPr>
        <p:txBody>
          <a:bodyPr wrap="square" lIns="0" tIns="0" rIns="0" bIns="0" rtlCol="0" anchor="ctr">
            <a:normAutofit/>
          </a:bodyPr>
          <a:lstStyle/>
          <a:p>
            <a:pPr marL="0" indent="0" algn="l">
              <a:lnSpc>
                <a:spcPct val="104000"/>
              </a:lnSpc>
              <a:spcAft>
                <a:spcPts val="0"/>
              </a:spcAft>
              <a:buNone/>
            </a:pPr>
            <a:r>
              <a:rPr lang="en-US" sz="1950" dirty="0">
                <a:solidFill>
                  <a:srgbClr val="000000"/>
                </a:solidFill>
                <a:latin typeface="Baskervville" pitchFamily="34" charset="0"/>
                <a:ea typeface="Baskervville" pitchFamily="34" charset="-122"/>
                <a:cs typeface="Baskervville" pitchFamily="34" charset="-120"/>
              </a:rPr>
              <a:t>Efficient code</a:t>
            </a:r>
            <a:endParaRPr lang="en-US" sz="1950" dirty="0"/>
          </a:p>
        </p:txBody>
      </p:sp>
      <p:sp>
        <p:nvSpPr>
          <p:cNvPr id="8" name="Card body"/>
          <p:cNvSpPr txBox="1"/>
          <p:nvPr/>
        </p:nvSpPr>
        <p:spPr>
          <a:xfrm>
            <a:off x="710927" y="2520000"/>
            <a:ext cx="3250000" cy="85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Helped refactor, debug and optimise code, including for low-spec laptops.</a:t>
            </a:r>
            <a:endParaRPr lang="en-US" sz="1200" dirty="0"/>
          </a:p>
        </p:txBody>
      </p:sp>
      <p:sp>
        <p:nvSpPr>
          <p:cNvPr id="9" name="AI use card"/>
          <p:cNvSpPr/>
          <p:nvPr/>
        </p:nvSpPr>
        <p:spPr>
          <a:xfrm>
            <a:off x="4300927" y="1800000"/>
            <a:ext cx="3590000" cy="1700000"/>
          </a:xfrm>
          <a:prstGeom prst="roundRect">
            <a:avLst>
              <a:gd name="adj" fmla="val 8000"/>
            </a:avLst>
          </a:prstGeom>
          <a:solidFill>
            <a:srgbClr val="ECDFE3"/>
          </a:solidFill>
          <a:ln>
            <a:noFill/>
          </a:ln>
        </p:spPr>
        <p:txBody>
          <a:bodyPr/>
          <a:lstStyle/>
          <a:p>
            <a:endParaRPr lang="en-US"/>
          </a:p>
        </p:txBody>
      </p:sp>
      <p:sp>
        <p:nvSpPr>
          <p:cNvPr id="10" name="Number"/>
          <p:cNvSpPr/>
          <p:nvPr/>
        </p:nvSpPr>
        <p:spPr>
          <a:xfrm>
            <a:off x="4470927" y="1970000"/>
            <a:ext cx="380000" cy="380000"/>
          </a:xfrm>
          <a:prstGeom prst="ellipse">
            <a:avLst/>
          </a:prstGeom>
          <a:solidFill>
            <a:srgbClr val="B79BA6"/>
          </a:solidFill>
          <a:ln>
            <a:noFill/>
          </a:ln>
        </p:spPr>
        <p:txBody>
          <a:bodyPr/>
          <a:lstStyle/>
          <a:p>
            <a:endParaRPr lang="en-US"/>
          </a:p>
        </p:txBody>
      </p:sp>
      <p:sp>
        <p:nvSpPr>
          <p:cNvPr id="11" name="Number label"/>
          <p:cNvSpPr txBox="1"/>
          <p:nvPr/>
        </p:nvSpPr>
        <p:spPr>
          <a:xfrm>
            <a:off x="4470927" y="1970000"/>
            <a:ext cx="380000" cy="380000"/>
          </a:xfrm>
          <a:prstGeom prst="rect">
            <a:avLst/>
          </a:prstGeom>
          <a:noFill/>
          <a:ln/>
        </p:spPr>
        <p:txBody>
          <a:bodyPr wrap="square" lIns="0" tIns="0" rIns="0" bIns="0" rtlCol="0" anchor="ctr">
            <a:normAutofit/>
          </a:bodyPr>
          <a:lstStyle/>
          <a:p>
            <a:pPr marL="0" indent="0" algn="ctr">
              <a:lnSpc>
                <a:spcPct val="100000"/>
              </a:lnSpc>
              <a:spcAft>
                <a:spcPts val="0"/>
              </a:spcAft>
              <a:buNone/>
            </a:pPr>
            <a:r>
              <a:rPr lang="en-US" sz="1200" dirty="0">
                <a:solidFill>
                  <a:srgbClr val="FFFFFF"/>
                </a:solidFill>
                <a:latin typeface="Poppins Bold" pitchFamily="34" charset="0"/>
                <a:ea typeface="Poppins Bold" pitchFamily="34" charset="-122"/>
                <a:cs typeface="Poppins Bold" pitchFamily="34" charset="-120"/>
              </a:rPr>
              <a:t>2</a:t>
            </a:r>
            <a:endParaRPr lang="en-US" sz="1200" dirty="0"/>
          </a:p>
        </p:txBody>
      </p:sp>
      <p:sp>
        <p:nvSpPr>
          <p:cNvPr id="12" name="Card heading"/>
          <p:cNvSpPr txBox="1"/>
          <p:nvPr/>
        </p:nvSpPr>
        <p:spPr>
          <a:xfrm>
            <a:off x="5000927" y="1990000"/>
            <a:ext cx="2720000" cy="347067"/>
          </a:xfrm>
          <a:prstGeom prst="rect">
            <a:avLst/>
          </a:prstGeom>
          <a:noFill/>
          <a:ln/>
        </p:spPr>
        <p:txBody>
          <a:bodyPr wrap="square" lIns="0" tIns="0" rIns="0" bIns="0" rtlCol="0" anchor="ctr">
            <a:normAutofit/>
          </a:bodyPr>
          <a:lstStyle/>
          <a:p>
            <a:pPr marL="0" indent="0" algn="l">
              <a:lnSpc>
                <a:spcPct val="104000"/>
              </a:lnSpc>
              <a:spcAft>
                <a:spcPts val="0"/>
              </a:spcAft>
              <a:buNone/>
            </a:pPr>
            <a:r>
              <a:rPr lang="en-US" sz="1950" dirty="0">
                <a:solidFill>
                  <a:srgbClr val="000000"/>
                </a:solidFill>
                <a:latin typeface="Baskervville" pitchFamily="34" charset="0"/>
                <a:ea typeface="Baskervville" pitchFamily="34" charset="-122"/>
                <a:cs typeface="Baskervville" pitchFamily="34" charset="-120"/>
              </a:rPr>
              <a:t>Time and resources</a:t>
            </a:r>
            <a:endParaRPr lang="en-US" sz="1950" dirty="0"/>
          </a:p>
        </p:txBody>
      </p:sp>
      <p:sp>
        <p:nvSpPr>
          <p:cNvPr id="13" name="Card body"/>
          <p:cNvSpPr txBox="1"/>
          <p:nvPr/>
        </p:nvSpPr>
        <p:spPr>
          <a:xfrm>
            <a:off x="4470927" y="2520000"/>
            <a:ext cx="3250000" cy="85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Faster prototyping and less boilerplate, saving effort and compute.</a:t>
            </a:r>
            <a:endParaRPr lang="en-US" sz="1200" dirty="0"/>
          </a:p>
        </p:txBody>
      </p:sp>
      <p:sp>
        <p:nvSpPr>
          <p:cNvPr id="14" name="AI use card"/>
          <p:cNvSpPr/>
          <p:nvPr/>
        </p:nvSpPr>
        <p:spPr>
          <a:xfrm>
            <a:off x="8060927" y="1800000"/>
            <a:ext cx="3590000" cy="1700000"/>
          </a:xfrm>
          <a:prstGeom prst="roundRect">
            <a:avLst>
              <a:gd name="adj" fmla="val 8000"/>
            </a:avLst>
          </a:prstGeom>
          <a:solidFill>
            <a:srgbClr val="ECDFE3"/>
          </a:solidFill>
          <a:ln>
            <a:noFill/>
          </a:ln>
        </p:spPr>
        <p:txBody>
          <a:bodyPr/>
          <a:lstStyle/>
          <a:p>
            <a:endParaRPr lang="en-US"/>
          </a:p>
        </p:txBody>
      </p:sp>
      <p:sp>
        <p:nvSpPr>
          <p:cNvPr id="15" name="Number"/>
          <p:cNvSpPr/>
          <p:nvPr/>
        </p:nvSpPr>
        <p:spPr>
          <a:xfrm>
            <a:off x="8230927" y="1970000"/>
            <a:ext cx="380000" cy="380000"/>
          </a:xfrm>
          <a:prstGeom prst="ellipse">
            <a:avLst/>
          </a:prstGeom>
          <a:solidFill>
            <a:srgbClr val="B79BA6"/>
          </a:solidFill>
          <a:ln>
            <a:noFill/>
          </a:ln>
        </p:spPr>
        <p:txBody>
          <a:bodyPr/>
          <a:lstStyle/>
          <a:p>
            <a:endParaRPr lang="en-US"/>
          </a:p>
        </p:txBody>
      </p:sp>
      <p:sp>
        <p:nvSpPr>
          <p:cNvPr id="16" name="Number label"/>
          <p:cNvSpPr txBox="1"/>
          <p:nvPr/>
        </p:nvSpPr>
        <p:spPr>
          <a:xfrm>
            <a:off x="8230927" y="1970000"/>
            <a:ext cx="380000" cy="380000"/>
          </a:xfrm>
          <a:prstGeom prst="rect">
            <a:avLst/>
          </a:prstGeom>
          <a:noFill/>
          <a:ln/>
        </p:spPr>
        <p:txBody>
          <a:bodyPr wrap="square" lIns="0" tIns="0" rIns="0" bIns="0" rtlCol="0" anchor="ctr">
            <a:normAutofit/>
          </a:bodyPr>
          <a:lstStyle/>
          <a:p>
            <a:pPr marL="0" indent="0" algn="ctr">
              <a:lnSpc>
                <a:spcPct val="100000"/>
              </a:lnSpc>
              <a:spcAft>
                <a:spcPts val="0"/>
              </a:spcAft>
              <a:buNone/>
            </a:pPr>
            <a:r>
              <a:rPr lang="en-US" sz="1200" dirty="0">
                <a:solidFill>
                  <a:srgbClr val="FFFFFF"/>
                </a:solidFill>
                <a:latin typeface="Poppins Bold" pitchFamily="34" charset="0"/>
                <a:ea typeface="Poppins Bold" pitchFamily="34" charset="-122"/>
                <a:cs typeface="Poppins Bold" pitchFamily="34" charset="-120"/>
              </a:rPr>
              <a:t>3</a:t>
            </a:r>
            <a:endParaRPr lang="en-US" sz="1200" dirty="0"/>
          </a:p>
        </p:txBody>
      </p:sp>
      <p:sp>
        <p:nvSpPr>
          <p:cNvPr id="17" name="Card heading"/>
          <p:cNvSpPr txBox="1"/>
          <p:nvPr/>
        </p:nvSpPr>
        <p:spPr>
          <a:xfrm>
            <a:off x="8760927" y="1990000"/>
            <a:ext cx="2720000" cy="347067"/>
          </a:xfrm>
          <a:prstGeom prst="rect">
            <a:avLst/>
          </a:prstGeom>
          <a:noFill/>
          <a:ln/>
        </p:spPr>
        <p:txBody>
          <a:bodyPr wrap="square" lIns="0" tIns="0" rIns="0" bIns="0" rtlCol="0" anchor="ctr">
            <a:normAutofit fontScale="92500"/>
          </a:bodyPr>
          <a:lstStyle/>
          <a:p>
            <a:pPr marL="0" indent="0" algn="l">
              <a:lnSpc>
                <a:spcPct val="104000"/>
              </a:lnSpc>
              <a:spcAft>
                <a:spcPts val="0"/>
              </a:spcAft>
              <a:buNone/>
            </a:pPr>
            <a:r>
              <a:rPr lang="en-US" sz="1950" dirty="0">
                <a:solidFill>
                  <a:srgbClr val="000000"/>
                </a:solidFill>
                <a:latin typeface="Baskervville" pitchFamily="34" charset="0"/>
                <a:ea typeface="Baskervville" pitchFamily="34" charset="-122"/>
                <a:cs typeface="Baskervville" pitchFamily="34" charset="-120"/>
              </a:rPr>
              <a:t>Higher-quality documents</a:t>
            </a:r>
            <a:endParaRPr lang="en-US" sz="1950" dirty="0"/>
          </a:p>
        </p:txBody>
      </p:sp>
      <p:sp>
        <p:nvSpPr>
          <p:cNvPr id="18" name="Card body"/>
          <p:cNvSpPr txBox="1"/>
          <p:nvPr/>
        </p:nvSpPr>
        <p:spPr>
          <a:xfrm>
            <a:off x="8230927" y="2520000"/>
            <a:ext cx="3250000" cy="85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Helped draft, structure and proofread reports and proposals.</a:t>
            </a:r>
            <a:endParaRPr lang="en-US" sz="1200" dirty="0"/>
          </a:p>
        </p:txBody>
      </p:sp>
      <p:sp>
        <p:nvSpPr>
          <p:cNvPr id="19" name="AI use card"/>
          <p:cNvSpPr/>
          <p:nvPr/>
        </p:nvSpPr>
        <p:spPr>
          <a:xfrm>
            <a:off x="540927" y="3650000"/>
            <a:ext cx="3590000" cy="1700000"/>
          </a:xfrm>
          <a:prstGeom prst="roundRect">
            <a:avLst>
              <a:gd name="adj" fmla="val 8000"/>
            </a:avLst>
          </a:prstGeom>
          <a:solidFill>
            <a:srgbClr val="ECDFE3"/>
          </a:solidFill>
          <a:ln>
            <a:noFill/>
          </a:ln>
        </p:spPr>
        <p:txBody>
          <a:bodyPr/>
          <a:lstStyle/>
          <a:p>
            <a:endParaRPr lang="en-US"/>
          </a:p>
        </p:txBody>
      </p:sp>
      <p:sp>
        <p:nvSpPr>
          <p:cNvPr id="20" name="Number"/>
          <p:cNvSpPr/>
          <p:nvPr/>
        </p:nvSpPr>
        <p:spPr>
          <a:xfrm>
            <a:off x="710927" y="3820000"/>
            <a:ext cx="380000" cy="380000"/>
          </a:xfrm>
          <a:prstGeom prst="ellipse">
            <a:avLst/>
          </a:prstGeom>
          <a:solidFill>
            <a:srgbClr val="B79BA6"/>
          </a:solidFill>
          <a:ln>
            <a:noFill/>
          </a:ln>
        </p:spPr>
        <p:txBody>
          <a:bodyPr/>
          <a:lstStyle/>
          <a:p>
            <a:endParaRPr lang="en-US"/>
          </a:p>
        </p:txBody>
      </p:sp>
      <p:sp>
        <p:nvSpPr>
          <p:cNvPr id="21" name="Number label"/>
          <p:cNvSpPr txBox="1"/>
          <p:nvPr/>
        </p:nvSpPr>
        <p:spPr>
          <a:xfrm>
            <a:off x="710927" y="3820000"/>
            <a:ext cx="380000" cy="380000"/>
          </a:xfrm>
          <a:prstGeom prst="rect">
            <a:avLst/>
          </a:prstGeom>
          <a:noFill/>
          <a:ln/>
        </p:spPr>
        <p:txBody>
          <a:bodyPr wrap="square" lIns="0" tIns="0" rIns="0" bIns="0" rtlCol="0" anchor="ctr">
            <a:normAutofit/>
          </a:bodyPr>
          <a:lstStyle/>
          <a:p>
            <a:pPr marL="0" indent="0" algn="ctr">
              <a:lnSpc>
                <a:spcPct val="100000"/>
              </a:lnSpc>
              <a:spcAft>
                <a:spcPts val="0"/>
              </a:spcAft>
              <a:buNone/>
            </a:pPr>
            <a:r>
              <a:rPr lang="en-US" sz="1200" dirty="0">
                <a:solidFill>
                  <a:srgbClr val="FFFFFF"/>
                </a:solidFill>
                <a:latin typeface="Poppins Bold" pitchFamily="34" charset="0"/>
                <a:ea typeface="Poppins Bold" pitchFamily="34" charset="-122"/>
                <a:cs typeface="Poppins Bold" pitchFamily="34" charset="-120"/>
              </a:rPr>
              <a:t>4</a:t>
            </a:r>
            <a:endParaRPr lang="en-US" sz="1200" dirty="0"/>
          </a:p>
        </p:txBody>
      </p:sp>
      <p:sp>
        <p:nvSpPr>
          <p:cNvPr id="22" name="Card heading"/>
          <p:cNvSpPr txBox="1"/>
          <p:nvPr/>
        </p:nvSpPr>
        <p:spPr>
          <a:xfrm>
            <a:off x="1240927" y="3840000"/>
            <a:ext cx="2720000" cy="347067"/>
          </a:xfrm>
          <a:prstGeom prst="rect">
            <a:avLst/>
          </a:prstGeom>
          <a:noFill/>
          <a:ln/>
        </p:spPr>
        <p:txBody>
          <a:bodyPr wrap="square" lIns="0" tIns="0" rIns="0" bIns="0" rtlCol="0" anchor="ctr">
            <a:normAutofit/>
          </a:bodyPr>
          <a:lstStyle/>
          <a:p>
            <a:pPr marL="0" indent="0" algn="l">
              <a:lnSpc>
                <a:spcPct val="104000"/>
              </a:lnSpc>
              <a:spcAft>
                <a:spcPts val="0"/>
              </a:spcAft>
              <a:buNone/>
            </a:pPr>
            <a:r>
              <a:rPr lang="en-US" sz="1950" dirty="0">
                <a:solidFill>
                  <a:srgbClr val="000000"/>
                </a:solidFill>
                <a:latin typeface="Baskervville" pitchFamily="34" charset="0"/>
                <a:ea typeface="Baskervville" pitchFamily="34" charset="-122"/>
                <a:cs typeface="Baskervville" pitchFamily="34" charset="-120"/>
              </a:rPr>
              <a:t>Research and learning</a:t>
            </a:r>
            <a:endParaRPr lang="en-US" sz="1950" dirty="0"/>
          </a:p>
        </p:txBody>
      </p:sp>
      <p:sp>
        <p:nvSpPr>
          <p:cNvPr id="23" name="Card body"/>
          <p:cNvSpPr txBox="1"/>
          <p:nvPr/>
        </p:nvSpPr>
        <p:spPr>
          <a:xfrm>
            <a:off x="710927" y="4370000"/>
            <a:ext cx="3250000" cy="85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Summarised papers, explained concepts and compared methods.</a:t>
            </a:r>
            <a:endParaRPr lang="en-US" sz="1200" dirty="0"/>
          </a:p>
        </p:txBody>
      </p:sp>
      <p:sp>
        <p:nvSpPr>
          <p:cNvPr id="24" name="AI use card"/>
          <p:cNvSpPr/>
          <p:nvPr/>
        </p:nvSpPr>
        <p:spPr>
          <a:xfrm>
            <a:off x="4300927" y="3650000"/>
            <a:ext cx="3590000" cy="1700000"/>
          </a:xfrm>
          <a:prstGeom prst="roundRect">
            <a:avLst>
              <a:gd name="adj" fmla="val 8000"/>
            </a:avLst>
          </a:prstGeom>
          <a:solidFill>
            <a:srgbClr val="ECDFE3"/>
          </a:solidFill>
          <a:ln>
            <a:noFill/>
          </a:ln>
        </p:spPr>
        <p:txBody>
          <a:bodyPr/>
          <a:lstStyle/>
          <a:p>
            <a:endParaRPr lang="en-US"/>
          </a:p>
        </p:txBody>
      </p:sp>
      <p:sp>
        <p:nvSpPr>
          <p:cNvPr id="25" name="Number"/>
          <p:cNvSpPr/>
          <p:nvPr/>
        </p:nvSpPr>
        <p:spPr>
          <a:xfrm>
            <a:off x="4470927" y="3820000"/>
            <a:ext cx="380000" cy="380000"/>
          </a:xfrm>
          <a:prstGeom prst="ellipse">
            <a:avLst/>
          </a:prstGeom>
          <a:solidFill>
            <a:srgbClr val="B79BA6"/>
          </a:solidFill>
          <a:ln>
            <a:noFill/>
          </a:ln>
        </p:spPr>
        <p:txBody>
          <a:bodyPr/>
          <a:lstStyle/>
          <a:p>
            <a:endParaRPr lang="en-US"/>
          </a:p>
        </p:txBody>
      </p:sp>
      <p:sp>
        <p:nvSpPr>
          <p:cNvPr id="26" name="Number label"/>
          <p:cNvSpPr txBox="1"/>
          <p:nvPr/>
        </p:nvSpPr>
        <p:spPr>
          <a:xfrm>
            <a:off x="4470927" y="3820000"/>
            <a:ext cx="380000" cy="380000"/>
          </a:xfrm>
          <a:prstGeom prst="rect">
            <a:avLst/>
          </a:prstGeom>
          <a:noFill/>
          <a:ln/>
        </p:spPr>
        <p:txBody>
          <a:bodyPr wrap="square" lIns="0" tIns="0" rIns="0" bIns="0" rtlCol="0" anchor="ctr">
            <a:normAutofit/>
          </a:bodyPr>
          <a:lstStyle/>
          <a:p>
            <a:pPr marL="0" indent="0" algn="ctr">
              <a:lnSpc>
                <a:spcPct val="100000"/>
              </a:lnSpc>
              <a:spcAft>
                <a:spcPts val="0"/>
              </a:spcAft>
              <a:buNone/>
            </a:pPr>
            <a:r>
              <a:rPr lang="en-US" sz="1200" dirty="0">
                <a:solidFill>
                  <a:srgbClr val="FFFFFF"/>
                </a:solidFill>
                <a:latin typeface="Poppins Bold" pitchFamily="34" charset="0"/>
                <a:ea typeface="Poppins Bold" pitchFamily="34" charset="-122"/>
                <a:cs typeface="Poppins Bold" pitchFamily="34" charset="-120"/>
              </a:rPr>
              <a:t>5</a:t>
            </a:r>
            <a:endParaRPr lang="en-US" sz="1200" dirty="0"/>
          </a:p>
        </p:txBody>
      </p:sp>
      <p:sp>
        <p:nvSpPr>
          <p:cNvPr id="27" name="Card heading"/>
          <p:cNvSpPr txBox="1"/>
          <p:nvPr/>
        </p:nvSpPr>
        <p:spPr>
          <a:xfrm>
            <a:off x="5000927" y="3840000"/>
            <a:ext cx="2720000" cy="347067"/>
          </a:xfrm>
          <a:prstGeom prst="rect">
            <a:avLst/>
          </a:prstGeom>
          <a:noFill/>
          <a:ln/>
        </p:spPr>
        <p:txBody>
          <a:bodyPr wrap="square" lIns="0" tIns="0" rIns="0" bIns="0" rtlCol="0" anchor="ctr">
            <a:normAutofit/>
          </a:bodyPr>
          <a:lstStyle/>
          <a:p>
            <a:pPr marL="0" indent="0" algn="l">
              <a:lnSpc>
                <a:spcPct val="104000"/>
              </a:lnSpc>
              <a:spcAft>
                <a:spcPts val="0"/>
              </a:spcAft>
              <a:buNone/>
            </a:pPr>
            <a:r>
              <a:rPr lang="en-US" sz="1950" dirty="0">
                <a:solidFill>
                  <a:srgbClr val="000000"/>
                </a:solidFill>
                <a:latin typeface="Baskervville" pitchFamily="34" charset="0"/>
                <a:ea typeface="Baskervville" pitchFamily="34" charset="-122"/>
                <a:cs typeface="Baskervville" pitchFamily="34" charset="-120"/>
              </a:rPr>
              <a:t>Testing and validation</a:t>
            </a:r>
            <a:endParaRPr lang="en-US" sz="1950" dirty="0"/>
          </a:p>
        </p:txBody>
      </p:sp>
      <p:sp>
        <p:nvSpPr>
          <p:cNvPr id="28" name="Card body"/>
          <p:cNvSpPr txBox="1"/>
          <p:nvPr/>
        </p:nvSpPr>
        <p:spPr>
          <a:xfrm>
            <a:off x="4470927" y="4370000"/>
            <a:ext cx="3250000" cy="85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Generated test cases and cross-checked outputs with other LLMs.</a:t>
            </a:r>
            <a:endParaRPr lang="en-US" sz="1200" dirty="0"/>
          </a:p>
        </p:txBody>
      </p:sp>
      <p:sp>
        <p:nvSpPr>
          <p:cNvPr id="29" name="AI use card"/>
          <p:cNvSpPr/>
          <p:nvPr/>
        </p:nvSpPr>
        <p:spPr>
          <a:xfrm>
            <a:off x="8060927" y="3650000"/>
            <a:ext cx="3590000" cy="1700000"/>
          </a:xfrm>
          <a:prstGeom prst="roundRect">
            <a:avLst>
              <a:gd name="adj" fmla="val 8000"/>
            </a:avLst>
          </a:prstGeom>
          <a:solidFill>
            <a:srgbClr val="ECDFE3"/>
          </a:solidFill>
          <a:ln>
            <a:noFill/>
          </a:ln>
        </p:spPr>
        <p:txBody>
          <a:bodyPr/>
          <a:lstStyle/>
          <a:p>
            <a:endParaRPr lang="en-US"/>
          </a:p>
        </p:txBody>
      </p:sp>
      <p:sp>
        <p:nvSpPr>
          <p:cNvPr id="30" name="Number"/>
          <p:cNvSpPr/>
          <p:nvPr/>
        </p:nvSpPr>
        <p:spPr>
          <a:xfrm>
            <a:off x="8230927" y="3820000"/>
            <a:ext cx="380000" cy="380000"/>
          </a:xfrm>
          <a:prstGeom prst="ellipse">
            <a:avLst/>
          </a:prstGeom>
          <a:solidFill>
            <a:srgbClr val="B79BA6"/>
          </a:solidFill>
          <a:ln>
            <a:noFill/>
          </a:ln>
        </p:spPr>
        <p:txBody>
          <a:bodyPr/>
          <a:lstStyle/>
          <a:p>
            <a:endParaRPr lang="en-US"/>
          </a:p>
        </p:txBody>
      </p:sp>
      <p:sp>
        <p:nvSpPr>
          <p:cNvPr id="31" name="Number label"/>
          <p:cNvSpPr txBox="1"/>
          <p:nvPr/>
        </p:nvSpPr>
        <p:spPr>
          <a:xfrm>
            <a:off x="8230927" y="3820000"/>
            <a:ext cx="380000" cy="380000"/>
          </a:xfrm>
          <a:prstGeom prst="rect">
            <a:avLst/>
          </a:prstGeom>
          <a:noFill/>
          <a:ln/>
        </p:spPr>
        <p:txBody>
          <a:bodyPr wrap="square" lIns="0" tIns="0" rIns="0" bIns="0" rtlCol="0" anchor="ctr">
            <a:normAutofit/>
          </a:bodyPr>
          <a:lstStyle/>
          <a:p>
            <a:pPr marL="0" indent="0" algn="ctr">
              <a:lnSpc>
                <a:spcPct val="100000"/>
              </a:lnSpc>
              <a:spcAft>
                <a:spcPts val="0"/>
              </a:spcAft>
              <a:buNone/>
            </a:pPr>
            <a:r>
              <a:rPr lang="en-US" sz="1200" dirty="0">
                <a:solidFill>
                  <a:srgbClr val="FFFFFF"/>
                </a:solidFill>
                <a:latin typeface="Poppins Bold" pitchFamily="34" charset="0"/>
                <a:ea typeface="Poppins Bold" pitchFamily="34" charset="-122"/>
                <a:cs typeface="Poppins Bold" pitchFamily="34" charset="-120"/>
              </a:rPr>
              <a:t>6</a:t>
            </a:r>
            <a:endParaRPr lang="en-US" sz="1200" dirty="0"/>
          </a:p>
        </p:txBody>
      </p:sp>
      <p:sp>
        <p:nvSpPr>
          <p:cNvPr id="32" name="Card heading"/>
          <p:cNvSpPr txBox="1"/>
          <p:nvPr/>
        </p:nvSpPr>
        <p:spPr>
          <a:xfrm>
            <a:off x="8760927" y="3840000"/>
            <a:ext cx="2720000" cy="347067"/>
          </a:xfrm>
          <a:prstGeom prst="rect">
            <a:avLst/>
          </a:prstGeom>
          <a:noFill/>
          <a:ln/>
        </p:spPr>
        <p:txBody>
          <a:bodyPr wrap="square" lIns="0" tIns="0" rIns="0" bIns="0" rtlCol="0" anchor="ctr">
            <a:normAutofit/>
          </a:bodyPr>
          <a:lstStyle/>
          <a:p>
            <a:pPr marL="0" indent="0" algn="l">
              <a:lnSpc>
                <a:spcPct val="104000"/>
              </a:lnSpc>
              <a:spcAft>
                <a:spcPts val="0"/>
              </a:spcAft>
              <a:buNone/>
            </a:pPr>
            <a:r>
              <a:rPr lang="en-US" sz="1950" dirty="0">
                <a:solidFill>
                  <a:srgbClr val="000000"/>
                </a:solidFill>
                <a:latin typeface="Baskervville" pitchFamily="34" charset="0"/>
                <a:ea typeface="Baskervville" pitchFamily="34" charset="-122"/>
                <a:cs typeface="Baskervville" pitchFamily="34" charset="-120"/>
              </a:rPr>
              <a:t>Design and presentation</a:t>
            </a:r>
            <a:endParaRPr lang="en-US" sz="1950" dirty="0"/>
          </a:p>
        </p:txBody>
      </p:sp>
      <p:sp>
        <p:nvSpPr>
          <p:cNvPr id="33" name="Card body"/>
          <p:cNvSpPr txBox="1"/>
          <p:nvPr/>
        </p:nvSpPr>
        <p:spPr>
          <a:xfrm>
            <a:off x="8230927" y="4370000"/>
            <a:ext cx="3250000" cy="85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Supported UI ideas, diagrams and slide content.</a:t>
            </a:r>
            <a:endParaRPr lang="en-US" sz="1200" dirty="0"/>
          </a:p>
        </p:txBody>
      </p:sp>
      <p:sp>
        <p:nvSpPr>
          <p:cNvPr id="34" name="Human in loop"/>
          <p:cNvSpPr/>
          <p:nvPr/>
        </p:nvSpPr>
        <p:spPr>
          <a:xfrm>
            <a:off x="540927" y="5600000"/>
            <a:ext cx="11109841" cy="560000"/>
          </a:xfrm>
          <a:prstGeom prst="roundRect">
            <a:avLst>
              <a:gd name="adj" fmla="val 30000"/>
            </a:avLst>
          </a:prstGeom>
          <a:solidFill>
            <a:srgbClr val="FFFFFF"/>
          </a:solidFill>
          <a:ln w="12700">
            <a:solidFill>
              <a:srgbClr val="B79BA6"/>
            </a:solidFill>
          </a:ln>
        </p:spPr>
        <p:txBody>
          <a:bodyPr/>
          <a:lstStyle/>
          <a:p>
            <a:endParaRPr lang="en-US"/>
          </a:p>
        </p:txBody>
      </p:sp>
      <p:sp>
        <p:nvSpPr>
          <p:cNvPr id="35" name="Human in loop text"/>
          <p:cNvSpPr txBox="1"/>
          <p:nvPr/>
        </p:nvSpPr>
        <p:spPr>
          <a:xfrm>
            <a:off x="790927" y="5600000"/>
            <a:ext cx="10609841" cy="560000"/>
          </a:xfrm>
          <a:prstGeom prst="rect">
            <a:avLst/>
          </a:prstGeom>
          <a:noFill/>
          <a:ln/>
        </p:spPr>
        <p:txBody>
          <a:bodyPr wrap="square" lIns="0" tIns="0" rIns="0" bIns="0" rtlCol="0" anchor="ctr">
            <a:normAutofit/>
          </a:bodyPr>
          <a:lstStyle/>
          <a:p>
            <a:pPr marL="0" indent="0" algn="l">
              <a:lnSpc>
                <a:spcPct val="120000"/>
              </a:lnSpc>
              <a:spcAft>
                <a:spcPts val="0"/>
              </a:spcAft>
              <a:buNone/>
            </a:pPr>
            <a:r>
              <a:rPr lang="en-US" sz="1200" b="1" dirty="0">
                <a:solidFill>
                  <a:srgbClr val="6E6666"/>
                </a:solidFill>
                <a:latin typeface="Poppins Bold" pitchFamily="34" charset="0"/>
                <a:ea typeface="Poppins Bold" pitchFamily="34" charset="-122"/>
                <a:cs typeface="Poppins Bold" pitchFamily="34" charset="-120"/>
              </a:rPr>
              <a:t>Human in the loop: </a:t>
            </a:r>
            <a:r>
              <a:rPr lang="en-US" sz="1200" dirty="0">
                <a:solidFill>
                  <a:srgbClr val="6E6666"/>
                </a:solidFill>
                <a:latin typeface="Poppins" pitchFamily="34" charset="0"/>
                <a:ea typeface="Poppins" pitchFamily="34" charset="-122"/>
                <a:cs typeface="Poppins" pitchFamily="34" charset="-120"/>
              </a:rPr>
              <a:t>every AI output was reviewed, tested and verified by the team before 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40927" y="478532"/>
            <a:ext cx="11109841" cy="694333"/>
          </a:xfrm>
          <a:prstGeom prst="rect">
            <a:avLst/>
          </a:prstGeom>
          <a:noFill/>
          <a:ln/>
        </p:spPr>
        <p:txBody>
          <a:bodyPr wrap="square" lIns="0" tIns="0" rIns="0" bIns="0" rtlCol="0" anchor="t">
            <a:normAutofit/>
          </a:bodyPr>
          <a:lstStyle/>
          <a:p>
            <a:pPr marL="0" indent="0" algn="l">
              <a:lnSpc>
                <a:spcPct val="104000"/>
              </a:lnSpc>
              <a:spcAft>
                <a:spcPts val="0"/>
              </a:spcAft>
              <a:buNone/>
            </a:pPr>
            <a:r>
              <a:rPr lang="en-US" sz="4350" dirty="0">
                <a:solidFill>
                  <a:srgbClr val="787878"/>
                </a:solidFill>
                <a:latin typeface="Baskervville" pitchFamily="34" charset="0"/>
                <a:ea typeface="Baskervville" pitchFamily="34" charset="-122"/>
                <a:cs typeface="Baskervville" pitchFamily="34" charset="-120"/>
              </a:rPr>
              <a:t>Evidence, NTRs &amp; Validations</a:t>
            </a:r>
            <a:endParaRPr lang="en-US" sz="4350" dirty="0"/>
          </a:p>
        </p:txBody>
      </p:sp>
      <p:sp>
        <p:nvSpPr>
          <p:cNvPr id="3" name="Column card"/>
          <p:cNvSpPr/>
          <p:nvPr/>
        </p:nvSpPr>
        <p:spPr>
          <a:xfrm>
            <a:off x="540927" y="1578471"/>
            <a:ext cx="3600261" cy="3650000"/>
          </a:xfrm>
          <a:prstGeom prst="roundRect">
            <a:avLst>
              <a:gd name="adj" fmla="val 6000"/>
            </a:avLst>
          </a:prstGeom>
          <a:solidFill>
            <a:srgbClr val="ECDFE3"/>
          </a:solidFill>
          <a:ln>
            <a:noFill/>
          </a:ln>
        </p:spPr>
        <p:txBody>
          <a:bodyPr/>
          <a:lstStyle/>
          <a:p>
            <a:endParaRPr lang="en-US"/>
          </a:p>
        </p:txBody>
      </p:sp>
      <p:sp>
        <p:nvSpPr>
          <p:cNvPr id="4" name="Column heading"/>
          <p:cNvSpPr txBox="1"/>
          <p:nvPr/>
        </p:nvSpPr>
        <p:spPr>
          <a:xfrm>
            <a:off x="720927" y="1778471"/>
            <a:ext cx="3240261" cy="347067"/>
          </a:xfrm>
          <a:prstGeom prst="rect">
            <a:avLst/>
          </a:prstGeom>
          <a:noFill/>
          <a:ln/>
        </p:spPr>
        <p:txBody>
          <a:bodyPr wrap="square" lIns="0" tIns="0" rIns="0" bIns="0" rtlCol="0" anchor="t">
            <a:normAutofit/>
          </a:bodyPr>
          <a:lstStyle/>
          <a:p>
            <a:pPr marL="0" indent="0" algn="l">
              <a:lnSpc>
                <a:spcPct val="104000"/>
              </a:lnSpc>
              <a:spcAft>
                <a:spcPts val="0"/>
              </a:spcAft>
              <a:buNone/>
            </a:pPr>
            <a:r>
              <a:rPr lang="en-US" sz="2150" dirty="0">
                <a:solidFill>
                  <a:srgbClr val="000000"/>
                </a:solidFill>
                <a:latin typeface="Baskervville" pitchFamily="34" charset="0"/>
                <a:ea typeface="Baskervville" pitchFamily="34" charset="-122"/>
                <a:cs typeface="Baskervville" pitchFamily="34" charset="-120"/>
              </a:rPr>
              <a:t>Use of evidence</a:t>
            </a:r>
            <a:endParaRPr lang="en-US" sz="2150" dirty="0"/>
          </a:p>
        </p:txBody>
      </p:sp>
      <p:cxnSp>
        <p:nvCxnSpPr>
          <p:cNvPr id="5" name="Heading line"/>
          <p:cNvCxnSpPr/>
          <p:nvPr/>
        </p:nvCxnSpPr>
        <p:spPr>
          <a:xfrm>
            <a:off x="720927" y="2278471"/>
            <a:ext cx="3240261" cy="0"/>
          </a:xfrm>
          <a:prstGeom prst="line">
            <a:avLst/>
          </a:prstGeom>
          <a:ln w="12700">
            <a:solidFill>
              <a:srgbClr val="B79BA6"/>
            </a:solidFill>
          </a:ln>
        </p:spPr>
      </p:cxnSp>
      <p:sp>
        <p:nvSpPr>
          <p:cNvPr id="6" name="Column bullets"/>
          <p:cNvSpPr txBox="1"/>
          <p:nvPr/>
        </p:nvSpPr>
        <p:spPr>
          <a:xfrm>
            <a:off x="720927" y="2478471"/>
            <a:ext cx="3240261" cy="2250000"/>
          </a:xfrm>
          <a:prstGeom prst="rect">
            <a:avLst/>
          </a:prstGeom>
          <a:noFill/>
          <a:ln/>
        </p:spPr>
        <p:txBody>
          <a:bodyPr wrap="square" lIns="0" tIns="0" rIns="0" bIns="0" rtlCol="0" anchor="t">
            <a:normAutofit/>
          </a:bodyPr>
          <a:lstStyle/>
          <a:p>
            <a:pPr marL="228600" indent="-228600" algn="l">
              <a:lnSpc>
                <a:spcPct val="120000"/>
              </a:lnSpc>
              <a:spcAft>
                <a:spcPts val="600"/>
              </a:spcAft>
              <a:buClr>
                <a:srgbClr val="B79BA6"/>
              </a:buClr>
              <a:buFont typeface="Arial"/>
              <a:buChar char="•"/>
            </a:pPr>
            <a:r>
              <a:rPr lang="en-US" sz="1200" i="1" dirty="0">
                <a:solidFill>
                  <a:srgbClr val="6E6666"/>
                </a:solidFill>
                <a:latin typeface="Poppins" pitchFamily="34" charset="0"/>
                <a:ea typeface="Poppins" pitchFamily="34" charset="-122"/>
                <a:cs typeface="Poppins" pitchFamily="34" charset="-120"/>
              </a:rPr>
              <a:t>Model accuracy: [above 75%]</a:t>
            </a:r>
            <a:endParaRPr lang="en-US" sz="1200" dirty="0"/>
          </a:p>
          <a:p>
            <a:pPr marL="228600" indent="-228600" algn="l">
              <a:lnSpc>
                <a:spcPct val="120000"/>
              </a:lnSpc>
              <a:spcAft>
                <a:spcPts val="600"/>
              </a:spcAft>
              <a:buClr>
                <a:srgbClr val="B79BA6"/>
              </a:buClr>
              <a:buFont typeface="Arial"/>
              <a:buChar char="•"/>
            </a:pPr>
            <a:r>
              <a:rPr lang="en-US" sz="1200" dirty="0">
                <a:solidFill>
                  <a:srgbClr val="6E6666"/>
                </a:solidFill>
                <a:latin typeface="Poppins" pitchFamily="34" charset="0"/>
                <a:ea typeface="Poppins" pitchFamily="34" charset="-122"/>
                <a:cs typeface="Poppins" pitchFamily="34" charset="-120"/>
              </a:rPr>
              <a:t>Factual accuracy: &gt;90%</a:t>
            </a:r>
            <a:endParaRPr lang="en-US" sz="1200" dirty="0"/>
          </a:p>
          <a:p>
            <a:pPr marL="228600" indent="-228600" algn="l">
              <a:lnSpc>
                <a:spcPct val="120000"/>
              </a:lnSpc>
              <a:spcAft>
                <a:spcPts val="600"/>
              </a:spcAft>
              <a:buClr>
                <a:srgbClr val="B79BA6"/>
              </a:buClr>
              <a:buFont typeface="Arial"/>
              <a:buChar char="•"/>
            </a:pPr>
            <a:r>
              <a:rPr lang="en-US" sz="1200" dirty="0">
                <a:solidFill>
                  <a:srgbClr val="6E6666"/>
                </a:solidFill>
                <a:latin typeface="Poppins" pitchFamily="34" charset="0"/>
                <a:ea typeface="Poppins" pitchFamily="34" charset="-122"/>
                <a:cs typeface="Poppins" pitchFamily="34" charset="-120"/>
              </a:rPr>
              <a:t>Self-collected dataset: 32 students</a:t>
            </a:r>
            <a:endParaRPr lang="en-US" sz="1200" dirty="0"/>
          </a:p>
          <a:p>
            <a:pPr marL="228600" indent="-228600" algn="l">
              <a:lnSpc>
                <a:spcPct val="120000"/>
              </a:lnSpc>
              <a:spcAft>
                <a:spcPts val="600"/>
              </a:spcAft>
              <a:buClr>
                <a:srgbClr val="B79BA6"/>
              </a:buClr>
              <a:buFont typeface="Arial"/>
              <a:buChar char="•"/>
            </a:pPr>
            <a:r>
              <a:rPr lang="en-US" sz="1200" dirty="0">
                <a:solidFill>
                  <a:srgbClr val="6E6666"/>
                </a:solidFill>
                <a:latin typeface="Poppins" pitchFamily="34" charset="0"/>
                <a:ea typeface="Poppins" pitchFamily="34" charset="-122"/>
                <a:cs typeface="Poppins" pitchFamily="34" charset="-120"/>
              </a:rPr>
              <a:t>Response time: &lt;5 s</a:t>
            </a:r>
            <a:endParaRPr lang="en-US" sz="1200" dirty="0"/>
          </a:p>
        </p:txBody>
      </p:sp>
      <p:sp>
        <p:nvSpPr>
          <p:cNvPr id="7" name="Status chip"/>
          <p:cNvSpPr/>
          <p:nvPr/>
        </p:nvSpPr>
        <p:spPr>
          <a:xfrm>
            <a:off x="720927" y="4428471"/>
            <a:ext cx="3240261" cy="560000"/>
          </a:xfrm>
          <a:prstGeom prst="roundRect">
            <a:avLst>
              <a:gd name="adj" fmla="val 30000"/>
            </a:avLst>
          </a:prstGeom>
          <a:solidFill>
            <a:srgbClr val="FFFFFF"/>
          </a:solidFill>
          <a:ln>
            <a:noFill/>
          </a:ln>
        </p:spPr>
        <p:txBody>
          <a:bodyPr/>
          <a:lstStyle/>
          <a:p>
            <a:endParaRPr lang="en-US"/>
          </a:p>
        </p:txBody>
      </p:sp>
      <p:sp>
        <p:nvSpPr>
          <p:cNvPr id="8" name="Status text"/>
          <p:cNvSpPr txBox="1"/>
          <p:nvPr/>
        </p:nvSpPr>
        <p:spPr>
          <a:xfrm>
            <a:off x="840927" y="4428471"/>
            <a:ext cx="3000261" cy="560000"/>
          </a:xfrm>
          <a:prstGeom prst="rect">
            <a:avLst/>
          </a:prstGeom>
          <a:noFill/>
          <a:ln/>
        </p:spPr>
        <p:txBody>
          <a:bodyPr wrap="square" lIns="0" tIns="0" rIns="0" bIns="0" rtlCol="0" anchor="ctr">
            <a:normAutofit/>
          </a:bodyPr>
          <a:lstStyle/>
          <a:p>
            <a:pPr marL="0" indent="0" algn="l">
              <a:lnSpc>
                <a:spcPct val="120000"/>
              </a:lnSpc>
              <a:spcAft>
                <a:spcPts val="0"/>
              </a:spcAft>
              <a:buNone/>
            </a:pPr>
            <a:r>
              <a:rPr lang="en-US" sz="1200" b="1" dirty="0">
                <a:solidFill>
                  <a:srgbClr val="6E6666"/>
                </a:solidFill>
                <a:latin typeface="Poppins Bold" pitchFamily="34" charset="0"/>
                <a:ea typeface="Poppins Bold" pitchFamily="34" charset="-122"/>
                <a:cs typeface="Poppins Bold" pitchFamily="34" charset="-120"/>
              </a:rPr>
              <a:t>Status: </a:t>
            </a:r>
            <a:r>
              <a:rPr lang="en-US" sz="1200" i="1" dirty="0">
                <a:solidFill>
                  <a:srgbClr val="6E6666"/>
                </a:solidFill>
                <a:latin typeface="Poppins" pitchFamily="34" charset="0"/>
                <a:ea typeface="Poppins" pitchFamily="34" charset="-122"/>
                <a:cs typeface="Poppins" pitchFamily="34" charset="-120"/>
              </a:rPr>
              <a:t>[Complete ]</a:t>
            </a:r>
            <a:endParaRPr lang="en-US" sz="1200" dirty="0"/>
          </a:p>
        </p:txBody>
      </p:sp>
      <p:sp>
        <p:nvSpPr>
          <p:cNvPr id="9" name="Column card"/>
          <p:cNvSpPr/>
          <p:nvPr/>
        </p:nvSpPr>
        <p:spPr>
          <a:xfrm>
            <a:off x="4295668" y="1578471"/>
            <a:ext cx="3600261" cy="3650000"/>
          </a:xfrm>
          <a:prstGeom prst="roundRect">
            <a:avLst>
              <a:gd name="adj" fmla="val 6000"/>
            </a:avLst>
          </a:prstGeom>
          <a:solidFill>
            <a:srgbClr val="ECDFE3"/>
          </a:solidFill>
          <a:ln>
            <a:noFill/>
          </a:ln>
        </p:spPr>
        <p:txBody>
          <a:bodyPr/>
          <a:lstStyle/>
          <a:p>
            <a:endParaRPr lang="en-US"/>
          </a:p>
        </p:txBody>
      </p:sp>
      <p:sp>
        <p:nvSpPr>
          <p:cNvPr id="10" name="Column heading"/>
          <p:cNvSpPr txBox="1"/>
          <p:nvPr/>
        </p:nvSpPr>
        <p:spPr>
          <a:xfrm>
            <a:off x="4475668" y="1778471"/>
            <a:ext cx="3240261" cy="347067"/>
          </a:xfrm>
          <a:prstGeom prst="rect">
            <a:avLst/>
          </a:prstGeom>
          <a:noFill/>
          <a:ln/>
        </p:spPr>
        <p:txBody>
          <a:bodyPr wrap="square" lIns="0" tIns="0" rIns="0" bIns="0" rtlCol="0" anchor="t">
            <a:normAutofit/>
          </a:bodyPr>
          <a:lstStyle/>
          <a:p>
            <a:pPr marL="0" indent="0" algn="l">
              <a:lnSpc>
                <a:spcPct val="104000"/>
              </a:lnSpc>
              <a:spcAft>
                <a:spcPts val="0"/>
              </a:spcAft>
              <a:buNone/>
            </a:pPr>
            <a:r>
              <a:rPr lang="en-US" sz="2150" dirty="0">
                <a:solidFill>
                  <a:srgbClr val="000000"/>
                </a:solidFill>
                <a:latin typeface="Baskervville" pitchFamily="34" charset="0"/>
                <a:ea typeface="Baskervville" pitchFamily="34" charset="-122"/>
                <a:cs typeface="Baskervville" pitchFamily="34" charset="-120"/>
              </a:rPr>
              <a:t>NTRs</a:t>
            </a:r>
            <a:endParaRPr lang="en-US" sz="2150" dirty="0"/>
          </a:p>
        </p:txBody>
      </p:sp>
      <p:cxnSp>
        <p:nvCxnSpPr>
          <p:cNvPr id="11" name="Heading line"/>
          <p:cNvCxnSpPr/>
          <p:nvPr/>
        </p:nvCxnSpPr>
        <p:spPr>
          <a:xfrm>
            <a:off x="4475668" y="2278471"/>
            <a:ext cx="3240261" cy="0"/>
          </a:xfrm>
          <a:prstGeom prst="line">
            <a:avLst/>
          </a:prstGeom>
          <a:ln w="12700">
            <a:solidFill>
              <a:srgbClr val="B79BA6"/>
            </a:solidFill>
          </a:ln>
        </p:spPr>
      </p:cxnSp>
      <p:sp>
        <p:nvSpPr>
          <p:cNvPr id="12" name="Column bullets"/>
          <p:cNvSpPr txBox="1"/>
          <p:nvPr/>
        </p:nvSpPr>
        <p:spPr>
          <a:xfrm>
            <a:off x="4475668" y="2478471"/>
            <a:ext cx="3240261" cy="2250000"/>
          </a:xfrm>
          <a:prstGeom prst="rect">
            <a:avLst/>
          </a:prstGeom>
          <a:noFill/>
          <a:ln/>
        </p:spPr>
        <p:txBody>
          <a:bodyPr wrap="square" lIns="0" tIns="0" rIns="0" bIns="0" rtlCol="0" anchor="t">
            <a:normAutofit/>
          </a:bodyPr>
          <a:lstStyle/>
          <a:p>
            <a:pPr marL="228600" indent="-228600" algn="l">
              <a:lnSpc>
                <a:spcPct val="120000"/>
              </a:lnSpc>
              <a:spcAft>
                <a:spcPts val="600"/>
              </a:spcAft>
              <a:buClr>
                <a:srgbClr val="B79BA6"/>
              </a:buClr>
              <a:buFont typeface="Arial"/>
              <a:buChar char="•"/>
            </a:pPr>
            <a:r>
              <a:rPr lang="en-US" sz="1200" i="1" dirty="0">
                <a:solidFill>
                  <a:srgbClr val="6E6666"/>
                </a:solidFill>
                <a:latin typeface="Poppins" pitchFamily="34" charset="0"/>
                <a:ea typeface="Poppins" pitchFamily="34" charset="-122"/>
                <a:cs typeface="Poppins" pitchFamily="34" charset="-120"/>
              </a:rPr>
              <a:t>Publication: pending Approval(ICAC2026)</a:t>
            </a:r>
          </a:p>
          <a:p>
            <a:pPr marL="228600" indent="-228600" algn="l">
              <a:lnSpc>
                <a:spcPct val="120000"/>
              </a:lnSpc>
              <a:spcAft>
                <a:spcPts val="600"/>
              </a:spcAft>
              <a:buClr>
                <a:srgbClr val="B79BA6"/>
              </a:buClr>
              <a:buFont typeface="Arial"/>
              <a:buChar char="•"/>
            </a:pPr>
            <a:r>
              <a:rPr lang="en-US" sz="1200" i="1" dirty="0">
                <a:solidFill>
                  <a:srgbClr val="6E6666"/>
                </a:solidFill>
                <a:latin typeface="Poppins" pitchFamily="34" charset="0"/>
                <a:cs typeface="Poppins" pitchFamily="34" charset="-120"/>
              </a:rPr>
              <a:t>Planning to apply for future conventions</a:t>
            </a:r>
            <a:endParaRPr lang="en-US" sz="1200" dirty="0"/>
          </a:p>
        </p:txBody>
      </p:sp>
      <p:sp>
        <p:nvSpPr>
          <p:cNvPr id="13" name="Status chip"/>
          <p:cNvSpPr/>
          <p:nvPr/>
        </p:nvSpPr>
        <p:spPr>
          <a:xfrm>
            <a:off x="4475668" y="4428471"/>
            <a:ext cx="3240261" cy="560000"/>
          </a:xfrm>
          <a:prstGeom prst="roundRect">
            <a:avLst>
              <a:gd name="adj" fmla="val 30000"/>
            </a:avLst>
          </a:prstGeom>
          <a:solidFill>
            <a:srgbClr val="FFFFFF"/>
          </a:solidFill>
          <a:ln>
            <a:noFill/>
          </a:ln>
        </p:spPr>
        <p:txBody>
          <a:bodyPr/>
          <a:lstStyle/>
          <a:p>
            <a:endParaRPr lang="en-US"/>
          </a:p>
        </p:txBody>
      </p:sp>
      <p:sp>
        <p:nvSpPr>
          <p:cNvPr id="14" name="Status text"/>
          <p:cNvSpPr txBox="1"/>
          <p:nvPr/>
        </p:nvSpPr>
        <p:spPr>
          <a:xfrm>
            <a:off x="4595668" y="4428471"/>
            <a:ext cx="3000261" cy="560000"/>
          </a:xfrm>
          <a:prstGeom prst="rect">
            <a:avLst/>
          </a:prstGeom>
          <a:noFill/>
          <a:ln/>
        </p:spPr>
        <p:txBody>
          <a:bodyPr wrap="square" lIns="0" tIns="0" rIns="0" bIns="0" rtlCol="0" anchor="ctr">
            <a:normAutofit/>
          </a:bodyPr>
          <a:lstStyle/>
          <a:p>
            <a:pPr marL="0" indent="0" algn="l">
              <a:lnSpc>
                <a:spcPct val="120000"/>
              </a:lnSpc>
              <a:spcAft>
                <a:spcPts val="0"/>
              </a:spcAft>
              <a:buNone/>
            </a:pPr>
            <a:r>
              <a:rPr lang="en-US" sz="1200" b="1" dirty="0">
                <a:solidFill>
                  <a:srgbClr val="6E6666"/>
                </a:solidFill>
                <a:latin typeface="Poppins Bold" pitchFamily="34" charset="0"/>
                <a:ea typeface="Poppins Bold" pitchFamily="34" charset="-122"/>
                <a:cs typeface="Poppins Bold" pitchFamily="34" charset="-120"/>
              </a:rPr>
              <a:t>Status: </a:t>
            </a:r>
            <a:r>
              <a:rPr lang="en-US" sz="1200" i="1" dirty="0">
                <a:solidFill>
                  <a:srgbClr val="6E6666"/>
                </a:solidFill>
                <a:latin typeface="Poppins" pitchFamily="34" charset="0"/>
                <a:ea typeface="Poppins" pitchFamily="34" charset="-122"/>
                <a:cs typeface="Poppins" pitchFamily="34" charset="-120"/>
              </a:rPr>
              <a:t>[Submitted / Planned]</a:t>
            </a:r>
            <a:endParaRPr lang="en-US" sz="1200" dirty="0"/>
          </a:p>
        </p:txBody>
      </p:sp>
      <p:sp>
        <p:nvSpPr>
          <p:cNvPr id="15" name="Column card"/>
          <p:cNvSpPr/>
          <p:nvPr/>
        </p:nvSpPr>
        <p:spPr>
          <a:xfrm>
            <a:off x="8050409" y="1578471"/>
            <a:ext cx="3600261" cy="3650000"/>
          </a:xfrm>
          <a:prstGeom prst="roundRect">
            <a:avLst>
              <a:gd name="adj" fmla="val 6000"/>
            </a:avLst>
          </a:prstGeom>
          <a:solidFill>
            <a:srgbClr val="ECDFE3"/>
          </a:solidFill>
          <a:ln>
            <a:noFill/>
          </a:ln>
        </p:spPr>
        <p:txBody>
          <a:bodyPr/>
          <a:lstStyle/>
          <a:p>
            <a:endParaRPr lang="en-US"/>
          </a:p>
        </p:txBody>
      </p:sp>
      <p:sp>
        <p:nvSpPr>
          <p:cNvPr id="16" name="Column heading"/>
          <p:cNvSpPr txBox="1"/>
          <p:nvPr/>
        </p:nvSpPr>
        <p:spPr>
          <a:xfrm>
            <a:off x="8230409" y="1778471"/>
            <a:ext cx="3240261" cy="347067"/>
          </a:xfrm>
          <a:prstGeom prst="rect">
            <a:avLst/>
          </a:prstGeom>
          <a:noFill/>
          <a:ln/>
        </p:spPr>
        <p:txBody>
          <a:bodyPr wrap="square" lIns="0" tIns="0" rIns="0" bIns="0" rtlCol="0" anchor="t">
            <a:normAutofit/>
          </a:bodyPr>
          <a:lstStyle/>
          <a:p>
            <a:pPr marL="0" indent="0" algn="l">
              <a:lnSpc>
                <a:spcPct val="104000"/>
              </a:lnSpc>
              <a:spcAft>
                <a:spcPts val="0"/>
              </a:spcAft>
              <a:buNone/>
            </a:pPr>
            <a:r>
              <a:rPr lang="en-US" sz="2150" dirty="0">
                <a:solidFill>
                  <a:srgbClr val="000000"/>
                </a:solidFill>
                <a:latin typeface="Baskervville" pitchFamily="34" charset="0"/>
                <a:ea typeface="Baskervville" pitchFamily="34" charset="-122"/>
                <a:cs typeface="Baskervville" pitchFamily="34" charset="-120"/>
              </a:rPr>
              <a:t>Validations</a:t>
            </a:r>
            <a:endParaRPr lang="en-US" sz="2150" dirty="0"/>
          </a:p>
        </p:txBody>
      </p:sp>
      <p:cxnSp>
        <p:nvCxnSpPr>
          <p:cNvPr id="17" name="Heading line"/>
          <p:cNvCxnSpPr/>
          <p:nvPr/>
        </p:nvCxnSpPr>
        <p:spPr>
          <a:xfrm>
            <a:off x="8230409" y="2278471"/>
            <a:ext cx="3240261" cy="0"/>
          </a:xfrm>
          <a:prstGeom prst="line">
            <a:avLst/>
          </a:prstGeom>
          <a:ln w="12700">
            <a:solidFill>
              <a:srgbClr val="B79BA6"/>
            </a:solidFill>
          </a:ln>
        </p:spPr>
      </p:cxnSp>
      <p:sp>
        <p:nvSpPr>
          <p:cNvPr id="18" name="Column bullets"/>
          <p:cNvSpPr txBox="1"/>
          <p:nvPr/>
        </p:nvSpPr>
        <p:spPr>
          <a:xfrm>
            <a:off x="8230409" y="2478471"/>
            <a:ext cx="3240261" cy="2250000"/>
          </a:xfrm>
          <a:prstGeom prst="rect">
            <a:avLst/>
          </a:prstGeom>
          <a:noFill/>
          <a:ln/>
        </p:spPr>
        <p:txBody>
          <a:bodyPr wrap="square" lIns="0" tIns="0" rIns="0" bIns="0" rtlCol="0" anchor="t">
            <a:normAutofit/>
          </a:bodyPr>
          <a:lstStyle/>
          <a:p>
            <a:pPr marL="228600" indent="-228600" algn="l">
              <a:lnSpc>
                <a:spcPct val="120000"/>
              </a:lnSpc>
              <a:spcAft>
                <a:spcPts val="600"/>
              </a:spcAft>
              <a:buClr>
                <a:srgbClr val="B79BA6"/>
              </a:buClr>
              <a:buFont typeface="Arial"/>
              <a:buChar char="•"/>
            </a:pPr>
            <a:r>
              <a:rPr lang="en-US" sz="1200" dirty="0">
                <a:solidFill>
                  <a:srgbClr val="6E6666"/>
                </a:solidFill>
                <a:latin typeface="Poppins" pitchFamily="34" charset="0"/>
                <a:ea typeface="Poppins" pitchFamily="34" charset="-122"/>
                <a:cs typeface="Poppins" pitchFamily="34" charset="-120"/>
              </a:rPr>
              <a:t>Clinical psychologist — verified for the general usage</a:t>
            </a:r>
            <a:endParaRPr lang="en-US" sz="1200" dirty="0"/>
          </a:p>
          <a:p>
            <a:pPr marL="228600" indent="-228600" algn="l">
              <a:lnSpc>
                <a:spcPct val="120000"/>
              </a:lnSpc>
              <a:spcAft>
                <a:spcPts val="600"/>
              </a:spcAft>
              <a:buClr>
                <a:srgbClr val="B79BA6"/>
              </a:buClr>
              <a:buFont typeface="Arial"/>
              <a:buChar char="•"/>
            </a:pPr>
            <a:r>
              <a:rPr lang="en-US" sz="1200" dirty="0">
                <a:solidFill>
                  <a:srgbClr val="6E6666"/>
                </a:solidFill>
                <a:latin typeface="Poppins" pitchFamily="34" charset="0"/>
                <a:ea typeface="Poppins" pitchFamily="34" charset="-122"/>
                <a:cs typeface="Poppins" pitchFamily="34" charset="-120"/>
              </a:rPr>
              <a:t>Supervisor — educational effectiveness</a:t>
            </a:r>
            <a:endParaRPr lang="en-US" sz="1200" dirty="0"/>
          </a:p>
          <a:p>
            <a:pPr marL="228600" indent="-228600" algn="l">
              <a:lnSpc>
                <a:spcPct val="120000"/>
              </a:lnSpc>
              <a:spcAft>
                <a:spcPts val="600"/>
              </a:spcAft>
              <a:buClr>
                <a:srgbClr val="B79BA6"/>
              </a:buClr>
              <a:buFont typeface="Arial"/>
              <a:buChar char="•"/>
            </a:pPr>
            <a:r>
              <a:rPr lang="en-US" sz="1200" i="1" dirty="0">
                <a:solidFill>
                  <a:srgbClr val="6E6666"/>
                </a:solidFill>
                <a:latin typeface="Poppins" pitchFamily="34" charset="0"/>
                <a:ea typeface="Poppins" pitchFamily="34" charset="-122"/>
                <a:cs typeface="Poppins" pitchFamily="34" charset="-120"/>
              </a:rPr>
              <a:t>Students — [10] participants</a:t>
            </a:r>
            <a:endParaRPr lang="en-US" sz="1200" dirty="0"/>
          </a:p>
          <a:p>
            <a:pPr marL="228600" indent="-228600" algn="l">
              <a:lnSpc>
                <a:spcPct val="120000"/>
              </a:lnSpc>
              <a:spcAft>
                <a:spcPts val="600"/>
              </a:spcAft>
              <a:buClr>
                <a:srgbClr val="B79BA6"/>
              </a:buClr>
              <a:buFont typeface="Arial"/>
              <a:buChar char="•"/>
            </a:pPr>
            <a:r>
              <a:rPr lang="en-US" sz="1200" dirty="0">
                <a:solidFill>
                  <a:srgbClr val="6E6666"/>
                </a:solidFill>
                <a:latin typeface="Poppins" pitchFamily="34" charset="0"/>
                <a:ea typeface="Poppins" pitchFamily="34" charset="-122"/>
                <a:cs typeface="Poppins" pitchFamily="34" charset="-120"/>
              </a:rPr>
              <a:t>Cross-LLM evaluation</a:t>
            </a:r>
            <a:endParaRPr lang="en-US" sz="1200" dirty="0"/>
          </a:p>
        </p:txBody>
      </p:sp>
      <p:sp>
        <p:nvSpPr>
          <p:cNvPr id="19" name="Status chip"/>
          <p:cNvSpPr/>
          <p:nvPr/>
        </p:nvSpPr>
        <p:spPr>
          <a:xfrm>
            <a:off x="8230409" y="4428471"/>
            <a:ext cx="3240261" cy="560000"/>
          </a:xfrm>
          <a:prstGeom prst="roundRect">
            <a:avLst>
              <a:gd name="adj" fmla="val 30000"/>
            </a:avLst>
          </a:prstGeom>
          <a:solidFill>
            <a:srgbClr val="FFFFFF"/>
          </a:solidFill>
          <a:ln>
            <a:noFill/>
          </a:ln>
        </p:spPr>
        <p:txBody>
          <a:bodyPr/>
          <a:lstStyle/>
          <a:p>
            <a:endParaRPr lang="en-US"/>
          </a:p>
        </p:txBody>
      </p:sp>
      <p:sp>
        <p:nvSpPr>
          <p:cNvPr id="20" name="Status text"/>
          <p:cNvSpPr txBox="1"/>
          <p:nvPr/>
        </p:nvSpPr>
        <p:spPr>
          <a:xfrm>
            <a:off x="8350409" y="4428471"/>
            <a:ext cx="3000261" cy="560000"/>
          </a:xfrm>
          <a:prstGeom prst="rect">
            <a:avLst/>
          </a:prstGeom>
          <a:noFill/>
          <a:ln/>
        </p:spPr>
        <p:txBody>
          <a:bodyPr wrap="square" lIns="0" tIns="0" rIns="0" bIns="0" rtlCol="0" anchor="ctr">
            <a:normAutofit/>
          </a:bodyPr>
          <a:lstStyle/>
          <a:p>
            <a:pPr marL="0" indent="0" algn="l">
              <a:lnSpc>
                <a:spcPct val="120000"/>
              </a:lnSpc>
              <a:spcAft>
                <a:spcPts val="0"/>
              </a:spcAft>
              <a:buNone/>
            </a:pPr>
            <a:r>
              <a:rPr lang="en-US" sz="1200" b="1" dirty="0">
                <a:solidFill>
                  <a:srgbClr val="6E6666"/>
                </a:solidFill>
                <a:latin typeface="Poppins Bold" pitchFamily="34" charset="0"/>
                <a:ea typeface="Poppins Bold" pitchFamily="34" charset="-122"/>
                <a:cs typeface="Poppins Bold" pitchFamily="34" charset="-120"/>
              </a:rPr>
              <a:t>Status: </a:t>
            </a:r>
            <a:r>
              <a:rPr lang="en-US" sz="1200" i="1">
                <a:solidFill>
                  <a:srgbClr val="6E6666"/>
                </a:solidFill>
                <a:latin typeface="Poppins" pitchFamily="34" charset="0"/>
                <a:ea typeface="Poppins" pitchFamily="34" charset="-122"/>
                <a:cs typeface="Poppins" pitchFamily="34" charset="-120"/>
              </a:rPr>
              <a:t>[Complete]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540927" y="757932"/>
            <a:ext cx="6537955" cy="520700"/>
          </a:xfrm>
          <a:prstGeom prst="rect">
            <a:avLst/>
          </a:prstGeom>
          <a:noFill/>
          <a:ln/>
        </p:spPr>
        <p:txBody>
          <a:bodyPr wrap="none" lIns="0" tIns="0" rIns="0" bIns="0" rtlCol="0" anchor="t"/>
          <a:lstStyle/>
          <a:p>
            <a:pPr marL="0" indent="0" algn="l">
              <a:lnSpc>
                <a:spcPct val="104000"/>
              </a:lnSpc>
              <a:buNone/>
            </a:pPr>
            <a:r>
              <a:rPr lang="en-US" sz="3250" dirty="0">
                <a:solidFill>
                  <a:srgbClr val="787878"/>
                </a:solidFill>
                <a:latin typeface="Baskervville" pitchFamily="34" charset="0"/>
                <a:ea typeface="Baskervville" pitchFamily="34" charset="-122"/>
                <a:cs typeface="Baskervville" pitchFamily="34" charset="-120"/>
              </a:rPr>
              <a:t>Solution Overview &amp; Architecture</a:t>
            </a:r>
            <a:endParaRPr lang="en-US" sz="325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0927" y="1409005"/>
            <a:ext cx="6537955" cy="1229221"/>
          </a:xfrm>
          <a:prstGeom prst="rect">
            <a:avLst/>
          </a:prstGeom>
        </p:spPr>
      </p:pic>
      <p:pic>
        <p:nvPicPr>
          <p:cNvPr id="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40304" y="1513284"/>
            <a:ext cx="139101" cy="139105"/>
          </a:xfrm>
          <a:prstGeom prst="rect">
            <a:avLst/>
          </a:prstGeom>
        </p:spPr>
      </p:pic>
      <p:sp>
        <p:nvSpPr>
          <p:cNvPr id="6" name="Text 1"/>
          <p:cNvSpPr/>
          <p:nvPr/>
        </p:nvSpPr>
        <p:spPr>
          <a:xfrm>
            <a:off x="669511" y="1872655"/>
            <a:ext cx="6280787" cy="260449"/>
          </a:xfrm>
          <a:prstGeom prst="rect">
            <a:avLst/>
          </a:prstGeom>
          <a:noFill/>
          <a:ln/>
        </p:spPr>
        <p:txBody>
          <a:bodyPr wrap="none" lIns="0" tIns="0" rIns="0" bIns="0" rtlCol="0" anchor="t"/>
          <a:lstStyle/>
          <a:p>
            <a:pPr marL="0" indent="0" algn="l">
              <a:lnSpc>
                <a:spcPct val="104000"/>
              </a:lnSpc>
              <a:buNone/>
            </a:pPr>
            <a:r>
              <a:rPr lang="en-US" sz="1600" dirty="0">
                <a:solidFill>
                  <a:srgbClr val="6E6666"/>
                </a:solidFill>
                <a:latin typeface="Baskervville" pitchFamily="34" charset="0"/>
                <a:ea typeface="Baskervville" pitchFamily="34" charset="-122"/>
                <a:cs typeface="Baskervville" pitchFamily="34" charset="-120"/>
              </a:rPr>
              <a:t>Hallucination‑Controlled Tutor (Sonal)</a:t>
            </a:r>
            <a:endParaRPr lang="en-US" sz="1600" dirty="0"/>
          </a:p>
        </p:txBody>
      </p:sp>
      <p:sp>
        <p:nvSpPr>
          <p:cNvPr id="7" name="Text 2"/>
          <p:cNvSpPr/>
          <p:nvPr/>
        </p:nvSpPr>
        <p:spPr>
          <a:xfrm>
            <a:off x="669511" y="2185194"/>
            <a:ext cx="6280787" cy="324445"/>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6E6666"/>
                </a:solidFill>
                <a:latin typeface="Poppins" pitchFamily="34" charset="0"/>
                <a:ea typeface="Poppins" pitchFamily="34" charset="-122"/>
                <a:cs typeface="Poppins" pitchFamily="34" charset="-120"/>
              </a:rPr>
              <a:t>RAG pipeline + FAISS/ChromaDB + uncertainty estimation to ground answers and flag low‑confidence replies.</a:t>
            </a:r>
            <a:endParaRPr lang="en-US" sz="900" dirty="0"/>
          </a:p>
        </p:txBody>
      </p:sp>
      <p:pic>
        <p:nvPicPr>
          <p:cNvPr id="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0927" y="2725142"/>
            <a:ext cx="6537955" cy="1066998"/>
          </a:xfrm>
          <a:prstGeom prst="rect">
            <a:avLst/>
          </a:prstGeom>
        </p:spPr>
      </p:pic>
      <p:pic>
        <p:nvPicPr>
          <p:cNvPr id="9"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40304" y="2829421"/>
            <a:ext cx="139101" cy="139105"/>
          </a:xfrm>
          <a:prstGeom prst="rect">
            <a:avLst/>
          </a:prstGeom>
        </p:spPr>
      </p:pic>
      <p:sp>
        <p:nvSpPr>
          <p:cNvPr id="10" name="Text 3"/>
          <p:cNvSpPr/>
          <p:nvPr/>
        </p:nvSpPr>
        <p:spPr>
          <a:xfrm>
            <a:off x="669511" y="3188791"/>
            <a:ext cx="6280787" cy="260449"/>
          </a:xfrm>
          <a:prstGeom prst="rect">
            <a:avLst/>
          </a:prstGeom>
          <a:noFill/>
          <a:ln/>
        </p:spPr>
        <p:txBody>
          <a:bodyPr wrap="none" lIns="0" tIns="0" rIns="0" bIns="0" rtlCol="0" anchor="t"/>
          <a:lstStyle/>
          <a:p>
            <a:pPr marL="0" indent="0" algn="l">
              <a:lnSpc>
                <a:spcPct val="104000"/>
              </a:lnSpc>
              <a:buNone/>
            </a:pPr>
            <a:r>
              <a:rPr lang="en-US" sz="1600" dirty="0">
                <a:solidFill>
                  <a:srgbClr val="6E6666"/>
                </a:solidFill>
                <a:latin typeface="Baskervville" pitchFamily="34" charset="0"/>
                <a:ea typeface="Baskervville" pitchFamily="34" charset="-122"/>
                <a:cs typeface="Baskervville" pitchFamily="34" charset="-120"/>
              </a:rPr>
              <a:t>Objective‑Aware Summarization (Vijithapala)</a:t>
            </a:r>
            <a:endParaRPr lang="en-US" sz="1600" dirty="0"/>
          </a:p>
        </p:txBody>
      </p:sp>
      <p:sp>
        <p:nvSpPr>
          <p:cNvPr id="11" name="Text 4"/>
          <p:cNvSpPr/>
          <p:nvPr/>
        </p:nvSpPr>
        <p:spPr>
          <a:xfrm>
            <a:off x="669511" y="3501330"/>
            <a:ext cx="6280787" cy="162223"/>
          </a:xfrm>
          <a:prstGeom prst="rect">
            <a:avLst/>
          </a:prstGeom>
          <a:noFill/>
          <a:ln/>
        </p:spPr>
        <p:txBody>
          <a:bodyPr wrap="none" lIns="0" tIns="0" rIns="0" bIns="0" rtlCol="0" anchor="t"/>
          <a:lstStyle/>
          <a:p>
            <a:pPr marL="0" indent="0" algn="l">
              <a:lnSpc>
                <a:spcPct val="117000"/>
              </a:lnSpc>
              <a:buNone/>
            </a:pPr>
            <a:r>
              <a:rPr lang="en-US" sz="900" dirty="0">
                <a:solidFill>
                  <a:srgbClr val="6E6666"/>
                </a:solidFill>
                <a:latin typeface="Poppins" pitchFamily="34" charset="0"/>
                <a:ea typeface="Poppins" pitchFamily="34" charset="-122"/>
                <a:cs typeface="Poppins" pitchFamily="34" charset="-120"/>
              </a:rPr>
              <a:t>BART/T5 semantic extraction to produce syllabus‑aligned summaries and flashcards.</a:t>
            </a:r>
            <a:endParaRPr lang="en-US" sz="900" dirty="0"/>
          </a:p>
        </p:txBody>
      </p:sp>
      <p:pic>
        <p:nvPicPr>
          <p:cNvPr id="12"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0927" y="3879056"/>
            <a:ext cx="6537955" cy="1066998"/>
          </a:xfrm>
          <a:prstGeom prst="rect">
            <a:avLst/>
          </a:prstGeom>
        </p:spPr>
      </p:pic>
      <p:pic>
        <p:nvPicPr>
          <p:cNvPr id="13" name="Image 6"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740304" y="3983335"/>
            <a:ext cx="139101" cy="139105"/>
          </a:xfrm>
          <a:prstGeom prst="rect">
            <a:avLst/>
          </a:prstGeom>
        </p:spPr>
      </p:pic>
      <p:sp>
        <p:nvSpPr>
          <p:cNvPr id="14" name="Text 5"/>
          <p:cNvSpPr/>
          <p:nvPr/>
        </p:nvSpPr>
        <p:spPr>
          <a:xfrm>
            <a:off x="669511" y="4342705"/>
            <a:ext cx="6280787" cy="260449"/>
          </a:xfrm>
          <a:prstGeom prst="rect">
            <a:avLst/>
          </a:prstGeom>
          <a:noFill/>
          <a:ln/>
        </p:spPr>
        <p:txBody>
          <a:bodyPr wrap="none" lIns="0" tIns="0" rIns="0" bIns="0" rtlCol="0" anchor="t"/>
          <a:lstStyle/>
          <a:p>
            <a:pPr marL="0" indent="0" algn="l">
              <a:lnSpc>
                <a:spcPct val="104000"/>
              </a:lnSpc>
              <a:buNone/>
            </a:pPr>
            <a:r>
              <a:rPr lang="en-US" sz="1600" dirty="0">
                <a:solidFill>
                  <a:srgbClr val="6E6666"/>
                </a:solidFill>
                <a:latin typeface="Baskervville" pitchFamily="34" charset="0"/>
                <a:ea typeface="Baskervville" pitchFamily="34" charset="-122"/>
                <a:cs typeface="Baskervville" pitchFamily="34" charset="-120"/>
              </a:rPr>
              <a:t>Affect &amp; Attention Detection (Mihiraj)</a:t>
            </a:r>
            <a:endParaRPr lang="en-US" sz="1600" dirty="0"/>
          </a:p>
        </p:txBody>
      </p:sp>
      <p:sp>
        <p:nvSpPr>
          <p:cNvPr id="15" name="Text 6"/>
          <p:cNvSpPr/>
          <p:nvPr/>
        </p:nvSpPr>
        <p:spPr>
          <a:xfrm>
            <a:off x="669511" y="4655245"/>
            <a:ext cx="6280787" cy="162223"/>
          </a:xfrm>
          <a:prstGeom prst="rect">
            <a:avLst/>
          </a:prstGeom>
          <a:noFill/>
          <a:ln/>
        </p:spPr>
        <p:txBody>
          <a:bodyPr wrap="none" lIns="0" tIns="0" rIns="0" bIns="0" rtlCol="0" anchor="t"/>
          <a:lstStyle/>
          <a:p>
            <a:pPr marL="0" indent="0" algn="l">
              <a:lnSpc>
                <a:spcPct val="117000"/>
              </a:lnSpc>
              <a:buNone/>
            </a:pPr>
            <a:r>
              <a:rPr lang="en-US" sz="900" dirty="0">
                <a:solidFill>
                  <a:srgbClr val="6E6666"/>
                </a:solidFill>
                <a:latin typeface="Poppins" pitchFamily="34" charset="0"/>
                <a:ea typeface="Poppins" pitchFamily="34" charset="-122"/>
                <a:cs typeface="Poppins" pitchFamily="34" charset="-120"/>
              </a:rPr>
              <a:t>MediaPipe Face Mesh → EAR metric; lightweight, in‑memory, privacy preserving.</a:t>
            </a:r>
            <a:endParaRPr lang="en-US" sz="900" dirty="0"/>
          </a:p>
        </p:txBody>
      </p:sp>
      <p:pic>
        <p:nvPicPr>
          <p:cNvPr id="16" name="Image 7"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0927" y="5032970"/>
            <a:ext cx="6537955" cy="1066998"/>
          </a:xfrm>
          <a:prstGeom prst="rect">
            <a:avLst/>
          </a:prstGeom>
        </p:spPr>
      </p:pic>
      <p:pic>
        <p:nvPicPr>
          <p:cNvPr id="17" name="Image 8"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740304" y="5137249"/>
            <a:ext cx="139101" cy="139105"/>
          </a:xfrm>
          <a:prstGeom prst="rect">
            <a:avLst/>
          </a:prstGeom>
        </p:spPr>
      </p:pic>
      <p:sp>
        <p:nvSpPr>
          <p:cNvPr id="18" name="Text 7"/>
          <p:cNvSpPr/>
          <p:nvPr/>
        </p:nvSpPr>
        <p:spPr>
          <a:xfrm>
            <a:off x="669511" y="5496620"/>
            <a:ext cx="6280787" cy="260449"/>
          </a:xfrm>
          <a:prstGeom prst="rect">
            <a:avLst/>
          </a:prstGeom>
          <a:noFill/>
          <a:ln/>
        </p:spPr>
        <p:txBody>
          <a:bodyPr wrap="none" lIns="0" tIns="0" rIns="0" bIns="0" rtlCol="0" anchor="t"/>
          <a:lstStyle/>
          <a:p>
            <a:pPr marL="0" indent="0" algn="l">
              <a:lnSpc>
                <a:spcPct val="104000"/>
              </a:lnSpc>
              <a:buNone/>
            </a:pPr>
            <a:r>
              <a:rPr lang="en-US" sz="1600" dirty="0">
                <a:solidFill>
                  <a:srgbClr val="6E6666"/>
                </a:solidFill>
                <a:latin typeface="Baskervville" pitchFamily="34" charset="0"/>
                <a:ea typeface="Baskervville" pitchFamily="34" charset="-122"/>
                <a:cs typeface="Baskervville" pitchFamily="34" charset="-120"/>
              </a:rPr>
              <a:t>Adaptive Scheduler (Thathsara)</a:t>
            </a:r>
            <a:endParaRPr lang="en-US" sz="1600" dirty="0"/>
          </a:p>
        </p:txBody>
      </p:sp>
      <p:sp>
        <p:nvSpPr>
          <p:cNvPr id="19" name="Text 8"/>
          <p:cNvSpPr/>
          <p:nvPr/>
        </p:nvSpPr>
        <p:spPr>
          <a:xfrm>
            <a:off x="669511" y="5809159"/>
            <a:ext cx="6280787" cy="162223"/>
          </a:xfrm>
          <a:prstGeom prst="rect">
            <a:avLst/>
          </a:prstGeom>
          <a:noFill/>
          <a:ln/>
        </p:spPr>
        <p:txBody>
          <a:bodyPr wrap="none" lIns="0" tIns="0" rIns="0" bIns="0" rtlCol="0" anchor="t"/>
          <a:lstStyle/>
          <a:p>
            <a:pPr marL="0" indent="0" algn="l">
              <a:lnSpc>
                <a:spcPct val="117000"/>
              </a:lnSpc>
              <a:buNone/>
            </a:pPr>
            <a:r>
              <a:rPr lang="en-US" sz="900" dirty="0">
                <a:solidFill>
                  <a:srgbClr val="6E6666"/>
                </a:solidFill>
                <a:latin typeface="Poppins" pitchFamily="34" charset="0"/>
                <a:ea typeface="Poppins" pitchFamily="34" charset="-122"/>
                <a:cs typeface="Poppins" pitchFamily="34" charset="-120"/>
              </a:rPr>
              <a:t>Contextual bandit RL fusing SM‑2 memory decay + emotion embeddings to time reviews and breaks.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0927" y="478532"/>
            <a:ext cx="11109841" cy="694333"/>
          </a:xfrm>
          <a:prstGeom prst="rect">
            <a:avLst/>
          </a:prstGeom>
          <a:noFill/>
          <a:ln/>
        </p:spPr>
        <p:txBody>
          <a:bodyPr wrap="square" lIns="0" tIns="0" rIns="0" bIns="0" rtlCol="0" anchor="t">
            <a:normAutofit/>
          </a:bodyPr>
          <a:lstStyle/>
          <a:p>
            <a:pPr marL="0" indent="0" algn="l">
              <a:lnSpc>
                <a:spcPct val="104000"/>
              </a:lnSpc>
              <a:spcAft>
                <a:spcPts val="0"/>
              </a:spcAft>
              <a:buNone/>
            </a:pPr>
            <a:r>
              <a:rPr lang="en-US" sz="4350" dirty="0">
                <a:solidFill>
                  <a:srgbClr val="787878"/>
                </a:solidFill>
                <a:latin typeface="Baskervville" pitchFamily="34" charset="0"/>
                <a:ea typeface="Baskervville" pitchFamily="34" charset="-122"/>
                <a:cs typeface="Baskervville" pitchFamily="34" charset="-120"/>
              </a:rPr>
              <a:t>Commercial Impact</a:t>
            </a:r>
            <a:endParaRPr lang="en-US" sz="4350" dirty="0"/>
          </a:p>
        </p:txBody>
      </p:sp>
      <p:sp>
        <p:nvSpPr>
          <p:cNvPr id="3" name="Intro"/>
          <p:cNvSpPr txBox="1"/>
          <p:nvPr/>
        </p:nvSpPr>
        <p:spPr>
          <a:xfrm>
            <a:off x="540927" y="1330000"/>
            <a:ext cx="11109841" cy="30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The commercial case for AuraLearn across the whole education ecosystem.</a:t>
            </a:r>
            <a:endParaRPr lang="en-US" sz="1200" dirty="0"/>
          </a:p>
        </p:txBody>
      </p:sp>
      <p:sp>
        <p:nvSpPr>
          <p:cNvPr id="4" name="Impact card"/>
          <p:cNvSpPr/>
          <p:nvPr/>
        </p:nvSpPr>
        <p:spPr>
          <a:xfrm>
            <a:off x="540927" y="1800000"/>
            <a:ext cx="3590000" cy="1700000"/>
          </a:xfrm>
          <a:prstGeom prst="roundRect">
            <a:avLst>
              <a:gd name="adj" fmla="val 8000"/>
            </a:avLst>
          </a:prstGeom>
          <a:solidFill>
            <a:srgbClr val="ECDFE3"/>
          </a:solidFill>
          <a:ln>
            <a:noFill/>
          </a:ln>
        </p:spPr>
        <p:txBody>
          <a:bodyPr/>
          <a:lstStyle/>
          <a:p>
            <a:endParaRPr lang="en-US"/>
          </a:p>
        </p:txBody>
      </p:sp>
      <p:sp>
        <p:nvSpPr>
          <p:cNvPr id="5" name="Number"/>
          <p:cNvSpPr/>
          <p:nvPr/>
        </p:nvSpPr>
        <p:spPr>
          <a:xfrm>
            <a:off x="710927" y="1970000"/>
            <a:ext cx="380000" cy="380000"/>
          </a:xfrm>
          <a:prstGeom prst="ellipse">
            <a:avLst/>
          </a:prstGeom>
          <a:solidFill>
            <a:srgbClr val="B79BA6"/>
          </a:solidFill>
          <a:ln>
            <a:noFill/>
          </a:ln>
        </p:spPr>
        <p:txBody>
          <a:bodyPr/>
          <a:lstStyle/>
          <a:p>
            <a:endParaRPr lang="en-US"/>
          </a:p>
        </p:txBody>
      </p:sp>
      <p:sp>
        <p:nvSpPr>
          <p:cNvPr id="6" name="Number label"/>
          <p:cNvSpPr txBox="1"/>
          <p:nvPr/>
        </p:nvSpPr>
        <p:spPr>
          <a:xfrm>
            <a:off x="710927" y="1970000"/>
            <a:ext cx="380000" cy="380000"/>
          </a:xfrm>
          <a:prstGeom prst="rect">
            <a:avLst/>
          </a:prstGeom>
          <a:noFill/>
          <a:ln/>
        </p:spPr>
        <p:txBody>
          <a:bodyPr wrap="square" lIns="0" tIns="0" rIns="0" bIns="0" rtlCol="0" anchor="ctr">
            <a:normAutofit/>
          </a:bodyPr>
          <a:lstStyle/>
          <a:p>
            <a:pPr marL="0" indent="0" algn="ctr">
              <a:lnSpc>
                <a:spcPct val="100000"/>
              </a:lnSpc>
              <a:spcAft>
                <a:spcPts val="0"/>
              </a:spcAft>
              <a:buNone/>
            </a:pPr>
            <a:r>
              <a:rPr lang="en-US" sz="1200" dirty="0">
                <a:solidFill>
                  <a:srgbClr val="FFFFFF"/>
                </a:solidFill>
                <a:latin typeface="Poppins Bold" pitchFamily="34" charset="0"/>
                <a:ea typeface="Poppins Bold" pitchFamily="34" charset="-122"/>
                <a:cs typeface="Poppins Bold" pitchFamily="34" charset="-120"/>
              </a:rPr>
              <a:t>1</a:t>
            </a:r>
            <a:endParaRPr lang="en-US" sz="1200" dirty="0"/>
          </a:p>
        </p:txBody>
      </p:sp>
      <p:sp>
        <p:nvSpPr>
          <p:cNvPr id="7" name="Card heading"/>
          <p:cNvSpPr txBox="1"/>
          <p:nvPr/>
        </p:nvSpPr>
        <p:spPr>
          <a:xfrm>
            <a:off x="1240927" y="1990000"/>
            <a:ext cx="2720000" cy="347067"/>
          </a:xfrm>
          <a:prstGeom prst="rect">
            <a:avLst/>
          </a:prstGeom>
          <a:noFill/>
          <a:ln/>
        </p:spPr>
        <p:txBody>
          <a:bodyPr wrap="square" lIns="0" tIns="0" rIns="0" bIns="0" rtlCol="0" anchor="ctr">
            <a:normAutofit/>
          </a:bodyPr>
          <a:lstStyle/>
          <a:p>
            <a:pPr marL="0" indent="0" algn="l">
              <a:lnSpc>
                <a:spcPct val="104000"/>
              </a:lnSpc>
              <a:spcAft>
                <a:spcPts val="0"/>
              </a:spcAft>
              <a:buNone/>
            </a:pPr>
            <a:r>
              <a:rPr lang="en-US" sz="1950" dirty="0">
                <a:solidFill>
                  <a:srgbClr val="000000"/>
                </a:solidFill>
                <a:latin typeface="Baskervville" pitchFamily="34" charset="0"/>
                <a:ea typeface="Baskervville" pitchFamily="34" charset="-122"/>
                <a:cs typeface="Baskervville" pitchFamily="34" charset="-120"/>
              </a:rPr>
              <a:t>Growing demand</a:t>
            </a:r>
            <a:endParaRPr lang="en-US" sz="1950" dirty="0"/>
          </a:p>
        </p:txBody>
      </p:sp>
      <p:sp>
        <p:nvSpPr>
          <p:cNvPr id="8" name="Card body"/>
          <p:cNvSpPr txBox="1"/>
          <p:nvPr/>
        </p:nvSpPr>
        <p:spPr>
          <a:xfrm>
            <a:off x="710927" y="2520000"/>
            <a:ext cx="3250000" cy="85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Rising need for personalised, AI-enabled study support in education.</a:t>
            </a:r>
            <a:endParaRPr lang="en-US" sz="1200" dirty="0"/>
          </a:p>
        </p:txBody>
      </p:sp>
      <p:sp>
        <p:nvSpPr>
          <p:cNvPr id="9" name="Impact card"/>
          <p:cNvSpPr/>
          <p:nvPr/>
        </p:nvSpPr>
        <p:spPr>
          <a:xfrm>
            <a:off x="4300927" y="1800000"/>
            <a:ext cx="3590000" cy="1700000"/>
          </a:xfrm>
          <a:prstGeom prst="roundRect">
            <a:avLst>
              <a:gd name="adj" fmla="val 8000"/>
            </a:avLst>
          </a:prstGeom>
          <a:solidFill>
            <a:srgbClr val="ECDFE3"/>
          </a:solidFill>
          <a:ln>
            <a:noFill/>
          </a:ln>
        </p:spPr>
        <p:txBody>
          <a:bodyPr/>
          <a:lstStyle/>
          <a:p>
            <a:endParaRPr lang="en-US"/>
          </a:p>
        </p:txBody>
      </p:sp>
      <p:sp>
        <p:nvSpPr>
          <p:cNvPr id="10" name="Number"/>
          <p:cNvSpPr/>
          <p:nvPr/>
        </p:nvSpPr>
        <p:spPr>
          <a:xfrm>
            <a:off x="4470927" y="1970000"/>
            <a:ext cx="380000" cy="380000"/>
          </a:xfrm>
          <a:prstGeom prst="ellipse">
            <a:avLst/>
          </a:prstGeom>
          <a:solidFill>
            <a:srgbClr val="B79BA6"/>
          </a:solidFill>
          <a:ln>
            <a:noFill/>
          </a:ln>
        </p:spPr>
        <p:txBody>
          <a:bodyPr/>
          <a:lstStyle/>
          <a:p>
            <a:endParaRPr lang="en-US"/>
          </a:p>
        </p:txBody>
      </p:sp>
      <p:sp>
        <p:nvSpPr>
          <p:cNvPr id="11" name="Number label"/>
          <p:cNvSpPr txBox="1"/>
          <p:nvPr/>
        </p:nvSpPr>
        <p:spPr>
          <a:xfrm>
            <a:off x="4470927" y="1970000"/>
            <a:ext cx="380000" cy="380000"/>
          </a:xfrm>
          <a:prstGeom prst="rect">
            <a:avLst/>
          </a:prstGeom>
          <a:noFill/>
          <a:ln/>
        </p:spPr>
        <p:txBody>
          <a:bodyPr wrap="square" lIns="0" tIns="0" rIns="0" bIns="0" rtlCol="0" anchor="ctr">
            <a:normAutofit/>
          </a:bodyPr>
          <a:lstStyle/>
          <a:p>
            <a:pPr marL="0" indent="0" algn="ctr">
              <a:lnSpc>
                <a:spcPct val="100000"/>
              </a:lnSpc>
              <a:spcAft>
                <a:spcPts val="0"/>
              </a:spcAft>
              <a:buNone/>
            </a:pPr>
            <a:r>
              <a:rPr lang="en-US" sz="1200" dirty="0">
                <a:solidFill>
                  <a:srgbClr val="FFFFFF"/>
                </a:solidFill>
                <a:latin typeface="Poppins Bold" pitchFamily="34" charset="0"/>
                <a:ea typeface="Poppins Bold" pitchFamily="34" charset="-122"/>
                <a:cs typeface="Poppins Bold" pitchFamily="34" charset="-120"/>
              </a:rPr>
              <a:t>2</a:t>
            </a:r>
            <a:endParaRPr lang="en-US" sz="1200" dirty="0"/>
          </a:p>
        </p:txBody>
      </p:sp>
      <p:sp>
        <p:nvSpPr>
          <p:cNvPr id="12" name="Card heading"/>
          <p:cNvSpPr txBox="1"/>
          <p:nvPr/>
        </p:nvSpPr>
        <p:spPr>
          <a:xfrm>
            <a:off x="5000927" y="1990000"/>
            <a:ext cx="2720000" cy="347067"/>
          </a:xfrm>
          <a:prstGeom prst="rect">
            <a:avLst/>
          </a:prstGeom>
          <a:noFill/>
          <a:ln/>
        </p:spPr>
        <p:txBody>
          <a:bodyPr wrap="square" lIns="0" tIns="0" rIns="0" bIns="0" rtlCol="0" anchor="ctr">
            <a:normAutofit fontScale="92500"/>
          </a:bodyPr>
          <a:lstStyle/>
          <a:p>
            <a:pPr marL="0" indent="0" algn="l">
              <a:lnSpc>
                <a:spcPct val="104000"/>
              </a:lnSpc>
              <a:spcAft>
                <a:spcPts val="0"/>
              </a:spcAft>
              <a:buNone/>
            </a:pPr>
            <a:r>
              <a:rPr lang="en-US" sz="1950" dirty="0">
                <a:solidFill>
                  <a:srgbClr val="000000"/>
                </a:solidFill>
                <a:latin typeface="Baskervville" pitchFamily="34" charset="0"/>
                <a:ea typeface="Baskervville" pitchFamily="34" charset="-122"/>
                <a:cs typeface="Baskervville" pitchFamily="34" charset="-120"/>
              </a:rPr>
              <a:t>Multiple revenue streams</a:t>
            </a:r>
            <a:endParaRPr lang="en-US" sz="1950" dirty="0"/>
          </a:p>
        </p:txBody>
      </p:sp>
      <p:sp>
        <p:nvSpPr>
          <p:cNvPr id="13" name="Card body"/>
          <p:cNvSpPr txBox="1"/>
          <p:nvPr/>
        </p:nvSpPr>
        <p:spPr>
          <a:xfrm>
            <a:off x="4470927" y="2520000"/>
            <a:ext cx="3250000" cy="85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B2B SaaS, freemium B2C with premium analytics, and LMS licensing.</a:t>
            </a:r>
            <a:endParaRPr lang="en-US" sz="1200" dirty="0"/>
          </a:p>
        </p:txBody>
      </p:sp>
      <p:sp>
        <p:nvSpPr>
          <p:cNvPr id="14" name="Impact card"/>
          <p:cNvSpPr/>
          <p:nvPr/>
        </p:nvSpPr>
        <p:spPr>
          <a:xfrm>
            <a:off x="8060927" y="1800000"/>
            <a:ext cx="3590000" cy="1700000"/>
          </a:xfrm>
          <a:prstGeom prst="roundRect">
            <a:avLst>
              <a:gd name="adj" fmla="val 8000"/>
            </a:avLst>
          </a:prstGeom>
          <a:solidFill>
            <a:srgbClr val="ECDFE3"/>
          </a:solidFill>
          <a:ln>
            <a:noFill/>
          </a:ln>
        </p:spPr>
        <p:txBody>
          <a:bodyPr/>
          <a:lstStyle/>
          <a:p>
            <a:endParaRPr lang="en-US"/>
          </a:p>
        </p:txBody>
      </p:sp>
      <p:sp>
        <p:nvSpPr>
          <p:cNvPr id="15" name="Number"/>
          <p:cNvSpPr/>
          <p:nvPr/>
        </p:nvSpPr>
        <p:spPr>
          <a:xfrm>
            <a:off x="8230927" y="1970000"/>
            <a:ext cx="380000" cy="380000"/>
          </a:xfrm>
          <a:prstGeom prst="ellipse">
            <a:avLst/>
          </a:prstGeom>
          <a:solidFill>
            <a:srgbClr val="B79BA6"/>
          </a:solidFill>
          <a:ln>
            <a:noFill/>
          </a:ln>
        </p:spPr>
        <p:txBody>
          <a:bodyPr/>
          <a:lstStyle/>
          <a:p>
            <a:endParaRPr lang="en-US"/>
          </a:p>
        </p:txBody>
      </p:sp>
      <p:sp>
        <p:nvSpPr>
          <p:cNvPr id="16" name="Number label"/>
          <p:cNvSpPr txBox="1"/>
          <p:nvPr/>
        </p:nvSpPr>
        <p:spPr>
          <a:xfrm>
            <a:off x="8230927" y="1970000"/>
            <a:ext cx="380000" cy="380000"/>
          </a:xfrm>
          <a:prstGeom prst="rect">
            <a:avLst/>
          </a:prstGeom>
          <a:noFill/>
          <a:ln/>
        </p:spPr>
        <p:txBody>
          <a:bodyPr wrap="square" lIns="0" tIns="0" rIns="0" bIns="0" rtlCol="0" anchor="ctr">
            <a:normAutofit/>
          </a:bodyPr>
          <a:lstStyle/>
          <a:p>
            <a:pPr marL="0" indent="0" algn="ctr">
              <a:lnSpc>
                <a:spcPct val="100000"/>
              </a:lnSpc>
              <a:spcAft>
                <a:spcPts val="0"/>
              </a:spcAft>
              <a:buNone/>
            </a:pPr>
            <a:r>
              <a:rPr lang="en-US" sz="1200" dirty="0">
                <a:solidFill>
                  <a:srgbClr val="FFFFFF"/>
                </a:solidFill>
                <a:latin typeface="Poppins Bold" pitchFamily="34" charset="0"/>
                <a:ea typeface="Poppins Bold" pitchFamily="34" charset="-122"/>
                <a:cs typeface="Poppins Bold" pitchFamily="34" charset="-120"/>
              </a:rPr>
              <a:t>3</a:t>
            </a:r>
            <a:endParaRPr lang="en-US" sz="1200" dirty="0"/>
          </a:p>
        </p:txBody>
      </p:sp>
      <p:sp>
        <p:nvSpPr>
          <p:cNvPr id="17" name="Card heading"/>
          <p:cNvSpPr txBox="1"/>
          <p:nvPr/>
        </p:nvSpPr>
        <p:spPr>
          <a:xfrm>
            <a:off x="8760927" y="1990000"/>
            <a:ext cx="2720000" cy="347067"/>
          </a:xfrm>
          <a:prstGeom prst="rect">
            <a:avLst/>
          </a:prstGeom>
          <a:noFill/>
          <a:ln/>
        </p:spPr>
        <p:txBody>
          <a:bodyPr wrap="square" lIns="0" tIns="0" rIns="0" bIns="0" rtlCol="0" anchor="ctr">
            <a:normAutofit/>
          </a:bodyPr>
          <a:lstStyle/>
          <a:p>
            <a:pPr marL="0" indent="0" algn="l">
              <a:lnSpc>
                <a:spcPct val="104000"/>
              </a:lnSpc>
              <a:spcAft>
                <a:spcPts val="0"/>
              </a:spcAft>
              <a:buNone/>
            </a:pPr>
            <a:r>
              <a:rPr lang="en-US" sz="1950" dirty="0">
                <a:solidFill>
                  <a:srgbClr val="000000"/>
                </a:solidFill>
                <a:latin typeface="Baskervville" pitchFamily="34" charset="0"/>
                <a:ea typeface="Baskervville" pitchFamily="34" charset="-122"/>
                <a:cs typeface="Baskervville" pitchFamily="34" charset="-120"/>
              </a:rPr>
              <a:t>Scalable at low cost</a:t>
            </a:r>
            <a:endParaRPr lang="en-US" sz="1950" dirty="0"/>
          </a:p>
        </p:txBody>
      </p:sp>
      <p:sp>
        <p:nvSpPr>
          <p:cNvPr id="18" name="Card body"/>
          <p:cNvSpPr txBox="1"/>
          <p:nvPr/>
        </p:nvSpPr>
        <p:spPr>
          <a:xfrm>
            <a:off x="8230927" y="2520000"/>
            <a:ext cx="3250000" cy="85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Lightweight models and microservices run on low-spec laptops.</a:t>
            </a:r>
            <a:endParaRPr lang="en-US" sz="1200" dirty="0"/>
          </a:p>
        </p:txBody>
      </p:sp>
      <p:sp>
        <p:nvSpPr>
          <p:cNvPr id="19" name="Impact card"/>
          <p:cNvSpPr/>
          <p:nvPr/>
        </p:nvSpPr>
        <p:spPr>
          <a:xfrm>
            <a:off x="540927" y="3650000"/>
            <a:ext cx="3590000" cy="1700000"/>
          </a:xfrm>
          <a:prstGeom prst="roundRect">
            <a:avLst>
              <a:gd name="adj" fmla="val 8000"/>
            </a:avLst>
          </a:prstGeom>
          <a:solidFill>
            <a:srgbClr val="ECDFE3"/>
          </a:solidFill>
          <a:ln>
            <a:noFill/>
          </a:ln>
        </p:spPr>
        <p:txBody>
          <a:bodyPr/>
          <a:lstStyle/>
          <a:p>
            <a:endParaRPr lang="en-US"/>
          </a:p>
        </p:txBody>
      </p:sp>
      <p:sp>
        <p:nvSpPr>
          <p:cNvPr id="20" name="Number"/>
          <p:cNvSpPr/>
          <p:nvPr/>
        </p:nvSpPr>
        <p:spPr>
          <a:xfrm>
            <a:off x="710927" y="3820000"/>
            <a:ext cx="380000" cy="380000"/>
          </a:xfrm>
          <a:prstGeom prst="ellipse">
            <a:avLst/>
          </a:prstGeom>
          <a:solidFill>
            <a:srgbClr val="B79BA6"/>
          </a:solidFill>
          <a:ln>
            <a:noFill/>
          </a:ln>
        </p:spPr>
        <p:txBody>
          <a:bodyPr/>
          <a:lstStyle/>
          <a:p>
            <a:endParaRPr lang="en-US"/>
          </a:p>
        </p:txBody>
      </p:sp>
      <p:sp>
        <p:nvSpPr>
          <p:cNvPr id="21" name="Number label"/>
          <p:cNvSpPr txBox="1"/>
          <p:nvPr/>
        </p:nvSpPr>
        <p:spPr>
          <a:xfrm>
            <a:off x="710927" y="3820000"/>
            <a:ext cx="380000" cy="380000"/>
          </a:xfrm>
          <a:prstGeom prst="rect">
            <a:avLst/>
          </a:prstGeom>
          <a:noFill/>
          <a:ln/>
        </p:spPr>
        <p:txBody>
          <a:bodyPr wrap="square" lIns="0" tIns="0" rIns="0" bIns="0" rtlCol="0" anchor="ctr">
            <a:normAutofit/>
          </a:bodyPr>
          <a:lstStyle/>
          <a:p>
            <a:pPr marL="0" indent="0" algn="ctr">
              <a:lnSpc>
                <a:spcPct val="100000"/>
              </a:lnSpc>
              <a:spcAft>
                <a:spcPts val="0"/>
              </a:spcAft>
              <a:buNone/>
            </a:pPr>
            <a:r>
              <a:rPr lang="en-US" sz="1200" dirty="0">
                <a:solidFill>
                  <a:srgbClr val="FFFFFF"/>
                </a:solidFill>
                <a:latin typeface="Poppins Bold" pitchFamily="34" charset="0"/>
                <a:ea typeface="Poppins Bold" pitchFamily="34" charset="-122"/>
                <a:cs typeface="Poppins Bold" pitchFamily="34" charset="-120"/>
              </a:rPr>
              <a:t>4</a:t>
            </a:r>
            <a:endParaRPr lang="en-US" sz="1200" dirty="0"/>
          </a:p>
        </p:txBody>
      </p:sp>
      <p:sp>
        <p:nvSpPr>
          <p:cNvPr id="22" name="Card heading"/>
          <p:cNvSpPr txBox="1"/>
          <p:nvPr/>
        </p:nvSpPr>
        <p:spPr>
          <a:xfrm>
            <a:off x="1240927" y="3840000"/>
            <a:ext cx="2720000" cy="347067"/>
          </a:xfrm>
          <a:prstGeom prst="rect">
            <a:avLst/>
          </a:prstGeom>
          <a:noFill/>
          <a:ln/>
        </p:spPr>
        <p:txBody>
          <a:bodyPr wrap="square" lIns="0" tIns="0" rIns="0" bIns="0" rtlCol="0" anchor="ctr">
            <a:normAutofit/>
          </a:bodyPr>
          <a:lstStyle/>
          <a:p>
            <a:pPr marL="0" indent="0" algn="l">
              <a:lnSpc>
                <a:spcPct val="104000"/>
              </a:lnSpc>
              <a:spcAft>
                <a:spcPts val="0"/>
              </a:spcAft>
              <a:buNone/>
            </a:pPr>
            <a:r>
              <a:rPr lang="en-US" sz="1950" dirty="0">
                <a:solidFill>
                  <a:srgbClr val="000000"/>
                </a:solidFill>
                <a:latin typeface="Baskervville" pitchFamily="34" charset="0"/>
                <a:ea typeface="Baskervville" pitchFamily="34" charset="-122"/>
                <a:cs typeface="Baskervville" pitchFamily="34" charset="-120"/>
              </a:rPr>
              <a:t>Measurable outcomes</a:t>
            </a:r>
            <a:endParaRPr lang="en-US" sz="1950" dirty="0"/>
          </a:p>
        </p:txBody>
      </p:sp>
      <p:sp>
        <p:nvSpPr>
          <p:cNvPr id="23" name="Card body"/>
          <p:cNvSpPr txBox="1"/>
          <p:nvPr/>
        </p:nvSpPr>
        <p:spPr>
          <a:xfrm>
            <a:off x="710927" y="4370000"/>
            <a:ext cx="3250000" cy="85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Targets of +85% study adherence and &gt;90% factual accuracy.</a:t>
            </a:r>
            <a:endParaRPr lang="en-US" sz="1200" dirty="0"/>
          </a:p>
        </p:txBody>
      </p:sp>
      <p:sp>
        <p:nvSpPr>
          <p:cNvPr id="24" name="Impact card"/>
          <p:cNvSpPr/>
          <p:nvPr/>
        </p:nvSpPr>
        <p:spPr>
          <a:xfrm>
            <a:off x="4300927" y="3650000"/>
            <a:ext cx="3590000" cy="1700000"/>
          </a:xfrm>
          <a:prstGeom prst="roundRect">
            <a:avLst>
              <a:gd name="adj" fmla="val 8000"/>
            </a:avLst>
          </a:prstGeom>
          <a:solidFill>
            <a:srgbClr val="ECDFE3"/>
          </a:solidFill>
          <a:ln>
            <a:noFill/>
          </a:ln>
        </p:spPr>
        <p:txBody>
          <a:bodyPr/>
          <a:lstStyle/>
          <a:p>
            <a:endParaRPr lang="en-US"/>
          </a:p>
        </p:txBody>
      </p:sp>
      <p:sp>
        <p:nvSpPr>
          <p:cNvPr id="25" name="Number"/>
          <p:cNvSpPr/>
          <p:nvPr/>
        </p:nvSpPr>
        <p:spPr>
          <a:xfrm>
            <a:off x="4470927" y="3820000"/>
            <a:ext cx="380000" cy="380000"/>
          </a:xfrm>
          <a:prstGeom prst="ellipse">
            <a:avLst/>
          </a:prstGeom>
          <a:solidFill>
            <a:srgbClr val="B79BA6"/>
          </a:solidFill>
          <a:ln>
            <a:noFill/>
          </a:ln>
        </p:spPr>
        <p:txBody>
          <a:bodyPr/>
          <a:lstStyle/>
          <a:p>
            <a:endParaRPr lang="en-US"/>
          </a:p>
        </p:txBody>
      </p:sp>
      <p:sp>
        <p:nvSpPr>
          <p:cNvPr id="26" name="Number label"/>
          <p:cNvSpPr txBox="1"/>
          <p:nvPr/>
        </p:nvSpPr>
        <p:spPr>
          <a:xfrm>
            <a:off x="4470927" y="3820000"/>
            <a:ext cx="380000" cy="380000"/>
          </a:xfrm>
          <a:prstGeom prst="rect">
            <a:avLst/>
          </a:prstGeom>
          <a:noFill/>
          <a:ln/>
        </p:spPr>
        <p:txBody>
          <a:bodyPr wrap="square" lIns="0" tIns="0" rIns="0" bIns="0" rtlCol="0" anchor="ctr">
            <a:normAutofit/>
          </a:bodyPr>
          <a:lstStyle/>
          <a:p>
            <a:pPr marL="0" indent="0" algn="ctr">
              <a:lnSpc>
                <a:spcPct val="100000"/>
              </a:lnSpc>
              <a:spcAft>
                <a:spcPts val="0"/>
              </a:spcAft>
              <a:buNone/>
            </a:pPr>
            <a:r>
              <a:rPr lang="en-US" sz="1200" dirty="0">
                <a:solidFill>
                  <a:srgbClr val="FFFFFF"/>
                </a:solidFill>
                <a:latin typeface="Poppins Bold" pitchFamily="34" charset="0"/>
                <a:ea typeface="Poppins Bold" pitchFamily="34" charset="-122"/>
                <a:cs typeface="Poppins Bold" pitchFamily="34" charset="-120"/>
              </a:rPr>
              <a:t>5</a:t>
            </a:r>
            <a:endParaRPr lang="en-US" sz="1200" dirty="0"/>
          </a:p>
        </p:txBody>
      </p:sp>
      <p:sp>
        <p:nvSpPr>
          <p:cNvPr id="27" name="Card heading"/>
          <p:cNvSpPr txBox="1"/>
          <p:nvPr/>
        </p:nvSpPr>
        <p:spPr>
          <a:xfrm>
            <a:off x="5000927" y="3840000"/>
            <a:ext cx="2720000" cy="347067"/>
          </a:xfrm>
          <a:prstGeom prst="rect">
            <a:avLst/>
          </a:prstGeom>
          <a:noFill/>
          <a:ln/>
        </p:spPr>
        <p:txBody>
          <a:bodyPr wrap="square" lIns="0" tIns="0" rIns="0" bIns="0" rtlCol="0" anchor="ctr">
            <a:normAutofit/>
          </a:bodyPr>
          <a:lstStyle/>
          <a:p>
            <a:pPr marL="0" indent="0" algn="l">
              <a:lnSpc>
                <a:spcPct val="104000"/>
              </a:lnSpc>
              <a:spcAft>
                <a:spcPts val="0"/>
              </a:spcAft>
              <a:buNone/>
            </a:pPr>
            <a:r>
              <a:rPr lang="en-US" sz="1950" dirty="0">
                <a:solidFill>
                  <a:srgbClr val="000000"/>
                </a:solidFill>
                <a:latin typeface="Baskervville" pitchFamily="34" charset="0"/>
                <a:ea typeface="Baskervville" pitchFamily="34" charset="-122"/>
                <a:cs typeface="Baskervville" pitchFamily="34" charset="-120"/>
              </a:rPr>
              <a:t>Easy to adopt</a:t>
            </a:r>
            <a:endParaRPr lang="en-US" sz="1950" dirty="0"/>
          </a:p>
        </p:txBody>
      </p:sp>
      <p:sp>
        <p:nvSpPr>
          <p:cNvPr id="28" name="Card body"/>
          <p:cNvSpPr txBox="1"/>
          <p:nvPr/>
        </p:nvSpPr>
        <p:spPr>
          <a:xfrm>
            <a:off x="4470927" y="4370000"/>
            <a:ext cx="3250000" cy="85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Moodle / Canvas integration and privacy-first, GDPR-aligned design.</a:t>
            </a:r>
            <a:endParaRPr lang="en-US" sz="1200" dirty="0"/>
          </a:p>
        </p:txBody>
      </p:sp>
      <p:sp>
        <p:nvSpPr>
          <p:cNvPr id="29" name="Impact card"/>
          <p:cNvSpPr/>
          <p:nvPr/>
        </p:nvSpPr>
        <p:spPr>
          <a:xfrm>
            <a:off x="8060927" y="3650000"/>
            <a:ext cx="3590000" cy="1700000"/>
          </a:xfrm>
          <a:prstGeom prst="roundRect">
            <a:avLst>
              <a:gd name="adj" fmla="val 8000"/>
            </a:avLst>
          </a:prstGeom>
          <a:solidFill>
            <a:srgbClr val="ECDFE3"/>
          </a:solidFill>
          <a:ln>
            <a:noFill/>
          </a:ln>
        </p:spPr>
        <p:txBody>
          <a:bodyPr/>
          <a:lstStyle/>
          <a:p>
            <a:endParaRPr lang="en-US"/>
          </a:p>
        </p:txBody>
      </p:sp>
      <p:sp>
        <p:nvSpPr>
          <p:cNvPr id="30" name="Number"/>
          <p:cNvSpPr/>
          <p:nvPr/>
        </p:nvSpPr>
        <p:spPr>
          <a:xfrm>
            <a:off x="8230927" y="3820000"/>
            <a:ext cx="380000" cy="380000"/>
          </a:xfrm>
          <a:prstGeom prst="ellipse">
            <a:avLst/>
          </a:prstGeom>
          <a:solidFill>
            <a:srgbClr val="B79BA6"/>
          </a:solidFill>
          <a:ln>
            <a:noFill/>
          </a:ln>
        </p:spPr>
        <p:txBody>
          <a:bodyPr/>
          <a:lstStyle/>
          <a:p>
            <a:endParaRPr lang="en-US"/>
          </a:p>
        </p:txBody>
      </p:sp>
      <p:sp>
        <p:nvSpPr>
          <p:cNvPr id="31" name="Number label"/>
          <p:cNvSpPr txBox="1"/>
          <p:nvPr/>
        </p:nvSpPr>
        <p:spPr>
          <a:xfrm>
            <a:off x="8230927" y="3820000"/>
            <a:ext cx="380000" cy="380000"/>
          </a:xfrm>
          <a:prstGeom prst="rect">
            <a:avLst/>
          </a:prstGeom>
          <a:noFill/>
          <a:ln/>
        </p:spPr>
        <p:txBody>
          <a:bodyPr wrap="square" lIns="0" tIns="0" rIns="0" bIns="0" rtlCol="0" anchor="ctr">
            <a:normAutofit/>
          </a:bodyPr>
          <a:lstStyle/>
          <a:p>
            <a:pPr marL="0" indent="0" algn="ctr">
              <a:lnSpc>
                <a:spcPct val="100000"/>
              </a:lnSpc>
              <a:spcAft>
                <a:spcPts val="0"/>
              </a:spcAft>
              <a:buNone/>
            </a:pPr>
            <a:r>
              <a:rPr lang="en-US" sz="1200" dirty="0">
                <a:solidFill>
                  <a:srgbClr val="FFFFFF"/>
                </a:solidFill>
                <a:latin typeface="Poppins Bold" pitchFamily="34" charset="0"/>
                <a:ea typeface="Poppins Bold" pitchFamily="34" charset="-122"/>
                <a:cs typeface="Poppins Bold" pitchFamily="34" charset="-120"/>
              </a:rPr>
              <a:t>6</a:t>
            </a:r>
            <a:endParaRPr lang="en-US" sz="1200" dirty="0"/>
          </a:p>
        </p:txBody>
      </p:sp>
      <p:sp>
        <p:nvSpPr>
          <p:cNvPr id="32" name="Card heading"/>
          <p:cNvSpPr txBox="1"/>
          <p:nvPr/>
        </p:nvSpPr>
        <p:spPr>
          <a:xfrm>
            <a:off x="8760927" y="3840000"/>
            <a:ext cx="2720000" cy="347067"/>
          </a:xfrm>
          <a:prstGeom prst="rect">
            <a:avLst/>
          </a:prstGeom>
          <a:noFill/>
          <a:ln/>
        </p:spPr>
        <p:txBody>
          <a:bodyPr wrap="square" lIns="0" tIns="0" rIns="0" bIns="0" rtlCol="0" anchor="ctr">
            <a:normAutofit/>
          </a:bodyPr>
          <a:lstStyle/>
          <a:p>
            <a:pPr marL="0" indent="0" algn="l">
              <a:lnSpc>
                <a:spcPct val="104000"/>
              </a:lnSpc>
              <a:spcAft>
                <a:spcPts val="0"/>
              </a:spcAft>
              <a:buNone/>
            </a:pPr>
            <a:r>
              <a:rPr lang="en-US" sz="1950" dirty="0">
                <a:solidFill>
                  <a:srgbClr val="000000"/>
                </a:solidFill>
                <a:latin typeface="Baskervville" pitchFamily="34" charset="0"/>
                <a:ea typeface="Baskervville" pitchFamily="34" charset="-122"/>
                <a:cs typeface="Baskervville" pitchFamily="34" charset="-120"/>
              </a:rPr>
              <a:t>Protectable advantage</a:t>
            </a:r>
            <a:endParaRPr lang="en-US" sz="1950" dirty="0"/>
          </a:p>
        </p:txBody>
      </p:sp>
      <p:sp>
        <p:nvSpPr>
          <p:cNvPr id="33" name="Card body"/>
          <p:cNvSpPr txBox="1"/>
          <p:nvPr/>
        </p:nvSpPr>
        <p:spPr>
          <a:xfrm>
            <a:off x="8230927" y="4370000"/>
            <a:ext cx="3250000" cy="850000"/>
          </a:xfrm>
          <a:prstGeom prst="rect">
            <a:avLst/>
          </a:prstGeom>
          <a:noFill/>
          <a:ln/>
        </p:spPr>
        <p:txBody>
          <a:bodyPr wrap="square" lIns="0" tIns="0" rIns="0" bIns="0" rtlCol="0" anchor="t">
            <a:normAutofit/>
          </a:bodyPr>
          <a:lstStyle/>
          <a:p>
            <a:pPr marL="0" indent="0" algn="l">
              <a:lnSpc>
                <a:spcPct val="127000"/>
              </a:lnSpc>
              <a:spcAft>
                <a:spcPts val="0"/>
              </a:spcAft>
              <a:buNone/>
            </a:pPr>
            <a:r>
              <a:rPr lang="en-US" sz="1200" dirty="0">
                <a:solidFill>
                  <a:srgbClr val="6E6666"/>
                </a:solidFill>
                <a:latin typeface="Poppins" pitchFamily="34" charset="0"/>
                <a:ea typeface="Poppins" pitchFamily="34" charset="-122"/>
                <a:cs typeface="Poppins" pitchFamily="34" charset="-120"/>
              </a:rPr>
              <a:t>Patent filing planned for RL-Emotion scheduling.</a:t>
            </a:r>
            <a:endParaRPr lang="en-US" sz="1200" dirty="0"/>
          </a:p>
        </p:txBody>
      </p:sp>
      <p:sp>
        <p:nvSpPr>
          <p:cNvPr id="34" name="Beneficiary strip"/>
          <p:cNvSpPr/>
          <p:nvPr/>
        </p:nvSpPr>
        <p:spPr>
          <a:xfrm>
            <a:off x="540927" y="5600000"/>
            <a:ext cx="11109841" cy="560000"/>
          </a:xfrm>
          <a:prstGeom prst="roundRect">
            <a:avLst>
              <a:gd name="adj" fmla="val 30000"/>
            </a:avLst>
          </a:prstGeom>
          <a:solidFill>
            <a:srgbClr val="FFFFFF"/>
          </a:solidFill>
          <a:ln w="12700">
            <a:solidFill>
              <a:srgbClr val="B79BA6"/>
            </a:solidFill>
          </a:ln>
        </p:spPr>
        <p:txBody>
          <a:bodyPr/>
          <a:lstStyle/>
          <a:p>
            <a:endParaRPr lang="en-US"/>
          </a:p>
        </p:txBody>
      </p:sp>
      <p:sp>
        <p:nvSpPr>
          <p:cNvPr id="35" name="Beneficiary text"/>
          <p:cNvSpPr txBox="1"/>
          <p:nvPr/>
        </p:nvSpPr>
        <p:spPr>
          <a:xfrm>
            <a:off x="790927" y="5600000"/>
            <a:ext cx="10609841" cy="560000"/>
          </a:xfrm>
          <a:prstGeom prst="rect">
            <a:avLst/>
          </a:prstGeom>
          <a:noFill/>
          <a:ln/>
        </p:spPr>
        <p:txBody>
          <a:bodyPr wrap="square" lIns="0" tIns="0" rIns="0" bIns="0" rtlCol="0" anchor="ctr">
            <a:normAutofit/>
          </a:bodyPr>
          <a:lstStyle/>
          <a:p>
            <a:pPr marL="0" indent="0" algn="l">
              <a:lnSpc>
                <a:spcPct val="120000"/>
              </a:lnSpc>
              <a:spcAft>
                <a:spcPts val="0"/>
              </a:spcAft>
              <a:buNone/>
            </a:pPr>
            <a:r>
              <a:rPr lang="en-US" sz="1200" b="1" dirty="0">
                <a:solidFill>
                  <a:srgbClr val="6E6666"/>
                </a:solidFill>
                <a:latin typeface="Poppins Bold" pitchFamily="34" charset="0"/>
                <a:ea typeface="Poppins Bold" pitchFamily="34" charset="-122"/>
                <a:cs typeface="Poppins Bold" pitchFamily="34" charset="-120"/>
              </a:rPr>
              <a:t>Who benefits: </a:t>
            </a:r>
            <a:r>
              <a:rPr lang="en-US" sz="1200" dirty="0">
                <a:solidFill>
                  <a:srgbClr val="6E6666"/>
                </a:solidFill>
                <a:latin typeface="Poppins" pitchFamily="34" charset="0"/>
                <a:ea typeface="Poppins" pitchFamily="34" charset="-122"/>
                <a:cs typeface="Poppins" pitchFamily="34" charset="-120"/>
              </a:rPr>
              <a:t>students · educational institutes · parents of learning-age students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595</TotalTime>
  <Words>1068</Words>
  <Application>Microsoft Office PowerPoint</Application>
  <PresentationFormat>Widescreen</PresentationFormat>
  <Paragraphs>140</Paragraphs>
  <Slides>10</Slides>
  <Notes>5</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Poppins</vt:lpstr>
      <vt:lpstr>Baskervville</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yasas mihiraj</dc:creator>
  <cp:lastModifiedBy>MIHIRAJ K K G Y it22224552</cp:lastModifiedBy>
  <cp:revision>7</cp:revision>
  <dcterms:created xsi:type="dcterms:W3CDTF">2026-08-31T02:39:06Z</dcterms:created>
  <dcterms:modified xsi:type="dcterms:W3CDTF">2026-10-20T23:19:24Z</dcterms:modified>
</cp:coreProperties>
</file>