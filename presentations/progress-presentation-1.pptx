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81" r:id="rId3"/>
    <p:sldId id="285" r:id="rId4"/>
    <p:sldId id="259" r:id="rId5"/>
    <p:sldId id="286" r:id="rId6"/>
    <p:sldId id="262" r:id="rId7"/>
    <p:sldId id="263" r:id="rId8"/>
    <p:sldId id="264" r:id="rId9"/>
    <p:sldId id="265" r:id="rId10"/>
    <p:sldId id="266" r:id="rId11"/>
    <p:sldId id="267" r:id="rId12"/>
    <p:sldId id="268" r:id="rId13"/>
    <p:sldId id="269" r:id="rId14"/>
    <p:sldId id="270" r:id="rId15"/>
    <p:sldId id="271" r:id="rId16"/>
    <p:sldId id="283" r:id="rId17"/>
    <p:sldId id="284" r:id="rId18"/>
    <p:sldId id="274" r:id="rId19"/>
    <p:sldId id="275" r:id="rId20"/>
    <p:sldId id="276" r:id="rId21"/>
    <p:sldId id="282" r:id="rId22"/>
    <p:sldId id="288" r:id="rId23"/>
    <p:sldId id="279" r:id="rId24"/>
  </p:sldIdLst>
  <p:sldSz cx="14630400" cy="8229600"/>
  <p:notesSz cx="8229600" cy="14630400"/>
  <p:embeddedFontLst>
    <p:embeddedFont>
      <p:font typeface="Lato" panose="020F0502020204030203" pitchFamily="34" charset="0"/>
      <p:regular r:id="rId26"/>
      <p:bold r:id="rId27"/>
      <p:italic r:id="rId28"/>
      <p:boldItalic r:id="rId29"/>
    </p:embeddedFont>
    <p:embeddedFont>
      <p:font typeface="Lato Bold" panose="020F0502020204030203" pitchFamily="34" charset="0"/>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FECE6"/>
    <a:srgbClr val="E5DFD2"/>
    <a:srgbClr val="F5F0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564"/>
  </p:normalViewPr>
  <p:slideViewPr>
    <p:cSldViewPr snapToGrid="0" snapToObjects="1">
      <p:cViewPr>
        <p:scale>
          <a:sx n="95" d="100"/>
          <a:sy n="95" d="100"/>
        </p:scale>
        <p:origin x="51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574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2791608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997FD-4EC4-5D0C-B727-76FD3666D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6CA0-1EF9-596B-FA89-09CF9822FC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A7F824-2DD2-855E-C6DA-BE0AD7198D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3F76C4-5879-C17B-FB06-8CA78617D22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08750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855B2-A304-B598-274D-893390A9F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AB16B-EDD7-E018-A637-2B6DDF1483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1FEF43-2746-3170-BAFF-6E5A0197B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EE8313-1772-78D0-B553-D65228D6087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07754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Title slide. My individual component is the Emotion and Progress-Aware Adaptive Study Reminder System. It is the reminder scheduling intelligence layer of the Smart Study Assistant.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explains how the solution addresses the sub-problem. Existing study reminder tools normally depend on fixed times or quiz history only. My prototype uses the emotion label from the emotion detection component and the current time to estimate readiness. It also uses an extended SM-2 memory decay model to estimate retention and priority. These two outputs are then combined by the adaptive scheduler to decide whether to send, delay, or skip a reminder. The system can also recommend the most suitable activity type such as active recall, guided review, passive reading, or rest.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explains the user requirements addressed by the solution. The prototype covers readiness detection, memory decay modeling, adaptive reminder scheduling, content-type recommendation, and feedback-ready design. A key point is cold-start handling. A new user has no previous response history or study streak, so the first version uses emotion and time only. Later, quiz scores, accept/snooze/dismiss feedback, study streak, and interaction history can be added for personalization.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explains the design excellence and contribution. The main contribution is the integration of emotion-aware readiness, memory retention, and scheduling decisions into one adaptive reminder pipeline. The design is modular, so it can be integrated with Mihiraj's component later by accepting the current emotion label. It is explainable because it uses Random Forest, extended SM-2, and rule-based scheduling rather than an unclear black-box system at PP1. The future phase is to collect feedback and train a contextual bandit or reinforcement learning scheduler.</a:t>
            </a:r>
          </a:p>
          <a:p>
            <a:endParaRPr lang="en-US" dirty="0"/>
          </a:p>
        </p:txBody>
      </p:sp>
    </p:spTree>
    <p:extLst>
      <p:ext uri="{BB962C8B-B14F-4D97-AF65-F5344CB8AC3E}">
        <p14:creationId xmlns:p14="http://schemas.microsoft.com/office/powerpoint/2010/main" val="2250898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1766446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5709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2122"/>
            <a:ext cx="7556421" cy="2126337"/>
          </a:xfrm>
          <a:prstGeom prst="rect">
            <a:avLst/>
          </a:prstGeom>
          <a:noFill/>
          <a:ln/>
        </p:spPr>
        <p:txBody>
          <a:bodyPr wrap="square" lIns="0" tIns="0" rIns="0" bIns="0" rtlCol="0" anchor="t"/>
          <a:lstStyle/>
          <a:p>
            <a:pPr marL="0" indent="0" algn="l">
              <a:lnSpc>
                <a:spcPts val="5550"/>
              </a:lnSpc>
              <a:buNone/>
            </a:pPr>
            <a:r>
              <a:rPr lang="en-US" sz="4000" b="1" dirty="0">
                <a:latin typeface="Lato Bold" pitchFamily="34" charset="0"/>
                <a:ea typeface="Lato Bold" pitchFamily="34" charset="-122"/>
                <a:cs typeface="Lato Bold" pitchFamily="34" charset="-120"/>
              </a:rPr>
              <a:t>AI-Enabled Intelligent Study Assistant to Enhance Student Learning Outcomes[AuraLearn]</a:t>
            </a:r>
            <a:endParaRPr lang="en-US" sz="4000" dirty="0"/>
          </a:p>
        </p:txBody>
      </p:sp>
      <p:sp>
        <p:nvSpPr>
          <p:cNvPr id="4" name="Text 1"/>
          <p:cNvSpPr/>
          <p:nvPr/>
        </p:nvSpPr>
        <p:spPr>
          <a:xfrm>
            <a:off x="793790" y="3144710"/>
            <a:ext cx="7556421" cy="362903"/>
          </a:xfrm>
          <a:prstGeom prst="rect">
            <a:avLst/>
          </a:prstGeom>
          <a:noFill/>
          <a:ln/>
        </p:spPr>
        <p:txBody>
          <a:bodyPr wrap="none" lIns="0" tIns="0" rIns="0" bIns="0" rtlCol="0" anchor="t"/>
          <a:lstStyle/>
          <a:p>
            <a:pPr marL="0" indent="0" algn="l">
              <a:lnSpc>
                <a:spcPts val="2850"/>
              </a:lnSpc>
              <a:buNone/>
            </a:pPr>
            <a:r>
              <a:rPr lang="en-US" sz="1600" dirty="0">
                <a:latin typeface="Lato" pitchFamily="34" charset="0"/>
                <a:ea typeface="Lato" pitchFamily="34" charset="-122"/>
                <a:cs typeface="Lato" pitchFamily="34" charset="-120"/>
              </a:rPr>
              <a:t>Progress presentation 1 - Group R26-SE-022</a:t>
            </a:r>
            <a:endParaRPr lang="en-US" sz="1600" dirty="0"/>
          </a:p>
        </p:txBody>
      </p:sp>
      <p:sp>
        <p:nvSpPr>
          <p:cNvPr id="5" name="Text 2"/>
          <p:cNvSpPr/>
          <p:nvPr/>
        </p:nvSpPr>
        <p:spPr>
          <a:xfrm>
            <a:off x="793790" y="3606899"/>
            <a:ext cx="7556421" cy="362903"/>
          </a:xfrm>
          <a:prstGeom prst="rect">
            <a:avLst/>
          </a:prstGeom>
          <a:noFill/>
          <a:ln/>
        </p:spPr>
        <p:txBody>
          <a:bodyPr wrap="none" lIns="0" tIns="0" rIns="0" bIns="0" rtlCol="0" anchor="t"/>
          <a:lstStyle/>
          <a:p>
            <a:pPr marL="0" indent="0" algn="l">
              <a:lnSpc>
                <a:spcPts val="2850"/>
              </a:lnSpc>
              <a:buNone/>
            </a:pPr>
            <a:r>
              <a:rPr lang="en-US" sz="1600" dirty="0">
                <a:latin typeface="Lato" pitchFamily="34" charset="0"/>
                <a:ea typeface="Lato" pitchFamily="34" charset="-122"/>
                <a:cs typeface="Lato" pitchFamily="34" charset="-120"/>
              </a:rPr>
              <a:t>Sri Lanka Institute of Information Technology (SLIIT)</a:t>
            </a:r>
            <a:endParaRPr lang="en-US" sz="1600" dirty="0"/>
          </a:p>
        </p:txBody>
      </p:sp>
      <p:sp>
        <p:nvSpPr>
          <p:cNvPr id="7" name="Text 4"/>
          <p:cNvSpPr/>
          <p:nvPr/>
        </p:nvSpPr>
        <p:spPr>
          <a:xfrm>
            <a:off x="1051084" y="4471855"/>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8" name="Text 5"/>
          <p:cNvSpPr/>
          <p:nvPr/>
        </p:nvSpPr>
        <p:spPr>
          <a:xfrm>
            <a:off x="1051084" y="4962274"/>
            <a:ext cx="7041832" cy="362903"/>
          </a:xfrm>
          <a:prstGeom prst="rect">
            <a:avLst/>
          </a:prstGeom>
          <a:noFill/>
          <a:ln/>
        </p:spPr>
        <p:txBody>
          <a:bodyPr wrap="none" lIns="0" tIns="0" rIns="0" bIns="0" rtlCol="0" anchor="t"/>
          <a:lstStyle/>
          <a:p>
            <a:pPr marL="0" indent="0" algn="l">
              <a:lnSpc>
                <a:spcPts val="2850"/>
              </a:lnSpc>
              <a:buNone/>
            </a:pPr>
            <a:endParaRPr lang="en-US" sz="1600" dirty="0"/>
          </a:p>
        </p:txBody>
      </p:sp>
      <p:sp>
        <p:nvSpPr>
          <p:cNvPr id="9" name="Shape 6"/>
          <p:cNvSpPr/>
          <p:nvPr/>
        </p:nvSpPr>
        <p:spPr>
          <a:xfrm>
            <a:off x="675410" y="4259799"/>
            <a:ext cx="7674802" cy="2025462"/>
          </a:xfrm>
          <a:prstGeom prst="roundRect">
            <a:avLst>
              <a:gd name="adj" fmla="val 2487"/>
            </a:avLst>
          </a:prstGeom>
          <a:solidFill>
            <a:srgbClr val="EFECE6"/>
          </a:solidFill>
          <a:ln w="30480">
            <a:solidFill>
              <a:srgbClr val="CBC5B8"/>
            </a:solidFill>
            <a:prstDash val="solid"/>
          </a:ln>
        </p:spPr>
        <p:txBody>
          <a:bodyPr/>
          <a:lstStyle/>
          <a:p>
            <a:endParaRPr lang="en-US"/>
          </a:p>
        </p:txBody>
      </p:sp>
      <p:sp>
        <p:nvSpPr>
          <p:cNvPr id="10" name="Text 7"/>
          <p:cNvSpPr/>
          <p:nvPr/>
        </p:nvSpPr>
        <p:spPr>
          <a:xfrm>
            <a:off x="1051083" y="4630625"/>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Focus</a:t>
            </a:r>
            <a:endParaRPr lang="en-US" sz="2200" dirty="0"/>
          </a:p>
        </p:txBody>
      </p:sp>
      <p:sp>
        <p:nvSpPr>
          <p:cNvPr id="13" name="TextBox 12">
            <a:extLst>
              <a:ext uri="{FF2B5EF4-FFF2-40B4-BE49-F238E27FC236}">
                <a16:creationId xmlns:a16="http://schemas.microsoft.com/office/drawing/2014/main" id="{948764EA-7042-0EAB-877B-C59DFB3D08EF}"/>
              </a:ext>
            </a:extLst>
          </p:cNvPr>
          <p:cNvSpPr txBox="1"/>
          <p:nvPr/>
        </p:nvSpPr>
        <p:spPr>
          <a:xfrm>
            <a:off x="914400" y="5143725"/>
            <a:ext cx="7315200" cy="795089"/>
          </a:xfrm>
          <a:prstGeom prst="rect">
            <a:avLst/>
          </a:prstGeom>
          <a:noFill/>
        </p:spPr>
        <p:txBody>
          <a:bodyPr wrap="square">
            <a:spAutoFit/>
          </a:bodyPr>
          <a:lstStyle/>
          <a:p>
            <a:pPr marL="0" indent="0" algn="l">
              <a:lnSpc>
                <a:spcPts val="2850"/>
              </a:lnSpc>
              <a:buNone/>
            </a:pPr>
            <a:r>
              <a:rPr lang="en-US" sz="1600" dirty="0">
                <a:latin typeface="Lato" pitchFamily="34" charset="0"/>
                <a:ea typeface="Lato" pitchFamily="34" charset="-122"/>
                <a:cs typeface="Lato" pitchFamily="34" charset="-120"/>
              </a:rPr>
              <a:t>Confidence‑aware tutoring + Learning‑objective summarization + Attention-Aware Emotion Detection + Emotion-Aware Adaptive Study Reminder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86765"/>
            <a:ext cx="5670590"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38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Group Details</a:t>
            </a:r>
            <a:endParaRPr kumimoji="0" lang="en-US" sz="3800" b="0" i="0" u="none" strike="noStrike" kern="1200" cap="none" spc="0" normalizeH="0" baseline="0" noProof="0" dirty="0">
              <a:ln>
                <a:noFill/>
              </a:ln>
              <a:effectLst/>
              <a:uLnTx/>
              <a:uFillTx/>
              <a:latin typeface="Calibri" panose="020F0502020204030204"/>
              <a:ea typeface="+mn-ea"/>
              <a:cs typeface="+mn-cs"/>
            </a:endParaRPr>
          </a:p>
        </p:txBody>
      </p:sp>
      <p:pic>
        <p:nvPicPr>
          <p:cNvPr id="3" name="Image 0"/>
          <p:cNvPicPr>
            <a:picLocks noChangeAspect="1"/>
          </p:cNvPicPr>
          <p:nvPr/>
        </p:nvPicPr>
        <p:blipFill>
          <a:blip r:embed="rId3"/>
          <a:srcRect/>
          <a:stretch/>
        </p:blipFill>
        <p:spPr>
          <a:xfrm>
            <a:off x="801410" y="2740782"/>
            <a:ext cx="3120747" cy="2078852"/>
          </a:xfrm>
          <a:prstGeom prst="rect">
            <a:avLst/>
          </a:prstGeom>
        </p:spPr>
      </p:pic>
      <p:pic>
        <p:nvPicPr>
          <p:cNvPr id="4" name="Image 1"/>
          <p:cNvPicPr>
            <a:picLocks noChangeAspect="1"/>
          </p:cNvPicPr>
          <p:nvPr/>
        </p:nvPicPr>
        <p:blipFill>
          <a:blip r:embed="rId4"/>
          <a:srcRect/>
          <a:stretch/>
        </p:blipFill>
        <p:spPr>
          <a:xfrm>
            <a:off x="4287188" y="1721067"/>
            <a:ext cx="2753705" cy="3120866"/>
          </a:xfrm>
          <a:prstGeom prst="rect">
            <a:avLst/>
          </a:prstGeom>
        </p:spPr>
      </p:pic>
      <p:pic>
        <p:nvPicPr>
          <p:cNvPr id="5" name="Image 2"/>
          <p:cNvPicPr>
            <a:picLocks noChangeAspect="1"/>
          </p:cNvPicPr>
          <p:nvPr/>
        </p:nvPicPr>
        <p:blipFill>
          <a:blip r:embed="rId5"/>
          <a:srcRect/>
          <a:stretch/>
        </p:blipFill>
        <p:spPr>
          <a:xfrm>
            <a:off x="7827649" y="1721067"/>
            <a:ext cx="2277301" cy="3120747"/>
          </a:xfrm>
          <a:prstGeom prst="rect">
            <a:avLst/>
          </a:prstGeom>
        </p:spPr>
      </p:pic>
      <p:pic>
        <p:nvPicPr>
          <p:cNvPr id="6" name="Image 3"/>
          <p:cNvPicPr>
            <a:picLocks noChangeAspect="1"/>
          </p:cNvPicPr>
          <p:nvPr/>
        </p:nvPicPr>
        <p:blipFill>
          <a:blip r:embed="rId6"/>
          <a:srcRect/>
          <a:stretch/>
        </p:blipFill>
        <p:spPr>
          <a:xfrm>
            <a:off x="10718719" y="1721067"/>
            <a:ext cx="3099676" cy="3120866"/>
          </a:xfrm>
          <a:prstGeom prst="rect">
            <a:avLst/>
          </a:prstGeom>
        </p:spPr>
      </p:pic>
      <p:grpSp>
        <p:nvGrpSpPr>
          <p:cNvPr id="25" name="Group 24">
            <a:extLst>
              <a:ext uri="{FF2B5EF4-FFF2-40B4-BE49-F238E27FC236}">
                <a16:creationId xmlns:a16="http://schemas.microsoft.com/office/drawing/2014/main" id="{7DAB4C50-4A84-60CE-3029-B2A4D37F11B3}"/>
              </a:ext>
            </a:extLst>
          </p:cNvPr>
          <p:cNvGrpSpPr/>
          <p:nvPr/>
        </p:nvGrpSpPr>
        <p:grpSpPr>
          <a:xfrm>
            <a:off x="793791" y="5243055"/>
            <a:ext cx="3128366" cy="838045"/>
            <a:chOff x="793791" y="5243055"/>
            <a:chExt cx="3128366" cy="838045"/>
          </a:xfrm>
        </p:grpSpPr>
        <p:sp>
          <p:nvSpPr>
            <p:cNvPr id="8" name="Text 1"/>
            <p:cNvSpPr/>
            <p:nvPr/>
          </p:nvSpPr>
          <p:spPr>
            <a:xfrm>
              <a:off x="793791" y="5243055"/>
              <a:ext cx="3128366" cy="476983"/>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I.H. Sonal Dilmith</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9" name="Text 2"/>
            <p:cNvSpPr/>
            <p:nvPr/>
          </p:nvSpPr>
          <p:spPr>
            <a:xfrm>
              <a:off x="801410" y="5718197"/>
              <a:ext cx="2093952"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IT22120120</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2" name="Group 21">
            <a:extLst>
              <a:ext uri="{FF2B5EF4-FFF2-40B4-BE49-F238E27FC236}">
                <a16:creationId xmlns:a16="http://schemas.microsoft.com/office/drawing/2014/main" id="{C62213D8-5AC1-34C5-5513-48BAB68DEE5F}"/>
              </a:ext>
            </a:extLst>
          </p:cNvPr>
          <p:cNvGrpSpPr/>
          <p:nvPr/>
        </p:nvGrpSpPr>
        <p:grpSpPr>
          <a:xfrm>
            <a:off x="4103608" y="5243055"/>
            <a:ext cx="3069789" cy="834957"/>
            <a:chOff x="4103608" y="5243055"/>
            <a:chExt cx="3069789" cy="834957"/>
          </a:xfrm>
        </p:grpSpPr>
        <p:sp>
          <p:nvSpPr>
            <p:cNvPr id="11" name="Text 3"/>
            <p:cNvSpPr/>
            <p:nvPr/>
          </p:nvSpPr>
          <p:spPr>
            <a:xfrm>
              <a:off x="4103609" y="5243055"/>
              <a:ext cx="3069788" cy="490418"/>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T.G.K.G. Vijithapala</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2" name="Text 4"/>
            <p:cNvSpPr/>
            <p:nvPr/>
          </p:nvSpPr>
          <p:spPr>
            <a:xfrm>
              <a:off x="4103608" y="5715109"/>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IT22187178</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8D61CB3C-FD21-2292-540E-FDA64F73B305}"/>
              </a:ext>
            </a:extLst>
          </p:cNvPr>
          <p:cNvGrpSpPr/>
          <p:nvPr/>
        </p:nvGrpSpPr>
        <p:grpSpPr>
          <a:xfrm>
            <a:off x="7405926" y="5243055"/>
            <a:ext cx="3099077" cy="844139"/>
            <a:chOff x="7405926" y="5243055"/>
            <a:chExt cx="3099077" cy="844139"/>
          </a:xfrm>
        </p:grpSpPr>
        <p:sp>
          <p:nvSpPr>
            <p:cNvPr id="14" name="Text 5"/>
            <p:cNvSpPr/>
            <p:nvPr/>
          </p:nvSpPr>
          <p:spPr>
            <a:xfrm>
              <a:off x="7405926" y="5243055"/>
              <a:ext cx="3099077"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K.K.G.Y. Mihiraj</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5" name="Text 6"/>
            <p:cNvSpPr/>
            <p:nvPr/>
          </p:nvSpPr>
          <p:spPr>
            <a:xfrm>
              <a:off x="7425224" y="5724291"/>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IT22224552</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4" name="Group 23">
            <a:extLst>
              <a:ext uri="{FF2B5EF4-FFF2-40B4-BE49-F238E27FC236}">
                <a16:creationId xmlns:a16="http://schemas.microsoft.com/office/drawing/2014/main" id="{683FC91E-0BFE-825B-07D0-EEDFE16500F2}"/>
              </a:ext>
            </a:extLst>
          </p:cNvPr>
          <p:cNvGrpSpPr/>
          <p:nvPr/>
        </p:nvGrpSpPr>
        <p:grpSpPr>
          <a:xfrm>
            <a:off x="10708125" y="5243055"/>
            <a:ext cx="3128486" cy="833087"/>
            <a:chOff x="10708125" y="5243055"/>
            <a:chExt cx="3128486" cy="833087"/>
          </a:xfrm>
        </p:grpSpPr>
        <p:sp>
          <p:nvSpPr>
            <p:cNvPr id="17" name="Text 7"/>
            <p:cNvSpPr/>
            <p:nvPr/>
          </p:nvSpPr>
          <p:spPr>
            <a:xfrm>
              <a:off x="10708125" y="5243055"/>
              <a:ext cx="3128486" cy="472054"/>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W.H.H. Thathsara</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8" name="Text 8"/>
            <p:cNvSpPr/>
            <p:nvPr/>
          </p:nvSpPr>
          <p:spPr>
            <a:xfrm>
              <a:off x="10717150" y="5713239"/>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IT22371690</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sp>
        <p:nvSpPr>
          <p:cNvPr id="19" name="Text 9"/>
          <p:cNvSpPr/>
          <p:nvPr/>
        </p:nvSpPr>
        <p:spPr>
          <a:xfrm>
            <a:off x="7812822" y="6638810"/>
            <a:ext cx="2094071" cy="804025"/>
          </a:xfrm>
          <a:prstGeom prst="rect">
            <a:avLst/>
          </a:prstGeom>
          <a:noFill/>
          <a:ln>
            <a:solidFill>
              <a:schemeClr val="tx1"/>
            </a:solidFill>
          </a:ln>
        </p:spPr>
        <p:txBody>
          <a:bodyPr wrap="none" lIns="0" tIns="0" rIns="0" bIns="0" rtlCol="0" anchor="t"/>
          <a:lstStyle/>
          <a:p>
            <a:pPr marL="0" marR="0" lvl="0" indent="0" defTabSz="914400" rtl="0" eaLnBrk="1" fontAlgn="auto" latinLnBrk="0" hangingPunct="1">
              <a:lnSpc>
                <a:spcPts val="2850"/>
              </a:lnSpc>
              <a:spcBef>
                <a:spcPts val="0"/>
              </a:spcBef>
              <a:spcAft>
                <a:spcPts val="0"/>
              </a:spcAft>
              <a:buClrTx/>
              <a:buSzTx/>
              <a:buFontTx/>
              <a:buNone/>
              <a:tabLst/>
              <a:defRPr/>
            </a:pPr>
            <a:r>
              <a:rPr kumimoji="0" lang="en-US" sz="1750" b="1" i="0" u="none" strike="noStrike" kern="1200" cap="none" spc="0" normalizeH="0" baseline="0" noProof="0" dirty="0">
                <a:ln>
                  <a:noFill/>
                </a:ln>
                <a:effectLst/>
                <a:uLnTx/>
                <a:uFillTx/>
                <a:latin typeface="Lato" pitchFamily="34" charset="0"/>
                <a:ea typeface="Lato" pitchFamily="34" charset="-122"/>
                <a:cs typeface="Lato" pitchFamily="34" charset="-120"/>
              </a:rPr>
              <a:t>  Mr. Ravi Supunya</a:t>
            </a:r>
          </a:p>
          <a:p>
            <a:pPr lvl="0">
              <a:lnSpc>
                <a:spcPts val="2850"/>
              </a:lnSpc>
            </a:pPr>
            <a:r>
              <a:rPr lang="en-US" sz="1750" b="1" dirty="0">
                <a:latin typeface="Lato" pitchFamily="34" charset="0"/>
                <a:ea typeface="Lato" pitchFamily="34" charset="-122"/>
                <a:cs typeface="Lato" pitchFamily="34" charset="-120"/>
              </a:rPr>
              <a:t>  </a:t>
            </a:r>
            <a:r>
              <a:rPr lang="en-US" sz="1750" dirty="0">
                <a:latin typeface="Lato" pitchFamily="34" charset="0"/>
                <a:ea typeface="Lato" pitchFamily="34" charset="-122"/>
                <a:cs typeface="Lato" pitchFamily="34" charset="-120"/>
              </a:rPr>
              <a:t>Co‑Supervisor</a:t>
            </a:r>
            <a:endParaRPr kumimoji="0" lang="en-US" sz="1750" i="0" u="none" strike="noStrike" kern="1200" cap="none" spc="0" normalizeH="0" baseline="0" noProof="0" dirty="0">
              <a:ln>
                <a:noFill/>
              </a:ln>
              <a:effectLst/>
              <a:uLnTx/>
              <a:uFillTx/>
              <a:latin typeface="Calibri" panose="020F0502020204030204"/>
              <a:ea typeface="+mn-ea"/>
              <a:cs typeface="+mn-cs"/>
            </a:endParaRPr>
          </a:p>
        </p:txBody>
      </p:sp>
      <p:sp>
        <p:nvSpPr>
          <p:cNvPr id="20" name="Text 9">
            <a:extLst>
              <a:ext uri="{FF2B5EF4-FFF2-40B4-BE49-F238E27FC236}">
                <a16:creationId xmlns:a16="http://schemas.microsoft.com/office/drawing/2014/main" id="{3CA186E1-352B-0BA4-169E-A9A7B9A6740B}"/>
              </a:ext>
            </a:extLst>
          </p:cNvPr>
          <p:cNvSpPr/>
          <p:nvPr/>
        </p:nvSpPr>
        <p:spPr>
          <a:xfrm>
            <a:off x="4159251" y="6638810"/>
            <a:ext cx="2094071" cy="804025"/>
          </a:xfrm>
          <a:prstGeom prst="rect">
            <a:avLst/>
          </a:prstGeom>
          <a:noFill/>
          <a:ln>
            <a:solidFill>
              <a:schemeClr val="tx1"/>
            </a:solidFill>
          </a:ln>
        </p:spPr>
        <p:txBody>
          <a:bodyPr wrap="none" lIns="0" tIns="0" rIns="0" bIns="0" rtlCol="0" anchor="t"/>
          <a:lstStyle/>
          <a:p>
            <a:pPr>
              <a:lnSpc>
                <a:spcPts val="2850"/>
              </a:lnSpc>
            </a:pPr>
            <a:r>
              <a:rPr kumimoji="0" lang="en-US" sz="1750" b="1" i="0" u="none" strike="noStrike" kern="1200" cap="none" spc="0" normalizeH="0" baseline="0" noProof="0" dirty="0">
                <a:ln>
                  <a:noFill/>
                </a:ln>
                <a:effectLst/>
                <a:uLnTx/>
                <a:uFillTx/>
                <a:latin typeface="Lato" pitchFamily="34" charset="0"/>
                <a:ea typeface="Lato" pitchFamily="34" charset="-122"/>
                <a:cs typeface="Lato" pitchFamily="34" charset="-120"/>
              </a:rPr>
              <a:t>  Mrs. Suriya Kumari</a:t>
            </a:r>
          </a:p>
          <a:p>
            <a:pPr>
              <a:lnSpc>
                <a:spcPts val="2850"/>
              </a:lnSpc>
            </a:pPr>
            <a:r>
              <a:rPr lang="en-US" sz="1750" b="1" dirty="0">
                <a:latin typeface="Lato" pitchFamily="34" charset="0"/>
                <a:ea typeface="Lato" pitchFamily="34" charset="-122"/>
                <a:cs typeface="Lato" pitchFamily="34" charset="-120"/>
              </a:rPr>
              <a:t>  </a:t>
            </a:r>
            <a:r>
              <a:rPr lang="en-US" sz="1750" dirty="0">
                <a:latin typeface="Lato" pitchFamily="34" charset="0"/>
                <a:ea typeface="Lato" pitchFamily="34" charset="-122"/>
                <a:cs typeface="Lato" pitchFamily="34" charset="-120"/>
              </a:rPr>
              <a:t>Supervisor</a:t>
            </a:r>
            <a:endParaRPr kumimoji="0" lang="en-US" sz="1750" i="0" u="none" strike="noStrike" kern="1200" cap="none" spc="0" normalizeH="0" baseline="0" noProof="0" dirty="0">
              <a:ln>
                <a:noFill/>
              </a:ln>
              <a:effectLst/>
              <a:uLnTx/>
              <a:uFillTx/>
              <a:latin typeface="Lato" pitchFamily="34" charset="0"/>
              <a:ea typeface="Lato" pitchFamily="34" charset="-122"/>
              <a:cs typeface="Lato" pitchFamily="34" charset="-120"/>
            </a:endParaRPr>
          </a:p>
        </p:txBody>
      </p:sp>
      <p:sp>
        <p:nvSpPr>
          <p:cNvPr id="21" name="Rectangle 20">
            <a:extLst>
              <a:ext uri="{FF2B5EF4-FFF2-40B4-BE49-F238E27FC236}">
                <a16:creationId xmlns:a16="http://schemas.microsoft.com/office/drawing/2014/main" id="{01FF87A4-6AEC-2486-53C6-980C74C6D53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
        <p:nvSpPr>
          <p:cNvPr id="13" name="TextBox 12">
            <a:extLst>
              <a:ext uri="{FF2B5EF4-FFF2-40B4-BE49-F238E27FC236}">
                <a16:creationId xmlns:a16="http://schemas.microsoft.com/office/drawing/2014/main" id="{A6DA4227-38BF-0DCF-9120-A086E0DB5109}"/>
              </a:ext>
            </a:extLst>
          </p:cNvPr>
          <p:cNvSpPr txBox="1"/>
          <p:nvPr/>
        </p:nvSpPr>
        <p:spPr>
          <a:xfrm>
            <a:off x="12268557" y="0"/>
            <a:ext cx="2414444" cy="677108"/>
          </a:xfrm>
          <a:prstGeom prst="rect">
            <a:avLst/>
          </a:prstGeom>
          <a:noFill/>
        </p:spPr>
        <p:txBody>
          <a:bodyPr wrap="none" rtlCol="0">
            <a:spAutoFit/>
          </a:bodyPr>
          <a:lstStyle/>
          <a:p>
            <a:r>
              <a:rPr lang="en-US" sz="3800" b="1" dirty="0">
                <a:solidFill>
                  <a:srgbClr val="FF0000"/>
                </a:solidFill>
                <a:latin typeface="Lato Bold" pitchFamily="34" charset="0"/>
                <a:ea typeface="Lato Bold" pitchFamily="34" charset="-122"/>
                <a:cs typeface="Lato Bold" pitchFamily="34" charset="-120"/>
              </a:rPr>
              <a:t>AuraLearn</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0E46A4-3A1D-DDF5-C722-B6AEF3843FE6}"/>
              </a:ext>
            </a:extLst>
          </p:cNvPr>
          <p:cNvPicPr>
            <a:picLocks noChangeAspect="1"/>
          </p:cNvPicPr>
          <p:nvPr/>
        </p:nvPicPr>
        <p:blipFill>
          <a:blip r:embed="rId2"/>
          <a:srcRect b="18104"/>
          <a:stretch>
            <a:fillRect/>
          </a:stretch>
        </p:blipFill>
        <p:spPr>
          <a:xfrm>
            <a:off x="-1" y="-1"/>
            <a:ext cx="14644839" cy="8229601"/>
          </a:xfrm>
          <a:prstGeom prst="rect">
            <a:avLst/>
          </a:prstGeom>
        </p:spPr>
      </p:pic>
      <p:sp>
        <p:nvSpPr>
          <p:cNvPr id="3" name="TextBox 2">
            <a:extLst>
              <a:ext uri="{FF2B5EF4-FFF2-40B4-BE49-F238E27FC236}">
                <a16:creationId xmlns:a16="http://schemas.microsoft.com/office/drawing/2014/main" id="{EB34222D-5CAB-A3BE-2D02-0B1358F211E8}"/>
              </a:ext>
            </a:extLst>
          </p:cNvPr>
          <p:cNvSpPr txBox="1"/>
          <p:nvPr/>
        </p:nvSpPr>
        <p:spPr>
          <a:xfrm>
            <a:off x="12230394" y="0"/>
            <a:ext cx="2414444" cy="954107"/>
          </a:xfrm>
          <a:prstGeom prst="rect">
            <a:avLst/>
          </a:prstGeom>
          <a:noFill/>
        </p:spPr>
        <p:txBody>
          <a:bodyPr wrap="none" rtlCol="0">
            <a:spAutoFit/>
          </a:bodyPr>
          <a:lstStyle/>
          <a:p>
            <a:r>
              <a:rPr lang="en-US" sz="3800" b="1" dirty="0">
                <a:solidFill>
                  <a:srgbClr val="FF0000"/>
                </a:solidFill>
                <a:latin typeface="Lato Bold" pitchFamily="34" charset="0"/>
                <a:ea typeface="Lato Bold" pitchFamily="34" charset="-122"/>
                <a:cs typeface="Lato Bold" pitchFamily="34" charset="-120"/>
              </a:rPr>
              <a:t>AuraLearn</a:t>
            </a:r>
          </a:p>
          <a:p>
            <a:endParaRPr lang="en-US" dirty="0"/>
          </a:p>
        </p:txBody>
      </p:sp>
      <p:sp>
        <p:nvSpPr>
          <p:cNvPr id="4" name="Rectangle 3">
            <a:extLst>
              <a:ext uri="{FF2B5EF4-FFF2-40B4-BE49-F238E27FC236}">
                <a16:creationId xmlns:a16="http://schemas.microsoft.com/office/drawing/2014/main" id="{114ABE65-ABD8-D699-045F-E6457229412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extLst>
      <p:ext uri="{BB962C8B-B14F-4D97-AF65-F5344CB8AC3E}">
        <p14:creationId xmlns:p14="http://schemas.microsoft.com/office/powerpoint/2010/main" val="111553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58086" y="805933"/>
            <a:ext cx="9808964" cy="708779"/>
          </a:xfrm>
          <a:prstGeom prst="rect">
            <a:avLst/>
          </a:prstGeom>
          <a:noFill/>
          <a:ln/>
        </p:spPr>
        <p:txBody>
          <a:bodyPr wrap="none" lIns="0" tIns="0" rIns="0" bIns="0" rtlCol="0" anchor="t"/>
          <a:lstStyle/>
          <a:p>
            <a:pPr marL="0" indent="0" algn="l">
              <a:lnSpc>
                <a:spcPts val="5550"/>
              </a:lnSpc>
              <a:buNone/>
            </a:pPr>
            <a:r>
              <a:rPr lang="en-US" sz="3800" b="1" dirty="0">
                <a:latin typeface="Lato Bold" pitchFamily="34" charset="0"/>
                <a:ea typeface="Lato Bold" pitchFamily="34" charset="-122"/>
                <a:cs typeface="Lato Bold" pitchFamily="34" charset="-120"/>
              </a:rPr>
              <a:t>Impact of the Problem on Stakeholders</a:t>
            </a:r>
            <a:endParaRPr lang="en-US" sz="3800" dirty="0"/>
          </a:p>
        </p:txBody>
      </p:sp>
      <p:sp>
        <p:nvSpPr>
          <p:cNvPr id="3" name="Text 1"/>
          <p:cNvSpPr/>
          <p:nvPr/>
        </p:nvSpPr>
        <p:spPr>
          <a:xfrm>
            <a:off x="788592" y="1985127"/>
            <a:ext cx="13042821" cy="1205271"/>
          </a:xfrm>
          <a:prstGeom prst="rect">
            <a:avLst/>
          </a:prstGeom>
          <a:noFill/>
          <a:ln/>
        </p:spPr>
        <p:txBody>
          <a:bodyPr wrap="square" lIns="0" tIns="0" rIns="0" bIns="0" rtlCol="0" anchor="t"/>
          <a:lstStyle/>
          <a:p>
            <a:pPr marL="0" indent="0" algn="l">
              <a:lnSpc>
                <a:spcPts val="2850"/>
              </a:lnSpc>
              <a:buNone/>
            </a:pPr>
            <a:r>
              <a:rPr lang="en-US" sz="1700" dirty="0">
                <a:latin typeface="Lato" pitchFamily="34" charset="0"/>
                <a:ea typeface="Lato" pitchFamily="34" charset="-122"/>
                <a:cs typeface="Lato" pitchFamily="34" charset="-120"/>
              </a:rPr>
              <a:t>Our proposed solution addresses critical challenges faced by various stakeholders in the educational ecosystem. Like access to accurate information , having a less distractive environment and a tool to monitor your academic progress along with mental health of students</a:t>
            </a:r>
            <a:endParaRPr lang="en-US" sz="1700" dirty="0"/>
          </a:p>
        </p:txBody>
      </p:sp>
      <p:sp>
        <p:nvSpPr>
          <p:cNvPr id="4" name="Shape 2"/>
          <p:cNvSpPr/>
          <p:nvPr/>
        </p:nvSpPr>
        <p:spPr>
          <a:xfrm>
            <a:off x="793790"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5" name="Text 3"/>
          <p:cNvSpPr/>
          <p:nvPr/>
        </p:nvSpPr>
        <p:spPr>
          <a:xfrm>
            <a:off x="1051084"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Students</a:t>
            </a:r>
            <a:endParaRPr lang="en-US" sz="2200" dirty="0"/>
          </a:p>
        </p:txBody>
      </p:sp>
      <p:sp>
        <p:nvSpPr>
          <p:cNvPr id="6" name="Text 4"/>
          <p:cNvSpPr/>
          <p:nvPr/>
        </p:nvSpPr>
        <p:spPr>
          <a:xfrm>
            <a:off x="1051084" y="3861078"/>
            <a:ext cx="3681770" cy="3141107"/>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Information overload from lecture slides and study materials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Difficulty identifying important exam concepts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Lack of personalised tutoring support</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Academic stress and reduced study efficiency</a:t>
            </a:r>
            <a:endParaRPr lang="en-US" sz="1700" dirty="0"/>
          </a:p>
        </p:txBody>
      </p:sp>
      <p:sp>
        <p:nvSpPr>
          <p:cNvPr id="7" name="Shape 5"/>
          <p:cNvSpPr/>
          <p:nvPr/>
        </p:nvSpPr>
        <p:spPr>
          <a:xfrm>
            <a:off x="5216962"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8" name="Text 6"/>
          <p:cNvSpPr/>
          <p:nvPr/>
        </p:nvSpPr>
        <p:spPr>
          <a:xfrm>
            <a:off x="5474256"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Lecturers</a:t>
            </a:r>
            <a:endParaRPr lang="en-US" sz="2200" dirty="0"/>
          </a:p>
        </p:txBody>
      </p:sp>
      <p:sp>
        <p:nvSpPr>
          <p:cNvPr id="9" name="Text 7"/>
          <p:cNvSpPr/>
          <p:nvPr/>
        </p:nvSpPr>
        <p:spPr>
          <a:xfrm>
            <a:off x="5474256" y="3861078"/>
            <a:ext cx="3681770" cy="1530906"/>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Limited time to provide individual academic support</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Difficulty monitoring student learning progress</a:t>
            </a:r>
            <a:endParaRPr lang="en-US" sz="1700" dirty="0"/>
          </a:p>
        </p:txBody>
      </p:sp>
      <p:sp>
        <p:nvSpPr>
          <p:cNvPr id="10" name="Shape 8"/>
          <p:cNvSpPr/>
          <p:nvPr/>
        </p:nvSpPr>
        <p:spPr>
          <a:xfrm>
            <a:off x="9640133"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11" name="Text 9"/>
          <p:cNvSpPr/>
          <p:nvPr/>
        </p:nvSpPr>
        <p:spPr>
          <a:xfrm>
            <a:off x="9897427"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Universities</a:t>
            </a:r>
            <a:endParaRPr lang="en-US" sz="2200" dirty="0"/>
          </a:p>
        </p:txBody>
      </p:sp>
      <p:sp>
        <p:nvSpPr>
          <p:cNvPr id="12" name="Text 10"/>
          <p:cNvSpPr/>
          <p:nvPr/>
        </p:nvSpPr>
        <p:spPr>
          <a:xfrm>
            <a:off x="9897427" y="3861078"/>
            <a:ext cx="3681770" cy="1530906"/>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Increasing demand for advanced learning technologies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Need to improve student performance and engagement</a:t>
            </a:r>
            <a:endParaRPr lang="en-US" sz="1700" dirty="0"/>
          </a:p>
        </p:txBody>
      </p:sp>
      <p:sp>
        <p:nvSpPr>
          <p:cNvPr id="14" name="Rectangle 13">
            <a:extLst>
              <a:ext uri="{FF2B5EF4-FFF2-40B4-BE49-F238E27FC236}">
                <a16:creationId xmlns:a16="http://schemas.microsoft.com/office/drawing/2014/main" id="{7C612292-E7FF-9181-6851-FC68E7BAB4C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
        <p:nvSpPr>
          <p:cNvPr id="16" name="Text 0">
            <a:extLst>
              <a:ext uri="{FF2B5EF4-FFF2-40B4-BE49-F238E27FC236}">
                <a16:creationId xmlns:a16="http://schemas.microsoft.com/office/drawing/2014/main" id="{AC165C33-25BB-AD59-CAD9-A6A43FEB91C5}"/>
              </a:ext>
            </a:extLst>
          </p:cNvPr>
          <p:cNvSpPr/>
          <p:nvPr/>
        </p:nvSpPr>
        <p:spPr>
          <a:xfrm>
            <a:off x="12290611" y="32602"/>
            <a:ext cx="2160844" cy="531614"/>
          </a:xfrm>
          <a:prstGeom prst="rect">
            <a:avLst/>
          </a:prstGeom>
          <a:noFill/>
          <a:ln/>
        </p:spPr>
        <p:txBody>
          <a:bodyPr wrap="none" lIns="0" tIns="0" rIns="0" bIns="0" rtlCol="0" anchor="t"/>
          <a:lstStyle/>
          <a:p>
            <a:pPr marL="0" indent="0" algn="l">
              <a:lnSpc>
                <a:spcPts val="4150"/>
              </a:lnSpc>
              <a:buNone/>
            </a:pPr>
            <a:r>
              <a:rPr lang="en-US" sz="3800" b="1" dirty="0">
                <a:solidFill>
                  <a:srgbClr val="FF0000"/>
                </a:solidFill>
                <a:latin typeface="Lato Bold" pitchFamily="34" charset="0"/>
                <a:ea typeface="Lato Bold" pitchFamily="34" charset="-122"/>
                <a:cs typeface="Lato Bold" pitchFamily="34" charset="-120"/>
              </a:rPr>
              <a:t>AuraLearn</a:t>
            </a:r>
          </a:p>
          <a:p>
            <a:pPr marL="0" indent="0" algn="l">
              <a:lnSpc>
                <a:spcPts val="4150"/>
              </a:lnSpc>
              <a:buNone/>
            </a:pPr>
            <a:endParaRPr lang="en-US" sz="3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6B3705-C823-310D-F7EE-642986248830}"/>
              </a:ext>
            </a:extLst>
          </p:cNvPr>
          <p:cNvPicPr>
            <a:picLocks noChangeAspect="1"/>
          </p:cNvPicPr>
          <p:nvPr/>
        </p:nvPicPr>
        <p:blipFill>
          <a:blip r:embed="rId3"/>
          <a:stretch>
            <a:fillRect/>
          </a:stretch>
        </p:blipFill>
        <p:spPr>
          <a:xfrm>
            <a:off x="0" y="0"/>
            <a:ext cx="14630400" cy="8229600"/>
          </a:xfrm>
          <a:prstGeom prst="rect">
            <a:avLst/>
          </a:prstGeom>
        </p:spPr>
      </p:pic>
      <p:sp>
        <p:nvSpPr>
          <p:cNvPr id="3" name="TextBox 2">
            <a:extLst>
              <a:ext uri="{FF2B5EF4-FFF2-40B4-BE49-F238E27FC236}">
                <a16:creationId xmlns:a16="http://schemas.microsoft.com/office/drawing/2014/main" id="{1A74C646-4A08-6AF8-A17F-4A1A3A49CFED}"/>
              </a:ext>
            </a:extLst>
          </p:cNvPr>
          <p:cNvSpPr txBox="1"/>
          <p:nvPr/>
        </p:nvSpPr>
        <p:spPr>
          <a:xfrm>
            <a:off x="12215956" y="0"/>
            <a:ext cx="2414444" cy="677108"/>
          </a:xfrm>
          <a:prstGeom prst="rect">
            <a:avLst/>
          </a:prstGeom>
          <a:noFill/>
        </p:spPr>
        <p:txBody>
          <a:bodyPr wrap="none" rtlCol="0">
            <a:spAutoFit/>
          </a:bodyPr>
          <a:lstStyle/>
          <a:p>
            <a:r>
              <a:rPr lang="en-US" sz="3800" b="1" dirty="0">
                <a:solidFill>
                  <a:srgbClr val="FF0000"/>
                </a:solidFill>
                <a:latin typeface="Lato Bold" pitchFamily="34" charset="0"/>
                <a:ea typeface="Lato Bold" pitchFamily="34" charset="-122"/>
                <a:cs typeface="Lato Bold" pitchFamily="34" charset="-120"/>
              </a:rPr>
              <a:t>AuraLearn</a:t>
            </a:r>
            <a:endParaRPr lang="en-US" sz="3800" dirty="0"/>
          </a:p>
        </p:txBody>
      </p:sp>
      <p:sp>
        <p:nvSpPr>
          <p:cNvPr id="4" name="Rectangle 3">
            <a:extLst>
              <a:ext uri="{FF2B5EF4-FFF2-40B4-BE49-F238E27FC236}">
                <a16:creationId xmlns:a16="http://schemas.microsoft.com/office/drawing/2014/main" id="{6584C217-1C81-0129-54EF-CEC5EF76CA44}"/>
              </a:ext>
            </a:extLst>
          </p:cNvPr>
          <p:cNvSpPr/>
          <p:nvPr/>
        </p:nvSpPr>
        <p:spPr>
          <a:xfrm>
            <a:off x="4988859" y="134471"/>
            <a:ext cx="1801906" cy="542637"/>
          </a:xfrm>
          <a:prstGeom prst="rect">
            <a:avLst/>
          </a:prstGeom>
          <a:solidFill>
            <a:srgbClr val="F5F0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801367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14" name="Rectangle 13">
            <a:extLst>
              <a:ext uri="{FF2B5EF4-FFF2-40B4-BE49-F238E27FC236}">
                <a16:creationId xmlns:a16="http://schemas.microsoft.com/office/drawing/2014/main" id="{25D18EC5-F151-A3AA-7DCF-C66B43EB004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Dilmith I.H.S.    |    R26-SE-022</a:t>
            </a:r>
            <a:endParaRPr lang="en-US" sz="1600" dirty="0">
              <a:solidFill>
                <a:schemeClr val="tx1"/>
              </a:solidFill>
            </a:endParaRPr>
          </a:p>
        </p:txBody>
      </p:sp>
      <p:sp>
        <p:nvSpPr>
          <p:cNvPr id="13" name="Text 0">
            <a:extLst>
              <a:ext uri="{FF2B5EF4-FFF2-40B4-BE49-F238E27FC236}">
                <a16:creationId xmlns:a16="http://schemas.microsoft.com/office/drawing/2014/main" id="{9E7E7044-8097-BB76-03B9-C159279237DB}"/>
              </a:ext>
            </a:extLst>
          </p:cNvPr>
          <p:cNvSpPr/>
          <p:nvPr/>
        </p:nvSpPr>
        <p:spPr>
          <a:xfrm>
            <a:off x="6525490" y="2169390"/>
            <a:ext cx="7065818" cy="1381558"/>
          </a:xfrm>
          <a:prstGeom prst="rect">
            <a:avLst/>
          </a:prstGeom>
          <a:noFill/>
          <a:ln/>
        </p:spPr>
        <p:txBody>
          <a:bodyPr wrap="square" lIns="0" tIns="0" rIns="0" bIns="0" rtlCol="0" anchor="t"/>
          <a:lstStyle/>
          <a:p>
            <a:pPr>
              <a:lnSpc>
                <a:spcPts val="4167"/>
              </a:lnSpc>
            </a:pPr>
            <a:r>
              <a:rPr sz="3167" b="1" dirty="0">
                <a:latin typeface="Lato Bold"/>
              </a:rPr>
              <a:t>Component 1 - Confidence-Aware RAG Academic Tutoring Module</a:t>
            </a:r>
            <a:endParaRPr lang="en-US" sz="3167" dirty="0"/>
          </a:p>
        </p:txBody>
      </p:sp>
      <p:sp>
        <p:nvSpPr>
          <p:cNvPr id="15" name="Text 0">
            <a:extLst>
              <a:ext uri="{FF2B5EF4-FFF2-40B4-BE49-F238E27FC236}">
                <a16:creationId xmlns:a16="http://schemas.microsoft.com/office/drawing/2014/main" id="{4573DDFB-45E2-8CE5-59A0-8EB2B5CB9161}"/>
              </a:ext>
            </a:extLst>
          </p:cNvPr>
          <p:cNvSpPr/>
          <p:nvPr/>
        </p:nvSpPr>
        <p:spPr>
          <a:xfrm>
            <a:off x="6525490" y="787832"/>
            <a:ext cx="7065818" cy="1381558"/>
          </a:xfrm>
          <a:prstGeom prst="rect">
            <a:avLst/>
          </a:prstGeom>
          <a:noFill/>
          <a:ln/>
        </p:spPr>
        <p:txBody>
          <a:bodyPr wrap="square" lIns="0" tIns="0" rIns="0" bIns="0" rtlCol="0" anchor="t"/>
          <a:lstStyle/>
          <a:p>
            <a:pPr>
              <a:lnSpc>
                <a:spcPts val="4167"/>
              </a:lnSpc>
            </a:pPr>
            <a:r>
              <a:rPr lang="en-US" sz="3167" b="1" dirty="0">
                <a:latin typeface="Lato Bold" pitchFamily="34" charset="0"/>
                <a:ea typeface="Lato Bold" pitchFamily="34" charset="-122"/>
                <a:cs typeface="Lato Bold" pitchFamily="34" charset="-120"/>
              </a:rPr>
              <a:t>IT22120120</a:t>
            </a:r>
          </a:p>
          <a:p>
            <a:pPr>
              <a:lnSpc>
                <a:spcPts val="4167"/>
              </a:lnSpc>
            </a:pPr>
            <a:r>
              <a:rPr lang="en-US" sz="3167" b="1" dirty="0">
                <a:latin typeface="Lato Bold" pitchFamily="34" charset="0"/>
                <a:ea typeface="Lato Bold" pitchFamily="34" charset="-122"/>
                <a:cs typeface="Lato Bold" pitchFamily="34" charset="-120"/>
              </a:rPr>
              <a:t>Dilmith I.H.S. </a:t>
            </a:r>
            <a:endParaRPr lang="en-US" sz="3167" dirty="0"/>
          </a:p>
        </p:txBody>
      </p:sp>
      <p:sp>
        <p:nvSpPr>
          <p:cNvPr id="16" name="Text 0">
            <a:extLst>
              <a:ext uri="{FF2B5EF4-FFF2-40B4-BE49-F238E27FC236}">
                <a16:creationId xmlns:a16="http://schemas.microsoft.com/office/drawing/2014/main" id="{CEAB49F8-FD28-A8F6-4393-42A51FC68E4D}"/>
              </a:ext>
            </a:extLst>
          </p:cNvPr>
          <p:cNvSpPr/>
          <p:nvPr/>
        </p:nvSpPr>
        <p:spPr>
          <a:xfrm>
            <a:off x="6525490" y="3620633"/>
            <a:ext cx="1883353" cy="583583"/>
          </a:xfrm>
          <a:prstGeom prst="rect">
            <a:avLst/>
          </a:prstGeom>
          <a:noFill/>
          <a:ln/>
        </p:spPr>
        <p:txBody>
          <a:bodyPr wrap="square" lIns="0" tIns="0" rIns="0" bIns="0" rtlCol="0" anchor="t"/>
          <a:lstStyle/>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Lato Bold" pitchFamily="34" charset="0"/>
                <a:ea typeface="Lato Bold" pitchFamily="34" charset="-122"/>
                <a:cs typeface="Lato Bold" pitchFamily="34" charset="-120"/>
              </a:rPr>
              <a:t>SE specialization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a:extLst>
              <a:ext uri="{FF2B5EF4-FFF2-40B4-BE49-F238E27FC236}">
                <a16:creationId xmlns:a16="http://schemas.microsoft.com/office/drawing/2014/main" id="{EB1CAF3B-EF22-AD6C-4E49-2C315EE4B957}"/>
              </a:ext>
            </a:extLst>
          </p:cNvPr>
          <p:cNvPicPr>
            <a:picLocks noChangeAspect="1"/>
          </p:cNvPicPr>
          <p:nvPr/>
        </p:nvPicPr>
        <p:blipFill>
          <a:blip r:embed="rId4"/>
          <a:srcRect/>
          <a:stretch/>
        </p:blipFill>
        <p:spPr>
          <a:xfrm>
            <a:off x="8791352" y="4390867"/>
            <a:ext cx="4108220" cy="27361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4" name="Text 0">
            <a:extLst>
              <a:ext uri="{FF2B5EF4-FFF2-40B4-BE49-F238E27FC236}">
                <a16:creationId xmlns:a16="http://schemas.microsoft.com/office/drawing/2014/main" id="{CA6F4D83-5C54-CC00-2209-CFF941DAEDD4}"/>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46" name="Rectangle 45">
            <a:extLst>
              <a:ext uri="{FF2B5EF4-FFF2-40B4-BE49-F238E27FC236}">
                <a16:creationId xmlns:a16="http://schemas.microsoft.com/office/drawing/2014/main" id="{6C1080BC-D5AC-85E9-FD08-7072B790748B}"/>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Dilmith I.H.S.    |    R26-SE-022</a:t>
            </a:r>
            <a:endParaRPr lang="en-US" sz="1600" dirty="0">
              <a:solidFill>
                <a:schemeClr val="tx1"/>
              </a:solidFill>
            </a:endParaRPr>
          </a:p>
        </p:txBody>
      </p:sp>
      <p:sp>
        <p:nvSpPr>
          <p:cNvPr id="8" name="Text 1">
            <a:extLst>
              <a:ext uri="{FF2B5EF4-FFF2-40B4-BE49-F238E27FC236}">
                <a16:creationId xmlns:a16="http://schemas.microsoft.com/office/drawing/2014/main" id="{B78D0EE4-8A9D-E5DD-C166-A17A08935547}"/>
              </a:ext>
            </a:extLst>
          </p:cNvPr>
          <p:cNvSpPr/>
          <p:nvPr/>
        </p:nvSpPr>
        <p:spPr>
          <a:xfrm>
            <a:off x="661492" y="2053923"/>
            <a:ext cx="13455610" cy="1190019"/>
          </a:xfrm>
          <a:prstGeom prst="rect">
            <a:avLst/>
          </a:prstGeom>
          <a:noFill/>
          <a:ln/>
        </p:spPr>
        <p:txBody>
          <a:bodyPr wrap="square" lIns="0" tIns="0" rIns="0" bIns="0" rtlCol="0" anchor="t"/>
          <a:lstStyle/>
          <a:p>
            <a:pPr marL="285739" indent="-285739" algn="just">
              <a:buFont typeface="Arial" panose="020B0604020202020204" pitchFamily="34" charset="0"/>
              <a:buChar char="•"/>
            </a:pPr>
            <a:r>
              <a:rPr sz="2400" b="1" dirty="0"/>
              <a:t>The Sub-Problem:</a:t>
            </a:r>
            <a:r>
              <a:rPr sz="2400" dirty="0"/>
              <a:t> </a:t>
            </a:r>
            <a:endParaRPr lang="en-US" sz="2400" dirty="0"/>
          </a:p>
          <a:p>
            <a:pPr lvl="1" algn="just"/>
            <a:r>
              <a:rPr sz="2400" dirty="0"/>
              <a:t>Standard LLMs frequently generate “hallucinations” (factually incorrect answers) and provide direct responses even when uncertain, which is dangerous in academic settings.</a:t>
            </a:r>
          </a:p>
        </p:txBody>
      </p:sp>
      <p:sp>
        <p:nvSpPr>
          <p:cNvPr id="9" name="Text 0">
            <a:extLst>
              <a:ext uri="{FF2B5EF4-FFF2-40B4-BE49-F238E27FC236}">
                <a16:creationId xmlns:a16="http://schemas.microsoft.com/office/drawing/2014/main" id="{63F03383-8911-8682-45CE-5301C2021B61}"/>
              </a:ext>
            </a:extLst>
          </p:cNvPr>
          <p:cNvSpPr/>
          <p:nvPr/>
        </p:nvSpPr>
        <p:spPr>
          <a:xfrm>
            <a:off x="793790" y="1318154"/>
            <a:ext cx="8755356" cy="413444"/>
          </a:xfrm>
          <a:prstGeom prst="rect">
            <a:avLst/>
          </a:prstGeom>
          <a:noFill/>
          <a:ln/>
        </p:spPr>
        <p:txBody>
          <a:bodyPr wrap="square" lIns="0" tIns="0" rIns="0" bIns="0" rtlCol="0" anchor="t"/>
          <a:lstStyle/>
          <a:p>
            <a:pPr>
              <a:lnSpc>
                <a:spcPts val="3250"/>
              </a:lnSpc>
            </a:pPr>
            <a:r>
              <a:rPr sz="3200" b="1" dirty="0"/>
              <a:t>How the Solution Addresses the Sub-Problem</a:t>
            </a:r>
            <a:endParaRPr lang="en-US" sz="3200" b="1" dirty="0"/>
          </a:p>
        </p:txBody>
      </p:sp>
      <p:sp>
        <p:nvSpPr>
          <p:cNvPr id="10" name="Text 1">
            <a:extLst>
              <a:ext uri="{FF2B5EF4-FFF2-40B4-BE49-F238E27FC236}">
                <a16:creationId xmlns:a16="http://schemas.microsoft.com/office/drawing/2014/main" id="{DEEE8FB8-CA93-546C-ADA7-54B2AC907869}"/>
              </a:ext>
            </a:extLst>
          </p:cNvPr>
          <p:cNvSpPr/>
          <p:nvPr/>
        </p:nvSpPr>
        <p:spPr>
          <a:xfrm>
            <a:off x="563520" y="3425197"/>
            <a:ext cx="13685879" cy="3486249"/>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The Architectural Solution:</a:t>
            </a:r>
          </a:p>
          <a:p>
            <a:pPr lvl="1" algn="just"/>
            <a:r>
              <a:rPr sz="2400" dirty="0"/>
              <a:t>Confidence-Aware RAG Pipeline: Combines a Vector Database (FAISS/</a:t>
            </a:r>
            <a:r>
              <a:rPr sz="2400" dirty="0" err="1"/>
              <a:t>ChromaDB</a:t>
            </a:r>
            <a:r>
              <a:rPr sz="2400" dirty="0"/>
              <a:t>) with uncertainty estimation (log-probability, entropy) to verify model certainty before answering.</a:t>
            </a:r>
            <a:endParaRPr lang="en-US" sz="2400" dirty="0"/>
          </a:p>
          <a:p>
            <a:pPr lvl="1" algn="just"/>
            <a:endParaRPr lang="en-US" sz="2400" dirty="0"/>
          </a:p>
          <a:p>
            <a:pPr lvl="1" algn="just"/>
            <a:r>
              <a:rPr sz="2400" dirty="0"/>
              <a:t>Multi-Tier Adaptive Response: Instead of always answering, the system intelligently chooses between a Direct Answer, a Guided Hint, or a Clarification Request based on confidence levels.</a:t>
            </a:r>
            <a:endParaRPr lang="en-US" sz="2400" dirty="0"/>
          </a:p>
          <a:p>
            <a:pPr lvl="1" algn="just"/>
            <a:endParaRPr lang="en-US" sz="2400" dirty="0"/>
          </a:p>
          <a:p>
            <a:pPr lvl="1" algn="just"/>
            <a:r>
              <a:rPr sz="2400" dirty="0"/>
              <a:t>Strict Grounding Enforcement: All responses are anchored to indexed course materials (slides, textbooks), ensuring every claim is traceable to a verified academic source.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F9257397-B626-5FE7-440D-579AF41F5762}"/>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19" name="Rectangle 18">
            <a:extLst>
              <a:ext uri="{FF2B5EF4-FFF2-40B4-BE49-F238E27FC236}">
                <a16:creationId xmlns:a16="http://schemas.microsoft.com/office/drawing/2014/main" id="{CF2E73DD-9C0A-5949-5BB2-D70B1D073C92}"/>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Dilmith I.H.S.    |    R26-SE-022</a:t>
            </a:r>
            <a:endParaRPr lang="en-US" sz="1600" dirty="0">
              <a:solidFill>
                <a:schemeClr val="tx1"/>
              </a:solidFill>
            </a:endParaRPr>
          </a:p>
        </p:txBody>
      </p:sp>
      <p:sp>
        <p:nvSpPr>
          <p:cNvPr id="2" name="Text 1">
            <a:extLst>
              <a:ext uri="{FF2B5EF4-FFF2-40B4-BE49-F238E27FC236}">
                <a16:creationId xmlns:a16="http://schemas.microsoft.com/office/drawing/2014/main" id="{050E0918-7BF5-9B72-884D-D20A2E7132CD}"/>
              </a:ext>
            </a:extLst>
          </p:cNvPr>
          <p:cNvSpPr/>
          <p:nvPr/>
        </p:nvSpPr>
        <p:spPr>
          <a:xfrm>
            <a:off x="793790" y="1994504"/>
            <a:ext cx="13455610" cy="871601"/>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Reliability &amp; Accuracy (FR4 &amp; FR6): </a:t>
            </a:r>
            <a:r>
              <a:rPr sz="2400" dirty="0"/>
              <a:t>Guarantees that direct answers are grounded in course materials, maintaining a hallucination rate of less than 10%.</a:t>
            </a:r>
          </a:p>
        </p:txBody>
      </p:sp>
      <p:sp>
        <p:nvSpPr>
          <p:cNvPr id="16" name="Text 0">
            <a:extLst>
              <a:ext uri="{FF2B5EF4-FFF2-40B4-BE49-F238E27FC236}">
                <a16:creationId xmlns:a16="http://schemas.microsoft.com/office/drawing/2014/main" id="{17B60707-4EA1-54FD-CC46-BECAA0FC71B3}"/>
              </a:ext>
            </a:extLst>
          </p:cNvPr>
          <p:cNvSpPr/>
          <p:nvPr/>
        </p:nvSpPr>
        <p:spPr>
          <a:xfrm>
            <a:off x="793789" y="1357637"/>
            <a:ext cx="7990981" cy="413444"/>
          </a:xfrm>
          <a:prstGeom prst="rect">
            <a:avLst/>
          </a:prstGeom>
          <a:noFill/>
          <a:ln/>
        </p:spPr>
        <p:txBody>
          <a:bodyPr wrap="square" lIns="0" tIns="0" rIns="0" bIns="0" rtlCol="0" anchor="t"/>
          <a:lstStyle/>
          <a:p>
            <a:pPr>
              <a:lnSpc>
                <a:spcPts val="3250"/>
              </a:lnSpc>
            </a:pPr>
            <a:r>
              <a:rPr sz="3200" b="1" dirty="0"/>
              <a:t>User Requirements Addressed by the Solution</a:t>
            </a:r>
            <a:endParaRPr lang="en-US" sz="3200" b="1" dirty="0"/>
          </a:p>
        </p:txBody>
      </p:sp>
      <p:sp>
        <p:nvSpPr>
          <p:cNvPr id="20" name="Text 1">
            <a:extLst>
              <a:ext uri="{FF2B5EF4-FFF2-40B4-BE49-F238E27FC236}">
                <a16:creationId xmlns:a16="http://schemas.microsoft.com/office/drawing/2014/main" id="{73B6CFB8-CDF8-3213-2639-C3D4BC0B4680}"/>
              </a:ext>
            </a:extLst>
          </p:cNvPr>
          <p:cNvSpPr/>
          <p:nvPr/>
        </p:nvSpPr>
        <p:spPr>
          <a:xfrm>
            <a:off x="793790" y="3140601"/>
            <a:ext cx="13455610" cy="3731362"/>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Pedagogical Adaptivity (FR5):</a:t>
            </a:r>
            <a:r>
              <a:rPr sz="2400" dirty="0"/>
              <a:t> Supports deep learning by providing guided hints instead of only full solutions, preventing students from bypassing the learning process.</a:t>
            </a:r>
          </a:p>
          <a:p>
            <a:endParaRPr sz="2400" dirty="0"/>
          </a:p>
          <a:p>
            <a:pPr lvl="1"/>
            <a:r>
              <a:rPr sz="2400" b="1" dirty="0"/>
              <a:t>Real-Time Responsiveness (NFR-A): </a:t>
            </a:r>
            <a:r>
              <a:rPr sz="2400" dirty="0"/>
              <a:t>Optimized to deliver grounded and validated academic explanations within 3–5 seconds.</a:t>
            </a:r>
          </a:p>
          <a:p>
            <a:pPr lvl="1"/>
            <a:endParaRPr sz="2400" dirty="0"/>
          </a:p>
          <a:p>
            <a:pPr lvl="1"/>
            <a:r>
              <a:rPr sz="2400" b="1" dirty="0"/>
              <a:t>Privacy &amp; Transparency (NFR-D &amp; NFR-F): </a:t>
            </a:r>
            <a:r>
              <a:rPr sz="2400" dirty="0"/>
              <a:t>Ensures zero storage of personal student data and clearly indicates when the system is uncertain through transparency indicators.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E2BEFB9D-9859-7874-E7B8-9FF10E3C9F4D}"/>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12" name="Rectangle 11">
            <a:extLst>
              <a:ext uri="{FF2B5EF4-FFF2-40B4-BE49-F238E27FC236}">
                <a16:creationId xmlns:a16="http://schemas.microsoft.com/office/drawing/2014/main" id="{7448A21A-7DC1-53B3-D5F4-56A12DC9A124}"/>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Dilmith I.H.S.    |    R26-SE-022</a:t>
            </a:r>
            <a:endParaRPr lang="en-US" sz="1600" dirty="0">
              <a:solidFill>
                <a:schemeClr val="tx1"/>
              </a:solidFill>
            </a:endParaRPr>
          </a:p>
        </p:txBody>
      </p:sp>
      <p:sp>
        <p:nvSpPr>
          <p:cNvPr id="15" name="Text 1">
            <a:extLst>
              <a:ext uri="{FF2B5EF4-FFF2-40B4-BE49-F238E27FC236}">
                <a16:creationId xmlns:a16="http://schemas.microsoft.com/office/drawing/2014/main" id="{3A98E622-C5E4-FCEF-FD88-AE8BA97BDF90}"/>
              </a:ext>
            </a:extLst>
          </p:cNvPr>
          <p:cNvSpPr/>
          <p:nvPr/>
        </p:nvSpPr>
        <p:spPr>
          <a:xfrm>
            <a:off x="793790" y="1840053"/>
            <a:ext cx="13455610" cy="2157780"/>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The Hybrid Uncertainty Mechanism (Core Contribution): </a:t>
            </a:r>
            <a:r>
              <a:rPr sz="2400" dirty="0"/>
              <a:t>Combines probabilistic analysis (log-probabilities) with logic-based self-consistency checks to detect model failure before it occurs.</a:t>
            </a:r>
          </a:p>
          <a:p>
            <a:endParaRPr sz="2400" dirty="0"/>
          </a:p>
          <a:p>
            <a:pPr lvl="1"/>
            <a:r>
              <a:rPr sz="2400" b="1" dirty="0"/>
              <a:t>Impact: </a:t>
            </a:r>
            <a:r>
              <a:rPr sz="2400" dirty="0"/>
              <a:t>Bridges the research gap where existing RAG systems use “static prompting” by introducing a dynamic response controller that adapts to the model’s self-assessed reliability.</a:t>
            </a:r>
          </a:p>
        </p:txBody>
      </p:sp>
      <p:sp>
        <p:nvSpPr>
          <p:cNvPr id="16" name="Text 0">
            <a:extLst>
              <a:ext uri="{FF2B5EF4-FFF2-40B4-BE49-F238E27FC236}">
                <a16:creationId xmlns:a16="http://schemas.microsoft.com/office/drawing/2014/main" id="{7F6A7E7A-B234-53F0-D37A-D4504A8EE006}"/>
              </a:ext>
            </a:extLst>
          </p:cNvPr>
          <p:cNvSpPr/>
          <p:nvPr/>
        </p:nvSpPr>
        <p:spPr>
          <a:xfrm>
            <a:off x="793790" y="1343887"/>
            <a:ext cx="10869018" cy="413444"/>
          </a:xfrm>
          <a:prstGeom prst="rect">
            <a:avLst/>
          </a:prstGeom>
          <a:noFill/>
          <a:ln/>
        </p:spPr>
        <p:txBody>
          <a:bodyPr wrap="square" lIns="0" tIns="0" rIns="0" bIns="0" rtlCol="0" anchor="t"/>
          <a:lstStyle/>
          <a:p>
            <a:pPr>
              <a:lnSpc>
                <a:spcPts val="3250"/>
              </a:lnSpc>
            </a:pPr>
            <a:r>
              <a:rPr sz="3200" b="1" dirty="0"/>
              <a:t>Design Excellence &amp; Key Contributions</a:t>
            </a:r>
            <a:endParaRPr lang="en-US" sz="3200" b="1" dirty="0"/>
          </a:p>
        </p:txBody>
      </p:sp>
      <p:sp>
        <p:nvSpPr>
          <p:cNvPr id="17" name="Text 1">
            <a:extLst>
              <a:ext uri="{FF2B5EF4-FFF2-40B4-BE49-F238E27FC236}">
                <a16:creationId xmlns:a16="http://schemas.microsoft.com/office/drawing/2014/main" id="{1E7A845E-00E0-ECB5-CE43-01406398A216}"/>
              </a:ext>
            </a:extLst>
          </p:cNvPr>
          <p:cNvSpPr/>
          <p:nvPr/>
        </p:nvSpPr>
        <p:spPr>
          <a:xfrm>
            <a:off x="793790" y="4011495"/>
            <a:ext cx="13455610" cy="1096681"/>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Course-Specific Authoritative Grounding: </a:t>
            </a:r>
            <a:r>
              <a:rPr sz="2400" dirty="0"/>
              <a:t>Transforms generic AI into a specialized academic tutor by indexing local institutional knowledge as the “Authoritative Source of Truth”.</a:t>
            </a:r>
          </a:p>
        </p:txBody>
      </p:sp>
      <p:sp>
        <p:nvSpPr>
          <p:cNvPr id="18" name="Text 1">
            <a:extLst>
              <a:ext uri="{FF2B5EF4-FFF2-40B4-BE49-F238E27FC236}">
                <a16:creationId xmlns:a16="http://schemas.microsoft.com/office/drawing/2014/main" id="{6AAB17BE-3E56-6744-57B2-8748A43874BD}"/>
              </a:ext>
            </a:extLst>
          </p:cNvPr>
          <p:cNvSpPr/>
          <p:nvPr/>
        </p:nvSpPr>
        <p:spPr>
          <a:xfrm>
            <a:off x="793790" y="5195342"/>
            <a:ext cx="13455610" cy="1196377"/>
          </a:xfrm>
          <a:prstGeom prst="rect">
            <a:avLst/>
          </a:prstGeom>
          <a:noFill/>
          <a:ln/>
        </p:spPr>
        <p:txBody>
          <a:bodyPr wrap="square" lIns="0" tIns="0" rIns="0" bIns="0" rtlCol="0" anchor="t"/>
          <a:lstStyle/>
          <a:p>
            <a:pPr marL="285739" indent="-285739">
              <a:buFont typeface="Arial" panose="020B0604020202020204" pitchFamily="34" charset="0"/>
              <a:buChar char="•"/>
            </a:pPr>
            <a:r>
              <a:rPr sz="2400" b="1" dirty="0"/>
              <a:t>Contribution to SDG 4:</a:t>
            </a:r>
            <a:r>
              <a:rPr sz="2400" dirty="0"/>
              <a:t> Directly promotes high-quality education by providing a scalable, reliable, and trustworthy AI tutor that supports self-directed learning.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14" name="Rectangle 13">
            <a:extLst>
              <a:ext uri="{FF2B5EF4-FFF2-40B4-BE49-F238E27FC236}">
                <a16:creationId xmlns:a16="http://schemas.microsoft.com/office/drawing/2014/main" id="{DF97E60D-271B-370D-62B4-D8867DE06BF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Vijithapala T.G.K.G.    |    R26-SE-022</a:t>
            </a:r>
            <a:endParaRPr lang="en-US" sz="1600" dirty="0">
              <a:solidFill>
                <a:schemeClr val="tx1"/>
              </a:solidFill>
            </a:endParaRPr>
          </a:p>
        </p:txBody>
      </p:sp>
      <p:sp>
        <p:nvSpPr>
          <p:cNvPr id="13" name="Text 0">
            <a:extLst>
              <a:ext uri="{FF2B5EF4-FFF2-40B4-BE49-F238E27FC236}">
                <a16:creationId xmlns:a16="http://schemas.microsoft.com/office/drawing/2014/main" id="{A0B499A5-1523-8526-8641-7EA1EBD34CA4}"/>
              </a:ext>
            </a:extLst>
          </p:cNvPr>
          <p:cNvSpPr/>
          <p:nvPr/>
        </p:nvSpPr>
        <p:spPr>
          <a:xfrm>
            <a:off x="6619132" y="2300019"/>
            <a:ext cx="7065818" cy="1381558"/>
          </a:xfrm>
          <a:prstGeom prst="rect">
            <a:avLst/>
          </a:prstGeom>
          <a:noFill/>
          <a:ln/>
        </p:spPr>
        <p:txBody>
          <a:bodyPr wrap="square" lIns="0" tIns="0" rIns="0" bIns="0" rtlCol="0" anchor="t"/>
          <a:lstStyle/>
          <a:p>
            <a:r>
              <a:rPr lang="en-US" sz="2800" b="1" dirty="0">
                <a:latin typeface="Lato Bold"/>
              </a:rPr>
              <a:t>Component 1 - </a:t>
            </a:r>
            <a:r>
              <a:rPr lang="en-US" sz="3000" b="1" dirty="0">
                <a:latin typeface="Aptos"/>
              </a:rPr>
              <a:t>Learning‑Objective‑Aware Lecture Summarization &amp; Flashcards</a:t>
            </a:r>
          </a:p>
        </p:txBody>
      </p:sp>
      <p:sp>
        <p:nvSpPr>
          <p:cNvPr id="15" name="Text 0">
            <a:extLst>
              <a:ext uri="{FF2B5EF4-FFF2-40B4-BE49-F238E27FC236}">
                <a16:creationId xmlns:a16="http://schemas.microsoft.com/office/drawing/2014/main" id="{CBCC2618-3A24-D84A-ED27-54BBF95C4E66}"/>
              </a:ext>
            </a:extLst>
          </p:cNvPr>
          <p:cNvSpPr/>
          <p:nvPr/>
        </p:nvSpPr>
        <p:spPr>
          <a:xfrm>
            <a:off x="6619132" y="918461"/>
            <a:ext cx="7065818" cy="1381558"/>
          </a:xfrm>
          <a:prstGeom prst="rect">
            <a:avLst/>
          </a:prstGeom>
          <a:noFill/>
          <a:ln/>
        </p:spPr>
        <p:txBody>
          <a:bodyPr wrap="square" lIns="0" tIns="0" rIns="0" bIns="0" rtlCol="0" anchor="t"/>
          <a:lstStyle/>
          <a:p>
            <a:pPr>
              <a:lnSpc>
                <a:spcPts val="4167"/>
              </a:lnSpc>
            </a:pPr>
            <a:r>
              <a:rPr lang="en-US" sz="3167" b="1" dirty="0">
                <a:latin typeface="Lato Bold" pitchFamily="34" charset="0"/>
                <a:ea typeface="Lato Bold" pitchFamily="34" charset="-122"/>
                <a:cs typeface="Lato Bold" pitchFamily="34" charset="-120"/>
              </a:rPr>
              <a:t>IT22187178</a:t>
            </a:r>
          </a:p>
          <a:p>
            <a:pPr>
              <a:lnSpc>
                <a:spcPts val="4167"/>
              </a:lnSpc>
            </a:pPr>
            <a:r>
              <a:rPr lang="en-US" sz="3167" b="1" dirty="0">
                <a:latin typeface="Lato Bold" pitchFamily="34" charset="0"/>
                <a:ea typeface="Lato Bold" pitchFamily="34" charset="-122"/>
                <a:cs typeface="Lato Bold" pitchFamily="34" charset="-120"/>
              </a:rPr>
              <a:t>Vijithapala T.G.K.G.</a:t>
            </a:r>
            <a:endParaRPr lang="en-US" sz="3167" dirty="0"/>
          </a:p>
        </p:txBody>
      </p:sp>
      <p:sp>
        <p:nvSpPr>
          <p:cNvPr id="16" name="Text 0">
            <a:extLst>
              <a:ext uri="{FF2B5EF4-FFF2-40B4-BE49-F238E27FC236}">
                <a16:creationId xmlns:a16="http://schemas.microsoft.com/office/drawing/2014/main" id="{3CE4E51E-1FE4-DE56-D0F7-933E6E23487B}"/>
              </a:ext>
            </a:extLst>
          </p:cNvPr>
          <p:cNvSpPr/>
          <p:nvPr/>
        </p:nvSpPr>
        <p:spPr>
          <a:xfrm>
            <a:off x="6619132" y="3751262"/>
            <a:ext cx="1883353" cy="583583"/>
          </a:xfrm>
          <a:prstGeom prst="rect">
            <a:avLst/>
          </a:prstGeom>
          <a:noFill/>
          <a:ln/>
        </p:spPr>
        <p:txBody>
          <a:bodyPr wrap="square" lIns="0" tIns="0" rIns="0" bIns="0" rtlCol="0" anchor="t"/>
          <a:lstStyle/>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Lato Bold" pitchFamily="34" charset="0"/>
                <a:ea typeface="Lato Bold" pitchFamily="34" charset="-122"/>
                <a:cs typeface="Lato Bold" pitchFamily="34" charset="-120"/>
              </a:rPr>
              <a:t>SE specialization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a:extLst>
              <a:ext uri="{FF2B5EF4-FFF2-40B4-BE49-F238E27FC236}">
                <a16:creationId xmlns:a16="http://schemas.microsoft.com/office/drawing/2014/main" id="{F0B23AB5-5886-18CA-050F-B1DA81D6289C}"/>
              </a:ext>
            </a:extLst>
          </p:cNvPr>
          <p:cNvPicPr>
            <a:picLocks noChangeAspect="1"/>
          </p:cNvPicPr>
          <p:nvPr/>
        </p:nvPicPr>
        <p:blipFill>
          <a:blip r:embed="rId4"/>
          <a:srcRect/>
          <a:stretch/>
        </p:blipFill>
        <p:spPr>
          <a:xfrm>
            <a:off x="9483708" y="4065140"/>
            <a:ext cx="2580892" cy="29234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05840" y="2026801"/>
            <a:ext cx="3817025" cy="5089327"/>
          </a:xfrm>
          <a:prstGeom prst="rect">
            <a:avLst/>
          </a:prstGeom>
        </p:spPr>
      </p:pic>
      <p:sp>
        <p:nvSpPr>
          <p:cNvPr id="27" name="Text 0">
            <a:extLst>
              <a:ext uri="{FF2B5EF4-FFF2-40B4-BE49-F238E27FC236}">
                <a16:creationId xmlns:a16="http://schemas.microsoft.com/office/drawing/2014/main" id="{5457310A-1414-A122-7A33-D1F6E4A4E530}"/>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28" name="Rectangle 27">
            <a:extLst>
              <a:ext uri="{FF2B5EF4-FFF2-40B4-BE49-F238E27FC236}">
                <a16:creationId xmlns:a16="http://schemas.microsoft.com/office/drawing/2014/main" id="{7FDFF0C3-9D51-9D67-FE1D-45EE9C8E0A64}"/>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Vijithapala T.G.K.G.    |    R26-SE-022</a:t>
            </a:r>
            <a:endParaRPr lang="en-US" sz="1600" dirty="0">
              <a:solidFill>
                <a:schemeClr val="tx1"/>
              </a:solidFill>
            </a:endParaRPr>
          </a:p>
        </p:txBody>
      </p:sp>
      <p:sp>
        <p:nvSpPr>
          <p:cNvPr id="2" name="Text 1">
            <a:extLst>
              <a:ext uri="{FF2B5EF4-FFF2-40B4-BE49-F238E27FC236}">
                <a16:creationId xmlns:a16="http://schemas.microsoft.com/office/drawing/2014/main" id="{640D4B4E-F3C3-E2E1-D39F-AD1386D984D2}"/>
              </a:ext>
            </a:extLst>
          </p:cNvPr>
          <p:cNvSpPr/>
          <p:nvPr/>
        </p:nvSpPr>
        <p:spPr>
          <a:xfrm>
            <a:off x="5059320" y="2064568"/>
            <a:ext cx="8994137" cy="1135831"/>
          </a:xfrm>
          <a:prstGeom prst="rect">
            <a:avLst/>
          </a:prstGeom>
          <a:noFill/>
          <a:ln/>
        </p:spPr>
        <p:txBody>
          <a:bodyPr wrap="square" lIns="0" tIns="0" rIns="0" bIns="0" rtlCol="0" anchor="t">
            <a:noAutofit/>
          </a:bodyPr>
          <a:lstStyle/>
          <a:p>
            <a:pPr marL="285739" indent="-285739">
              <a:spcAft>
                <a:spcPts val="0"/>
              </a:spcAft>
              <a:buFont typeface="Arial" panose="020B0604020202020204" pitchFamily="34" charset="0"/>
              <a:buChar char="•"/>
            </a:pPr>
            <a:r>
              <a:rPr sz="2400" b="1" dirty="0">
                <a:solidFill>
                  <a:srgbClr val="202020"/>
                </a:solidFill>
                <a:latin typeface="Aptos"/>
              </a:rPr>
              <a:t>The Sub-Problem: </a:t>
            </a:r>
            <a:r>
              <a:rPr lang="en-US" dirty="0"/>
              <a:t>Unlike general-purpose summarization tools, this system ingests module-specific course syllabi, learning objectives, and keyword configurations alongside lecture materials to create a domain-aware knowledge filter tailored to SLIIT modules.</a:t>
            </a:r>
            <a:r>
              <a:rPr sz="2400" b="0" dirty="0">
                <a:solidFill>
                  <a:srgbClr val="202020"/>
                </a:solidFill>
                <a:latin typeface="Aptos"/>
              </a:rPr>
              <a:t>.</a:t>
            </a:r>
          </a:p>
        </p:txBody>
      </p:sp>
      <p:sp>
        <p:nvSpPr>
          <p:cNvPr id="4" name="Text 0">
            <a:extLst>
              <a:ext uri="{FF2B5EF4-FFF2-40B4-BE49-F238E27FC236}">
                <a16:creationId xmlns:a16="http://schemas.microsoft.com/office/drawing/2014/main" id="{47BAD6BD-6358-A657-BF3F-FF9F364D3B5F}"/>
              </a:ext>
            </a:extLst>
          </p:cNvPr>
          <p:cNvSpPr/>
          <p:nvPr/>
        </p:nvSpPr>
        <p:spPr>
          <a:xfrm>
            <a:off x="5059320" y="1427701"/>
            <a:ext cx="9113880" cy="413444"/>
          </a:xfrm>
          <a:prstGeom prst="rect">
            <a:avLst/>
          </a:prstGeom>
          <a:noFill/>
          <a:ln/>
        </p:spPr>
        <p:txBody>
          <a:bodyPr wrap="none" lIns="0" tIns="0" rIns="0" bIns="0" rtlCol="0" anchor="t"/>
          <a:lstStyle/>
          <a:p>
            <a:r>
              <a:rPr sz="3200" b="1" dirty="0">
                <a:latin typeface="Aptos"/>
              </a:rPr>
              <a:t>How the Solution Addresses the Sub-Problem</a:t>
            </a:r>
          </a:p>
        </p:txBody>
      </p:sp>
      <p:sp>
        <p:nvSpPr>
          <p:cNvPr id="10" name="Text 1">
            <a:extLst>
              <a:ext uri="{FF2B5EF4-FFF2-40B4-BE49-F238E27FC236}">
                <a16:creationId xmlns:a16="http://schemas.microsoft.com/office/drawing/2014/main" id="{1CD06566-7673-C50E-F108-5CBD03C15636}"/>
              </a:ext>
            </a:extLst>
          </p:cNvPr>
          <p:cNvSpPr/>
          <p:nvPr/>
        </p:nvSpPr>
        <p:spPr>
          <a:xfrm>
            <a:off x="5059320" y="3474141"/>
            <a:ext cx="8994137" cy="3641987"/>
          </a:xfrm>
          <a:prstGeom prst="rect">
            <a:avLst/>
          </a:prstGeom>
          <a:noFill/>
          <a:ln/>
        </p:spPr>
        <p:txBody>
          <a:bodyPr wrap="square" lIns="0" tIns="0" rIns="0" bIns="0" rtlCol="0" anchor="t">
            <a:noAutofit/>
          </a:bodyPr>
          <a:lstStyle/>
          <a:p>
            <a:pPr marL="285739" indent="-285739">
              <a:lnSpc>
                <a:spcPts val="2000"/>
              </a:lnSpc>
              <a:spcAft>
                <a:spcPts val="1000"/>
              </a:spcAft>
              <a:buFont typeface="Arial" panose="020B0604020202020204" pitchFamily="34" charset="0"/>
              <a:buChar char="•"/>
            </a:pPr>
            <a:r>
              <a:rPr sz="2400" b="1" dirty="0">
                <a:solidFill>
                  <a:srgbClr val="202020"/>
                </a:solidFill>
                <a:latin typeface="Aptos"/>
              </a:rPr>
              <a:t>The Architectural Solution:</a:t>
            </a:r>
          </a:p>
          <a:p>
            <a:pPr lvl="1">
              <a:spcAft>
                <a:spcPts val="1000"/>
              </a:spcAft>
            </a:pPr>
            <a:r>
              <a:rPr sz="2200" b="1" dirty="0">
                <a:solidFill>
                  <a:srgbClr val="202020"/>
                </a:solidFill>
                <a:latin typeface="Aptos"/>
              </a:rPr>
              <a:t>Context-Aware Processing:</a:t>
            </a:r>
            <a:r>
              <a:rPr lang="en-US" sz="2200" b="1" dirty="0">
                <a:solidFill>
                  <a:srgbClr val="202020"/>
                </a:solidFill>
                <a:latin typeface="Aptos"/>
              </a:rPr>
              <a:t> </a:t>
            </a:r>
            <a:r>
              <a:rPr lang="en-US" sz="2200" dirty="0"/>
              <a:t>Ingests module syllabi, learning objectives, and keywords alongside lecture materials to create a domain-specific knowledge filter tailored to SLIIT modules.</a:t>
            </a:r>
            <a:r>
              <a:rPr sz="2200" b="1" dirty="0">
                <a:solidFill>
                  <a:srgbClr val="202020"/>
                </a:solidFill>
                <a:latin typeface="Aptos"/>
              </a:rPr>
              <a:t> </a:t>
            </a:r>
            <a:endParaRPr lang="en-US" sz="2200" b="1" dirty="0">
              <a:solidFill>
                <a:srgbClr val="202020"/>
              </a:solidFill>
              <a:latin typeface="Aptos"/>
            </a:endParaRPr>
          </a:p>
          <a:p>
            <a:pPr lvl="1">
              <a:spcAft>
                <a:spcPts val="1000"/>
              </a:spcAft>
            </a:pPr>
            <a:r>
              <a:rPr lang="en-US" sz="2200" b="1" dirty="0">
                <a:solidFill>
                  <a:srgbClr val="202020"/>
                </a:solidFill>
                <a:latin typeface="Aptos"/>
              </a:rPr>
              <a:t>ML</a:t>
            </a:r>
            <a:r>
              <a:rPr sz="2200" b="1" dirty="0">
                <a:solidFill>
                  <a:srgbClr val="202020"/>
                </a:solidFill>
                <a:latin typeface="Aptos"/>
              </a:rPr>
              <a:t>-Based Extraction:</a:t>
            </a:r>
            <a:r>
              <a:rPr lang="en-US" sz="2200" b="1" dirty="0">
                <a:solidFill>
                  <a:srgbClr val="202020"/>
                </a:solidFill>
                <a:latin typeface="Aptos"/>
              </a:rPr>
              <a:t> </a:t>
            </a:r>
            <a:r>
              <a:rPr lang="en-US" sz="2200" dirty="0"/>
              <a:t>Uses a trained RandomForest classifier with 221 features (TF-IDF + structural signals) to score and rank sentences by their academic importance.</a:t>
            </a:r>
            <a:r>
              <a:rPr sz="2200" b="1" dirty="0">
                <a:solidFill>
                  <a:srgbClr val="202020"/>
                </a:solidFill>
                <a:latin typeface="Aptos"/>
              </a:rPr>
              <a:t> </a:t>
            </a:r>
            <a:endParaRPr lang="en-US" sz="2200" b="1" dirty="0">
              <a:solidFill>
                <a:srgbClr val="202020"/>
              </a:solidFill>
              <a:latin typeface="Aptos"/>
            </a:endParaRPr>
          </a:p>
          <a:p>
            <a:pPr lvl="1">
              <a:spcAft>
                <a:spcPts val="1000"/>
              </a:spcAft>
            </a:pPr>
            <a:r>
              <a:rPr sz="2200" b="1" dirty="0">
                <a:solidFill>
                  <a:srgbClr val="202020"/>
                </a:solidFill>
                <a:latin typeface="Aptos"/>
              </a:rPr>
              <a:t>Direct Mapping:</a:t>
            </a:r>
            <a:r>
              <a:rPr lang="en-US" sz="2200" b="1" dirty="0">
                <a:solidFill>
                  <a:srgbClr val="202020"/>
                </a:solidFill>
                <a:latin typeface="Aptos"/>
              </a:rPr>
              <a:t> </a:t>
            </a:r>
            <a:r>
              <a:rPr lang="en-US" sz="2200" dirty="0"/>
              <a:t>Applies a blended scoring pipeline to select and map the most valuable sentences for summaries and flashcards.</a:t>
            </a:r>
            <a:endParaRPr sz="2200" b="0" dirty="0">
              <a:solidFill>
                <a:srgbClr val="202020"/>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0" name="Text 0">
            <a:extLst>
              <a:ext uri="{FF2B5EF4-FFF2-40B4-BE49-F238E27FC236}">
                <a16:creationId xmlns:a16="http://schemas.microsoft.com/office/drawing/2014/main" id="{DAAC7825-B6B8-C9A4-F6AB-E4EBDF74BDDA}"/>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22" name="Rectangle 21">
            <a:extLst>
              <a:ext uri="{FF2B5EF4-FFF2-40B4-BE49-F238E27FC236}">
                <a16:creationId xmlns:a16="http://schemas.microsoft.com/office/drawing/2014/main" id="{B1600FF0-81F2-D9AA-084A-A9C399A3910F}"/>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Vijithapala T.G.K.G.    |    R26-SE-022</a:t>
            </a:r>
            <a:endParaRPr lang="en-US" sz="1600" dirty="0">
              <a:solidFill>
                <a:schemeClr val="tx1"/>
              </a:solidFill>
            </a:endParaRPr>
          </a:p>
        </p:txBody>
      </p:sp>
      <p:sp>
        <p:nvSpPr>
          <p:cNvPr id="23" name="Text 1">
            <a:extLst>
              <a:ext uri="{FF2B5EF4-FFF2-40B4-BE49-F238E27FC236}">
                <a16:creationId xmlns:a16="http://schemas.microsoft.com/office/drawing/2014/main" id="{B63DAF71-5E3C-A1F8-5736-553D6C8F6B0C}"/>
              </a:ext>
            </a:extLst>
          </p:cNvPr>
          <p:cNvSpPr/>
          <p:nvPr/>
        </p:nvSpPr>
        <p:spPr>
          <a:xfrm>
            <a:off x="793790" y="2157905"/>
            <a:ext cx="12965752" cy="1173124"/>
          </a:xfrm>
          <a:prstGeom prst="rect">
            <a:avLst/>
          </a:prstGeom>
          <a:noFill/>
          <a:ln/>
        </p:spPr>
        <p:txBody>
          <a:bodyPr wrap="square" lIns="0" tIns="0" rIns="0" bIns="0" rtlCol="0" anchor="t">
            <a:noAutofit/>
          </a:bodyPr>
          <a:lstStyle/>
          <a:p>
            <a:pPr marL="285739" indent="-285739">
              <a:spcAft>
                <a:spcPts val="0"/>
              </a:spcAft>
              <a:buFont typeface="Arial" panose="020B0604020202020204" pitchFamily="34" charset="0"/>
              <a:buChar char="•"/>
            </a:pPr>
            <a:endParaRPr sz="2400" b="0" dirty="0">
              <a:solidFill>
                <a:srgbClr val="202020"/>
              </a:solidFill>
              <a:latin typeface="Aptos"/>
            </a:endParaRPr>
          </a:p>
        </p:txBody>
      </p:sp>
      <p:sp>
        <p:nvSpPr>
          <p:cNvPr id="24" name="Text 0">
            <a:extLst>
              <a:ext uri="{FF2B5EF4-FFF2-40B4-BE49-F238E27FC236}">
                <a16:creationId xmlns:a16="http://schemas.microsoft.com/office/drawing/2014/main" id="{CFD7A212-458F-E6AC-B104-560808048D04}"/>
              </a:ext>
            </a:extLst>
          </p:cNvPr>
          <p:cNvSpPr/>
          <p:nvPr/>
        </p:nvSpPr>
        <p:spPr>
          <a:xfrm>
            <a:off x="793790" y="1466707"/>
            <a:ext cx="6387008" cy="413444"/>
          </a:xfrm>
          <a:prstGeom prst="rect">
            <a:avLst/>
          </a:prstGeom>
          <a:noFill/>
          <a:ln/>
        </p:spPr>
        <p:txBody>
          <a:bodyPr wrap="none" lIns="0" tIns="0" rIns="0" bIns="0" rtlCol="0" anchor="t"/>
          <a:lstStyle/>
          <a:p>
            <a:r>
              <a:rPr sz="3200" b="1" dirty="0">
                <a:latin typeface="Aptos"/>
              </a:rPr>
              <a:t>User Requirements Addressed by the Solution</a:t>
            </a:r>
          </a:p>
        </p:txBody>
      </p:sp>
      <p:sp>
        <p:nvSpPr>
          <p:cNvPr id="25" name="Text 1">
            <a:extLst>
              <a:ext uri="{FF2B5EF4-FFF2-40B4-BE49-F238E27FC236}">
                <a16:creationId xmlns:a16="http://schemas.microsoft.com/office/drawing/2014/main" id="{A05D6439-7514-1650-4158-A997EC4406B3}"/>
              </a:ext>
            </a:extLst>
          </p:cNvPr>
          <p:cNvSpPr/>
          <p:nvPr/>
        </p:nvSpPr>
        <p:spPr>
          <a:xfrm>
            <a:off x="793789" y="3331029"/>
            <a:ext cx="12965753" cy="2641198"/>
          </a:xfrm>
          <a:prstGeom prst="rect">
            <a:avLst/>
          </a:prstGeom>
          <a:noFill/>
          <a:ln/>
        </p:spPr>
        <p:txBody>
          <a:bodyPr wrap="square" lIns="0" tIns="0" rIns="0" bIns="0" rtlCol="0" anchor="t">
            <a:noAutofit/>
          </a:bodyPr>
          <a:lstStyle/>
          <a:p>
            <a:pPr marL="285739" indent="-285739">
              <a:spcAft>
                <a:spcPts val="1300"/>
              </a:spcAft>
              <a:buFont typeface="Arial" panose="020B0604020202020204" pitchFamily="34" charset="0"/>
              <a:buChar char="•"/>
            </a:pPr>
            <a:endParaRPr sz="2400" b="0" dirty="0">
              <a:solidFill>
                <a:srgbClr val="202020"/>
              </a:solidFill>
              <a:latin typeface="Aptos"/>
            </a:endParaRPr>
          </a:p>
        </p:txBody>
      </p:sp>
      <p:sp>
        <p:nvSpPr>
          <p:cNvPr id="4" name="TextBox 3">
            <a:extLst>
              <a:ext uri="{FF2B5EF4-FFF2-40B4-BE49-F238E27FC236}">
                <a16:creationId xmlns:a16="http://schemas.microsoft.com/office/drawing/2014/main" id="{52C59E45-1118-414B-78AC-BEC3F11C6BDB}"/>
              </a:ext>
            </a:extLst>
          </p:cNvPr>
          <p:cNvSpPr txBox="1"/>
          <p:nvPr/>
        </p:nvSpPr>
        <p:spPr>
          <a:xfrm>
            <a:off x="793788" y="2195829"/>
            <a:ext cx="12721794" cy="3785652"/>
          </a:xfrm>
          <a:prstGeom prst="rect">
            <a:avLst/>
          </a:prstGeom>
          <a:noFill/>
        </p:spPr>
        <p:txBody>
          <a:bodyPr wrap="square" rtlCol="0">
            <a:spAutoFit/>
          </a:bodyPr>
          <a:lstStyle/>
          <a:p>
            <a:r>
              <a:rPr lang="en-US" sz="2400" b="1" dirty="0"/>
              <a:t>Revision Efficiency : </a:t>
            </a:r>
            <a:r>
              <a:rPr lang="en-US" sz="2400" dirty="0"/>
              <a:t>Automates the extraction of key sentences from SLIIT lecture PDFs and PPTX files, transforming raw lecture content into structured summaries and revision-ready flashcards — reducing student study time significantly.</a:t>
            </a:r>
          </a:p>
          <a:p>
            <a:endParaRPr lang="en-US" sz="2400" dirty="0"/>
          </a:p>
          <a:p>
            <a:r>
              <a:rPr lang="en-US" sz="2400" b="1" dirty="0"/>
              <a:t>Contextual Accuracy : </a:t>
            </a:r>
            <a:r>
              <a:rPr lang="en-US" sz="2400" dirty="0"/>
              <a:t>Ensures output is not just a generic summary, but a module-aligned ranked guide filtered through learning objectives and module-specific keyword configurations relevant to what will actually be assessed.</a:t>
            </a:r>
          </a:p>
          <a:p>
            <a:endParaRPr lang="en-US" sz="2400" dirty="0"/>
          </a:p>
          <a:p>
            <a:r>
              <a:rPr lang="en-US" sz="2400" b="1" dirty="0"/>
              <a:t>Performance &amp; Usability : </a:t>
            </a:r>
            <a:r>
              <a:rPr lang="en-US" sz="2400" dirty="0"/>
              <a:t>Designed to process standard lecture documents in under 5 seconds through an intuitive drag-and-drop web interface with instant visual feedback.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15" name="Text 0">
            <a:extLst>
              <a:ext uri="{FF2B5EF4-FFF2-40B4-BE49-F238E27FC236}">
                <a16:creationId xmlns:a16="http://schemas.microsoft.com/office/drawing/2014/main" id="{62AC0542-A957-B2DF-DD45-F7488ECFE52A}"/>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17" name="Rectangle 16">
            <a:extLst>
              <a:ext uri="{FF2B5EF4-FFF2-40B4-BE49-F238E27FC236}">
                <a16:creationId xmlns:a16="http://schemas.microsoft.com/office/drawing/2014/main" id="{5C0EEB89-AEB0-9CB0-C4A2-AF71E9C0F765}"/>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Vijithapala T.G.K.G.    |    R26-SE-022</a:t>
            </a:r>
            <a:endParaRPr lang="en-US" sz="1600" dirty="0">
              <a:solidFill>
                <a:schemeClr val="tx1"/>
              </a:solidFill>
            </a:endParaRPr>
          </a:p>
        </p:txBody>
      </p:sp>
      <p:sp>
        <p:nvSpPr>
          <p:cNvPr id="2" name="Text 1">
            <a:extLst>
              <a:ext uri="{FF2B5EF4-FFF2-40B4-BE49-F238E27FC236}">
                <a16:creationId xmlns:a16="http://schemas.microsoft.com/office/drawing/2014/main" id="{A4325DE4-F48D-5281-9222-9B53D298187C}"/>
              </a:ext>
            </a:extLst>
          </p:cNvPr>
          <p:cNvSpPr/>
          <p:nvPr/>
        </p:nvSpPr>
        <p:spPr>
          <a:xfrm>
            <a:off x="793790" y="2114568"/>
            <a:ext cx="13216124" cy="4057632"/>
          </a:xfrm>
          <a:prstGeom prst="rect">
            <a:avLst/>
          </a:prstGeom>
          <a:noFill/>
          <a:ln/>
        </p:spPr>
        <p:txBody>
          <a:bodyPr wrap="square" lIns="0" tIns="0" rIns="0" bIns="0" rtlCol="0" anchor="t">
            <a:noAutofit/>
          </a:bodyPr>
          <a:lstStyle/>
          <a:p>
            <a:r>
              <a:rPr lang="en-US" sz="2400" b="1" dirty="0"/>
              <a:t>The Structural Labeling Engine: </a:t>
            </a:r>
            <a:r>
              <a:rPr lang="en-US" sz="2400" dirty="0"/>
              <a:t>Uses 22 hand-crafted linguistic rules to automatically annotate 4,476 training sentences — eliminating the need for any manual human labeling.</a:t>
            </a:r>
          </a:p>
          <a:p>
            <a:endParaRPr lang="en-US" sz="2400" dirty="0"/>
          </a:p>
          <a:p>
            <a:pPr marL="342900" indent="-342900">
              <a:buFont typeface="Arial" panose="020B0604020202020204" pitchFamily="34" charset="0"/>
              <a:buChar char="•"/>
            </a:pPr>
            <a:r>
              <a:rPr lang="en-US" sz="2400" b="1" dirty="0"/>
              <a:t>Impact</a:t>
            </a:r>
            <a:r>
              <a:rPr lang="en-US" sz="2400" dirty="0"/>
              <a:t>: Solves the "domain mismatch" problem in general AI summarizers by training exclusively on real SLIIT lecture PDFs with zero reliance on external datasets.</a:t>
            </a:r>
          </a:p>
          <a:p>
            <a:pPr marL="342900" indent="-342900">
              <a:buFontTx/>
              <a:buChar char="-"/>
            </a:pPr>
            <a:endParaRPr lang="en-US" sz="2400" dirty="0"/>
          </a:p>
          <a:p>
            <a:r>
              <a:rPr lang="en-US" sz="2400" b="1" dirty="0"/>
              <a:t>End-to-End Study Assistant:</a:t>
            </a:r>
            <a:r>
              <a:rPr lang="en-US" sz="2400" dirty="0"/>
              <a:t> A seamless pipeline from raw PDF/PPTX upload → sentence scoring → ranked summary → LO-tagged flashcard generation, delivered in a single REST API call.</a:t>
            </a:r>
          </a:p>
          <a:p>
            <a:endParaRPr lang="en-US" sz="2400" dirty="0"/>
          </a:p>
          <a:p>
            <a:r>
              <a:rPr lang="en-US" sz="2400" b="1" dirty="0"/>
              <a:t>Contribution to SDG 4:</a:t>
            </a:r>
            <a:r>
              <a:rPr lang="en-US" sz="2400" dirty="0"/>
              <a:t> Provides high-quality, personalized academic support tools for SLIIT students in Sri Lanka, improving equitable access to smart, AI-driven active recall learning.</a:t>
            </a:r>
          </a:p>
        </p:txBody>
      </p:sp>
      <p:sp>
        <p:nvSpPr>
          <p:cNvPr id="14" name="Text 0">
            <a:extLst>
              <a:ext uri="{FF2B5EF4-FFF2-40B4-BE49-F238E27FC236}">
                <a16:creationId xmlns:a16="http://schemas.microsoft.com/office/drawing/2014/main" id="{241F9D0D-21A9-DD29-6E90-EBF4E2FCBA29}"/>
              </a:ext>
            </a:extLst>
          </p:cNvPr>
          <p:cNvSpPr/>
          <p:nvPr/>
        </p:nvSpPr>
        <p:spPr>
          <a:xfrm>
            <a:off x="798122" y="1357637"/>
            <a:ext cx="6387008" cy="413444"/>
          </a:xfrm>
          <a:prstGeom prst="rect">
            <a:avLst/>
          </a:prstGeom>
          <a:noFill/>
          <a:ln/>
        </p:spPr>
        <p:txBody>
          <a:bodyPr wrap="none" lIns="0" tIns="0" rIns="0" bIns="0" rtlCol="0" anchor="t"/>
          <a:lstStyle/>
          <a:p>
            <a:r>
              <a:rPr sz="3200" b="1" dirty="0">
                <a:latin typeface="Aptos"/>
              </a:rPr>
              <a:t>Design Excellence &amp; Key Contributions</a:t>
            </a:r>
          </a:p>
        </p:txBody>
      </p:sp>
      <p:sp>
        <p:nvSpPr>
          <p:cNvPr id="18" name="Text 1">
            <a:extLst>
              <a:ext uri="{FF2B5EF4-FFF2-40B4-BE49-F238E27FC236}">
                <a16:creationId xmlns:a16="http://schemas.microsoft.com/office/drawing/2014/main" id="{460754C8-F595-AACA-4937-A4CAAD523734}"/>
              </a:ext>
            </a:extLst>
          </p:cNvPr>
          <p:cNvSpPr/>
          <p:nvPr/>
        </p:nvSpPr>
        <p:spPr>
          <a:xfrm>
            <a:off x="798122" y="3939521"/>
            <a:ext cx="13216124" cy="979543"/>
          </a:xfrm>
          <a:prstGeom prst="rect">
            <a:avLst/>
          </a:prstGeom>
          <a:noFill/>
          <a:ln/>
        </p:spPr>
        <p:txBody>
          <a:bodyPr wrap="square" lIns="0" tIns="0" rIns="0" bIns="0" rtlCol="0" anchor="t">
            <a:normAutofit/>
          </a:bodyPr>
          <a:lstStyle/>
          <a:p>
            <a:pPr marL="285739" indent="-285739">
              <a:spcAft>
                <a:spcPts val="0"/>
              </a:spcAft>
              <a:buFont typeface="Arial" panose="020B0604020202020204" pitchFamily="34" charset="0"/>
              <a:buChar char="•"/>
            </a:pPr>
            <a:endParaRPr sz="2400" b="0" dirty="0">
              <a:solidFill>
                <a:srgbClr val="202020"/>
              </a:solidFill>
              <a:latin typeface="Aptos"/>
            </a:endParaRPr>
          </a:p>
        </p:txBody>
      </p:sp>
      <p:sp>
        <p:nvSpPr>
          <p:cNvPr id="19" name="Text 1">
            <a:extLst>
              <a:ext uri="{FF2B5EF4-FFF2-40B4-BE49-F238E27FC236}">
                <a16:creationId xmlns:a16="http://schemas.microsoft.com/office/drawing/2014/main" id="{85B93EB5-9459-3184-B04F-4765FB160D3E}"/>
              </a:ext>
            </a:extLst>
          </p:cNvPr>
          <p:cNvSpPr/>
          <p:nvPr/>
        </p:nvSpPr>
        <p:spPr>
          <a:xfrm>
            <a:off x="798122" y="5200200"/>
            <a:ext cx="13216124" cy="1469096"/>
          </a:xfrm>
          <a:prstGeom prst="rect">
            <a:avLst/>
          </a:prstGeom>
          <a:noFill/>
          <a:ln/>
        </p:spPr>
        <p:txBody>
          <a:bodyPr wrap="square" lIns="0" tIns="0" rIns="0" bIns="0" rtlCol="0" anchor="t">
            <a:normAutofit/>
          </a:bodyPr>
          <a:lstStyle/>
          <a:p>
            <a:pPr marL="285739" indent="-285739">
              <a:spcAft>
                <a:spcPts val="0"/>
              </a:spcAft>
              <a:buFont typeface="Arial" panose="020B0604020202020204" pitchFamily="34" charset="0"/>
              <a:buChar char="•"/>
            </a:pPr>
            <a:endParaRPr sz="2400" b="0" dirty="0">
              <a:solidFill>
                <a:srgbClr val="202020"/>
              </a:solidFill>
              <a:latin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327313" y="2459576"/>
            <a:ext cx="8478982" cy="1657870"/>
          </a:xfrm>
          <a:prstGeom prst="rect">
            <a:avLst/>
          </a:prstGeom>
          <a:noFill/>
          <a:ln/>
        </p:spPr>
        <p:txBody>
          <a:bodyPr wrap="square" lIns="0" tIns="0" rIns="0" bIns="0" rtlCol="0" anchor="t"/>
          <a:lstStyle/>
          <a:p>
            <a:pPr marL="0" indent="0" algn="l">
              <a:lnSpc>
                <a:spcPts val="5000"/>
              </a:lnSpc>
              <a:buNone/>
            </a:pPr>
            <a:r>
              <a:rPr lang="en-US" sz="3800" b="1" dirty="0">
                <a:latin typeface="Lato Bold" pitchFamily="34" charset="0"/>
                <a:ea typeface="Lato Bold" pitchFamily="34" charset="-122"/>
                <a:cs typeface="Lato Bold" pitchFamily="34" charset="-120"/>
              </a:rPr>
              <a:t>Component 3 - Affect and Attention-Aware Emotion Detection Module</a:t>
            </a:r>
            <a:endParaRPr lang="en-US" sz="3800" dirty="0"/>
          </a:p>
        </p:txBody>
      </p:sp>
      <p:sp>
        <p:nvSpPr>
          <p:cNvPr id="17" name="Rectangle 16">
            <a:extLst>
              <a:ext uri="{FF2B5EF4-FFF2-40B4-BE49-F238E27FC236}">
                <a16:creationId xmlns:a16="http://schemas.microsoft.com/office/drawing/2014/main" id="{7E546A97-CC1E-6F02-983D-13738F722066}"/>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
        <p:nvSpPr>
          <p:cNvPr id="16" name="Text 0">
            <a:extLst>
              <a:ext uri="{FF2B5EF4-FFF2-40B4-BE49-F238E27FC236}">
                <a16:creationId xmlns:a16="http://schemas.microsoft.com/office/drawing/2014/main" id="{953E20AA-CA24-7914-12B9-C8F021612AB9}"/>
              </a:ext>
            </a:extLst>
          </p:cNvPr>
          <p:cNvSpPr/>
          <p:nvPr/>
        </p:nvSpPr>
        <p:spPr>
          <a:xfrm>
            <a:off x="327313" y="801706"/>
            <a:ext cx="8478982" cy="1657870"/>
          </a:xfrm>
          <a:prstGeom prst="rect">
            <a:avLst/>
          </a:prstGeom>
          <a:noFill/>
          <a:ln/>
        </p:spPr>
        <p:txBody>
          <a:bodyPr wrap="square" lIns="0" tIns="0" rIns="0" bIns="0" rtlCol="0" anchor="t"/>
          <a:lstStyle/>
          <a:p>
            <a:pPr marL="0" indent="0" algn="l">
              <a:lnSpc>
                <a:spcPts val="5000"/>
              </a:lnSpc>
              <a:buNone/>
            </a:pPr>
            <a:r>
              <a:rPr lang="en-US" sz="3800" b="1" dirty="0">
                <a:latin typeface="Lato Bold" pitchFamily="34" charset="0"/>
                <a:ea typeface="Lato Bold" pitchFamily="34" charset="-122"/>
                <a:cs typeface="Lato Bold" pitchFamily="34" charset="-120"/>
              </a:rPr>
              <a:t>IT22224552</a:t>
            </a:r>
          </a:p>
          <a:p>
            <a:pPr marL="0" indent="0" algn="l">
              <a:lnSpc>
                <a:spcPts val="5000"/>
              </a:lnSpc>
              <a:buNone/>
            </a:pPr>
            <a:r>
              <a:rPr lang="en-US" sz="3800" b="1" dirty="0" err="1">
                <a:latin typeface="Lato Bold" pitchFamily="34" charset="0"/>
                <a:ea typeface="Lato Bold" pitchFamily="34" charset="-122"/>
                <a:cs typeface="Lato Bold" pitchFamily="34" charset="-120"/>
              </a:rPr>
              <a:t>K.K.G.Y.Mihiraj</a:t>
            </a:r>
            <a:endParaRPr lang="en-US" sz="3800" dirty="0"/>
          </a:p>
        </p:txBody>
      </p:sp>
      <p:sp>
        <p:nvSpPr>
          <p:cNvPr id="18" name="Text 0">
            <a:extLst>
              <a:ext uri="{FF2B5EF4-FFF2-40B4-BE49-F238E27FC236}">
                <a16:creationId xmlns:a16="http://schemas.microsoft.com/office/drawing/2014/main" id="{5590219D-34CA-2291-9100-ECF4DABD8041}"/>
              </a:ext>
            </a:extLst>
          </p:cNvPr>
          <p:cNvSpPr/>
          <p:nvPr/>
        </p:nvSpPr>
        <p:spPr>
          <a:xfrm>
            <a:off x="327313" y="4201068"/>
            <a:ext cx="2260023" cy="700300"/>
          </a:xfrm>
          <a:prstGeom prst="rect">
            <a:avLst/>
          </a:prstGeom>
          <a:noFill/>
          <a:ln/>
        </p:spPr>
        <p:txBody>
          <a:bodyPr wrap="square" lIns="0" tIns="0" rIns="0" bIns="0" rtlCol="0" anchor="t"/>
          <a:lstStyle/>
          <a:p>
            <a:pPr marL="0" indent="0" algn="l">
              <a:lnSpc>
                <a:spcPts val="5000"/>
              </a:lnSpc>
              <a:buNone/>
            </a:pPr>
            <a:r>
              <a:rPr lang="en-US" sz="2000" b="1" dirty="0">
                <a:latin typeface="Lato Bold" pitchFamily="34" charset="0"/>
                <a:ea typeface="Lato Bold" pitchFamily="34" charset="-122"/>
                <a:cs typeface="Lato Bold" pitchFamily="34" charset="-120"/>
              </a:rPr>
              <a:t>SE specialization</a:t>
            </a:r>
            <a:endParaRPr lang="en-US" sz="2000" dirty="0"/>
          </a:p>
        </p:txBody>
      </p:sp>
      <p:pic>
        <p:nvPicPr>
          <p:cNvPr id="19" name="Image 2">
            <a:extLst>
              <a:ext uri="{FF2B5EF4-FFF2-40B4-BE49-F238E27FC236}">
                <a16:creationId xmlns:a16="http://schemas.microsoft.com/office/drawing/2014/main" id="{4BE77814-CBA2-E12F-5775-C433615709BB}"/>
              </a:ext>
            </a:extLst>
          </p:cNvPr>
          <p:cNvPicPr>
            <a:picLocks noChangeAspect="1"/>
          </p:cNvPicPr>
          <p:nvPr/>
        </p:nvPicPr>
        <p:blipFill>
          <a:blip r:embed="rId4"/>
          <a:srcRect/>
          <a:stretch/>
        </p:blipFill>
        <p:spPr>
          <a:xfrm>
            <a:off x="3764804" y="4307147"/>
            <a:ext cx="2277301" cy="31207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nvSpPr>
        <p:spPr>
          <a:xfrm>
            <a:off x="793790" y="1897273"/>
            <a:ext cx="13042821" cy="620554"/>
          </a:xfrm>
          <a:prstGeom prst="rect">
            <a:avLst/>
          </a:prstGeom>
          <a:noFill/>
          <a:ln/>
        </p:spPr>
        <p:txBody>
          <a:bodyPr wrap="square" lIns="0" tIns="0" rIns="0" bIns="0" rtlCol="0" anchor="t"/>
          <a:lstStyle/>
          <a:p>
            <a:pPr marL="342900" indent="-342900">
              <a:lnSpc>
                <a:spcPts val="2400"/>
              </a:lnSpc>
              <a:buFont typeface="Arial" panose="020B0604020202020204" pitchFamily="34" charset="0"/>
              <a:buChar char="•"/>
            </a:pPr>
            <a:r>
              <a:rPr lang="en-US" sz="2400" b="1" dirty="0"/>
              <a:t>The Sub-Problem:</a:t>
            </a:r>
            <a:r>
              <a:rPr lang="en-US" sz="2400" dirty="0"/>
              <a:t> Existing emotion detection systems use continuous video processing (heavy computational load) and store raw facial images, causing severe privacy concerns </a:t>
            </a:r>
          </a:p>
        </p:txBody>
      </p:sp>
      <p:sp>
        <p:nvSpPr>
          <p:cNvPr id="16" name="Text 10"/>
          <p:cNvSpPr/>
          <p:nvPr/>
        </p:nvSpPr>
        <p:spPr>
          <a:xfrm>
            <a:off x="793790" y="6612612"/>
            <a:ext cx="13042821" cy="930831"/>
          </a:xfrm>
          <a:prstGeom prst="rect">
            <a:avLst/>
          </a:prstGeom>
          <a:noFill/>
          <a:ln/>
        </p:spPr>
        <p:txBody>
          <a:bodyPr wrap="squar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a:t>
            </a:r>
            <a:endParaRPr lang="en-US" sz="1600" dirty="0"/>
          </a:p>
        </p:txBody>
      </p:sp>
      <p:sp>
        <p:nvSpPr>
          <p:cNvPr id="18" name="Text 0">
            <a:extLst>
              <a:ext uri="{FF2B5EF4-FFF2-40B4-BE49-F238E27FC236}">
                <a16:creationId xmlns:a16="http://schemas.microsoft.com/office/drawing/2014/main" id="{AE0BB306-777C-CF99-8081-07A442B28328}"/>
              </a:ext>
            </a:extLst>
          </p:cNvPr>
          <p:cNvSpPr/>
          <p:nvPr/>
        </p:nvSpPr>
        <p:spPr>
          <a:xfrm>
            <a:off x="793790" y="1133031"/>
            <a:ext cx="3144365" cy="496133"/>
          </a:xfrm>
          <a:prstGeom prst="rect">
            <a:avLst/>
          </a:prstGeom>
          <a:noFill/>
          <a:ln/>
        </p:spPr>
        <p:txBody>
          <a:bodyPr wrap="none" lIns="0" tIns="0" rIns="0" bIns="0" rtlCol="0" anchor="t"/>
          <a:lstStyle/>
          <a:p>
            <a:pPr>
              <a:lnSpc>
                <a:spcPts val="3900"/>
              </a:lnSpc>
            </a:pPr>
            <a:r>
              <a:rPr lang="en-US" sz="3200" dirty="0"/>
              <a:t>How the Solution Addresses the Sub-Problem</a:t>
            </a:r>
            <a:endParaRPr lang="en-US" sz="3000" dirty="0"/>
          </a:p>
        </p:txBody>
      </p:sp>
      <p:sp>
        <p:nvSpPr>
          <p:cNvPr id="19" name="Text 0">
            <a:extLst>
              <a:ext uri="{FF2B5EF4-FFF2-40B4-BE49-F238E27FC236}">
                <a16:creationId xmlns:a16="http://schemas.microsoft.com/office/drawing/2014/main" id="{B98363F9-9776-91FB-2AA9-033A07C699C7}"/>
              </a:ext>
            </a:extLst>
          </p:cNvPr>
          <p:cNvSpPr/>
          <p:nvPr/>
        </p:nvSpPr>
        <p:spPr>
          <a:xfrm>
            <a:off x="793790" y="445381"/>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Affect and Attention-Aware Emotion Detection Module</a:t>
            </a:r>
            <a:endParaRPr lang="en-US" sz="3800" dirty="0"/>
          </a:p>
        </p:txBody>
      </p:sp>
      <p:sp>
        <p:nvSpPr>
          <p:cNvPr id="20" name="Rectangle 19">
            <a:extLst>
              <a:ext uri="{FF2B5EF4-FFF2-40B4-BE49-F238E27FC236}">
                <a16:creationId xmlns:a16="http://schemas.microsoft.com/office/drawing/2014/main" id="{14D5100D-0100-18D3-F81F-AEAC6CB34C91}"/>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
        <p:nvSpPr>
          <p:cNvPr id="2" name="Text 1">
            <a:extLst>
              <a:ext uri="{FF2B5EF4-FFF2-40B4-BE49-F238E27FC236}">
                <a16:creationId xmlns:a16="http://schemas.microsoft.com/office/drawing/2014/main" id="{AA16675B-2BEC-0329-EB04-E9F3353DCEF5}"/>
              </a:ext>
            </a:extLst>
          </p:cNvPr>
          <p:cNvSpPr/>
          <p:nvPr/>
        </p:nvSpPr>
        <p:spPr>
          <a:xfrm>
            <a:off x="793790" y="2895200"/>
            <a:ext cx="13042821" cy="2346851"/>
          </a:xfrm>
          <a:prstGeom prst="rect">
            <a:avLst/>
          </a:prstGeom>
          <a:noFill/>
          <a:ln/>
        </p:spPr>
        <p:txBody>
          <a:bodyPr wrap="square" lIns="0" tIns="0" rIns="0" bIns="0" rtlCol="0" anchor="t"/>
          <a:lstStyle/>
          <a:p>
            <a:pPr marL="342900" indent="-342900">
              <a:lnSpc>
                <a:spcPts val="2400"/>
              </a:lnSpc>
              <a:buFont typeface="Arial" panose="020B0604020202020204" pitchFamily="34" charset="0"/>
              <a:buChar char="•"/>
            </a:pPr>
            <a:r>
              <a:rPr lang="en-US" sz="2400" b="1" dirty="0"/>
              <a:t>The Architectural Solution:</a:t>
            </a:r>
            <a:r>
              <a:rPr lang="en-US" sz="2400" dirty="0"/>
              <a:t>  </a:t>
            </a:r>
            <a:r>
              <a:rPr lang="en-US" sz="2400" b="1" dirty="0"/>
              <a:t>Periodic Sampling:</a:t>
            </a:r>
            <a:r>
              <a:rPr lang="en-US" sz="2400" dirty="0"/>
              <a:t> Captures webcam frames periodically (30 frames/min) instead of continuous heavy video streaming . </a:t>
            </a:r>
          </a:p>
          <a:p>
            <a:pPr marL="342900" indent="-342900">
              <a:lnSpc>
                <a:spcPts val="2400"/>
              </a:lnSpc>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Geometric Feature Extraction:</a:t>
            </a:r>
            <a:r>
              <a:rPr lang="en-US" sz="2400" dirty="0"/>
              <a:t> Uses </a:t>
            </a:r>
            <a:r>
              <a:rPr lang="en-US" sz="2400" dirty="0" err="1"/>
              <a:t>MediaPipe</a:t>
            </a:r>
            <a:r>
              <a:rPr lang="en-US" sz="2400" dirty="0"/>
              <a:t> Face Mesh to map 468 landmarks, condensing the face into a lightweight 4-dimensional numerical vector (Eye Openness, Head Tilt, Mouth Opening, Eyebrow Distance) .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Learning-Relevant Focus:</a:t>
            </a:r>
            <a:r>
              <a:rPr lang="en-US" sz="2400" dirty="0"/>
              <a:t> Moves away from generic emotions (Happy/Sad) to educational states: </a:t>
            </a:r>
            <a:r>
              <a:rPr lang="en-US" sz="2400" i="1" dirty="0"/>
              <a:t>Focused, Confused, Frustrated, Bored, and Neutral</a:t>
            </a:r>
            <a:r>
              <a:rPr lang="en-US" sz="2400" dirty="0"/>
              <a:t> .</a:t>
            </a:r>
          </a:p>
          <a:p>
            <a:pPr>
              <a:lnSpc>
                <a:spcPts val="2400"/>
              </a:lnSpc>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1B3F-D02B-8F98-7DB0-594F3B522F2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5D585D2-D329-8C83-B8A9-1E7E4915066F}"/>
              </a:ext>
            </a:extLst>
          </p:cNvPr>
          <p:cNvSpPr/>
          <p:nvPr/>
        </p:nvSpPr>
        <p:spPr>
          <a:xfrm>
            <a:off x="793790" y="1897273"/>
            <a:ext cx="13042821" cy="620554"/>
          </a:xfrm>
          <a:prstGeom prst="rect">
            <a:avLst/>
          </a:prstGeom>
          <a:noFill/>
          <a:ln/>
        </p:spPr>
        <p:txBody>
          <a:bodyPr wrap="square" lIns="0" tIns="0" rIns="0" bIns="0" rtlCol="0" anchor="t"/>
          <a:lstStyle/>
          <a:p>
            <a:pPr marL="342900" indent="-342900">
              <a:lnSpc>
                <a:spcPts val="2400"/>
              </a:lnSpc>
              <a:buFont typeface="Arial" panose="020B0604020202020204" pitchFamily="34" charset="0"/>
              <a:buChar char="•"/>
            </a:pPr>
            <a:r>
              <a:rPr lang="en-US" sz="2400" b="1" dirty="0"/>
              <a:t>Privacy &amp; Ethical Compliance (Zero Image Storage):</a:t>
            </a:r>
            <a:r>
              <a:rPr lang="en-US" sz="2400" dirty="0"/>
              <a:t> Implements a strict "Privacy-by-Design" architecture. Images are processed purely in-memory and immediately discarded. Only non-identifiable numerical embeddings are sent to the main system . </a:t>
            </a:r>
          </a:p>
        </p:txBody>
      </p:sp>
      <p:sp>
        <p:nvSpPr>
          <p:cNvPr id="16" name="Text 10">
            <a:extLst>
              <a:ext uri="{FF2B5EF4-FFF2-40B4-BE49-F238E27FC236}">
                <a16:creationId xmlns:a16="http://schemas.microsoft.com/office/drawing/2014/main" id="{B310D903-0FB4-5530-E5E1-05688F3354BE}"/>
              </a:ext>
            </a:extLst>
          </p:cNvPr>
          <p:cNvSpPr/>
          <p:nvPr/>
        </p:nvSpPr>
        <p:spPr>
          <a:xfrm>
            <a:off x="793790" y="6612612"/>
            <a:ext cx="13042821" cy="930831"/>
          </a:xfrm>
          <a:prstGeom prst="rect">
            <a:avLst/>
          </a:prstGeom>
          <a:noFill/>
          <a:ln/>
        </p:spPr>
        <p:txBody>
          <a:bodyPr wrap="squar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a:t>
            </a:r>
            <a:endParaRPr lang="en-US" sz="1600" dirty="0"/>
          </a:p>
        </p:txBody>
      </p:sp>
      <p:sp>
        <p:nvSpPr>
          <p:cNvPr id="18" name="Text 0">
            <a:extLst>
              <a:ext uri="{FF2B5EF4-FFF2-40B4-BE49-F238E27FC236}">
                <a16:creationId xmlns:a16="http://schemas.microsoft.com/office/drawing/2014/main" id="{414FFC13-5130-5ED4-D26E-764D95DC9E6E}"/>
              </a:ext>
            </a:extLst>
          </p:cNvPr>
          <p:cNvSpPr/>
          <p:nvPr/>
        </p:nvSpPr>
        <p:spPr>
          <a:xfrm>
            <a:off x="793790" y="1133031"/>
            <a:ext cx="7664410" cy="496133"/>
          </a:xfrm>
          <a:prstGeom prst="rect">
            <a:avLst/>
          </a:prstGeom>
          <a:noFill/>
          <a:ln/>
        </p:spPr>
        <p:txBody>
          <a:bodyPr wrap="none" lIns="0" tIns="0" rIns="0" bIns="0" rtlCol="0" anchor="t"/>
          <a:lstStyle/>
          <a:p>
            <a:pPr>
              <a:lnSpc>
                <a:spcPts val="3900"/>
              </a:lnSpc>
            </a:pPr>
            <a:r>
              <a:rPr lang="en-US" sz="3200" dirty="0"/>
              <a:t>User Requirements Addressed by the Solution</a:t>
            </a:r>
            <a:endParaRPr lang="en-US" sz="3000" dirty="0"/>
          </a:p>
        </p:txBody>
      </p:sp>
      <p:sp>
        <p:nvSpPr>
          <p:cNvPr id="19" name="Text 0">
            <a:extLst>
              <a:ext uri="{FF2B5EF4-FFF2-40B4-BE49-F238E27FC236}">
                <a16:creationId xmlns:a16="http://schemas.microsoft.com/office/drawing/2014/main" id="{8B9AFD4E-63B4-9D8F-44F8-09C4709544F4}"/>
              </a:ext>
            </a:extLst>
          </p:cNvPr>
          <p:cNvSpPr/>
          <p:nvPr/>
        </p:nvSpPr>
        <p:spPr>
          <a:xfrm>
            <a:off x="793790" y="445381"/>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Affect and Attention-Aware Emotion Detection Module</a:t>
            </a:r>
            <a:endParaRPr lang="en-US" sz="3800" dirty="0"/>
          </a:p>
        </p:txBody>
      </p:sp>
      <p:sp>
        <p:nvSpPr>
          <p:cNvPr id="20" name="Rectangle 19">
            <a:extLst>
              <a:ext uri="{FF2B5EF4-FFF2-40B4-BE49-F238E27FC236}">
                <a16:creationId xmlns:a16="http://schemas.microsoft.com/office/drawing/2014/main" id="{03C2445C-6AFD-DE75-0F4C-1ADE18AF3AA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
        <p:nvSpPr>
          <p:cNvPr id="2" name="Text 1">
            <a:extLst>
              <a:ext uri="{FF2B5EF4-FFF2-40B4-BE49-F238E27FC236}">
                <a16:creationId xmlns:a16="http://schemas.microsoft.com/office/drawing/2014/main" id="{0C14414B-FE1F-83DD-6D59-F0A03DFB1C73}"/>
              </a:ext>
            </a:extLst>
          </p:cNvPr>
          <p:cNvSpPr/>
          <p:nvPr/>
        </p:nvSpPr>
        <p:spPr>
          <a:xfrm>
            <a:off x="793790" y="3011331"/>
            <a:ext cx="13042821" cy="3169438"/>
          </a:xfrm>
          <a:prstGeom prst="rect">
            <a:avLst/>
          </a:prstGeom>
          <a:noFill/>
          <a:ln/>
        </p:spPr>
        <p:txBody>
          <a:bodyPr wrap="square" lIns="0" tIns="0" rIns="0" bIns="0" rtlCol="0" anchor="t"/>
          <a:lstStyle/>
          <a:p>
            <a:pPr marL="342900" indent="-342900">
              <a:lnSpc>
                <a:spcPts val="2400"/>
              </a:lnSpc>
              <a:buFont typeface="Arial" panose="020B0604020202020204" pitchFamily="34" charset="0"/>
              <a:buChar char="•"/>
            </a:pPr>
            <a:r>
              <a:rPr lang="en-US" sz="2400" b="1" dirty="0"/>
              <a:t>Low Computational Overhead (FR1):</a:t>
            </a:r>
            <a:r>
              <a:rPr lang="en-US" sz="2400" dirty="0"/>
              <a:t> Operates silently in the background without causing lag or disrupting the student’s digital learning workflow .</a:t>
            </a:r>
          </a:p>
          <a:p>
            <a:pPr marL="342900" indent="-342900">
              <a:lnSpc>
                <a:spcPts val="2400"/>
              </a:lnSpc>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Real-Time Engagement Tracking (FR3 &amp; FR5):</a:t>
            </a:r>
            <a:r>
              <a:rPr lang="en-US" sz="2400" dirty="0"/>
              <a:t> Calculates Eye Aspect Ratio (EAR) and facial geometry to accurately monitor fatigue, attention drops, and cognitive states in real-time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Robustness in Sub-Optimal Conditions:</a:t>
            </a:r>
            <a:r>
              <a:rPr lang="en-US" sz="2400" dirty="0"/>
              <a:t> Utilizes CLAHE (Contrast Limited Adaptive Histogram Equalization) to ensure the system works accurately even in low-light environments typical of student dorms or bedrooms. </a:t>
            </a:r>
          </a:p>
        </p:txBody>
      </p:sp>
    </p:spTree>
    <p:extLst>
      <p:ext uri="{BB962C8B-B14F-4D97-AF65-F5344CB8AC3E}">
        <p14:creationId xmlns:p14="http://schemas.microsoft.com/office/powerpoint/2010/main" val="1093344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D233F-FDEF-E6DE-A038-A930BC9DC23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0D01B10-6C5F-EE10-7C29-47E26D0F338E}"/>
              </a:ext>
            </a:extLst>
          </p:cNvPr>
          <p:cNvSpPr/>
          <p:nvPr/>
        </p:nvSpPr>
        <p:spPr>
          <a:xfrm>
            <a:off x="793790" y="1728430"/>
            <a:ext cx="13042821" cy="176291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400" b="1" dirty="0"/>
              <a:t>The Hybrid Fusion Mechanism (Core Contribution):</a:t>
            </a:r>
            <a:r>
              <a:rPr lang="en-US" sz="2400" dirty="0"/>
              <a:t>  Combines Probabilistic ML (CNN/Random Forest) with Deterministic Mathematical Logic (</a:t>
            </a:r>
            <a:r>
              <a:rPr lang="en-US" sz="2400" dirty="0" err="1"/>
              <a:t>MediaPipe</a:t>
            </a:r>
            <a:r>
              <a:rPr lang="en-US" sz="2400" dirty="0"/>
              <a:t> EAR/Tilt limits).</a:t>
            </a:r>
          </a:p>
          <a:p>
            <a:pPr marL="342900" indent="-342900">
              <a:buFont typeface="Wingdings" panose="05000000000000000000" pitchFamily="2" charset="2"/>
              <a:buChar char="ü"/>
            </a:pPr>
            <a:r>
              <a:rPr lang="en-US" sz="2400" dirty="0"/>
              <a:t>	</a:t>
            </a:r>
            <a:r>
              <a:rPr lang="en-US" sz="2400" i="1" dirty="0"/>
              <a:t>Impact:</a:t>
            </a:r>
            <a:r>
              <a:rPr lang="en-US" sz="2400" dirty="0"/>
              <a:t> Successfully overcomes the common AI limitation of confusing "Neutral" and "Bored" 	states by physically overriding predictions based on exact eyelid and head geometry.</a:t>
            </a:r>
          </a:p>
        </p:txBody>
      </p:sp>
      <p:sp>
        <p:nvSpPr>
          <p:cNvPr id="16" name="Text 10">
            <a:extLst>
              <a:ext uri="{FF2B5EF4-FFF2-40B4-BE49-F238E27FC236}">
                <a16:creationId xmlns:a16="http://schemas.microsoft.com/office/drawing/2014/main" id="{7C6DC279-6B1A-5611-1CFC-C9091850FB08}"/>
              </a:ext>
            </a:extLst>
          </p:cNvPr>
          <p:cNvSpPr/>
          <p:nvPr/>
        </p:nvSpPr>
        <p:spPr>
          <a:xfrm>
            <a:off x="793790" y="6612612"/>
            <a:ext cx="13042821" cy="930831"/>
          </a:xfrm>
          <a:prstGeom prst="rect">
            <a:avLst/>
          </a:prstGeom>
          <a:noFill/>
          <a:ln/>
        </p:spPr>
        <p:txBody>
          <a:bodyPr wrap="squar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a:t>
            </a:r>
            <a:endParaRPr lang="en-US" sz="1600" dirty="0"/>
          </a:p>
        </p:txBody>
      </p:sp>
      <p:sp>
        <p:nvSpPr>
          <p:cNvPr id="18" name="Text 0">
            <a:extLst>
              <a:ext uri="{FF2B5EF4-FFF2-40B4-BE49-F238E27FC236}">
                <a16:creationId xmlns:a16="http://schemas.microsoft.com/office/drawing/2014/main" id="{C2FFCF3B-701F-B4AD-2F29-60876ACD7861}"/>
              </a:ext>
            </a:extLst>
          </p:cNvPr>
          <p:cNvSpPr/>
          <p:nvPr/>
        </p:nvSpPr>
        <p:spPr>
          <a:xfrm>
            <a:off x="793790" y="1133031"/>
            <a:ext cx="7664410" cy="496133"/>
          </a:xfrm>
          <a:prstGeom prst="rect">
            <a:avLst/>
          </a:prstGeom>
          <a:noFill/>
          <a:ln/>
        </p:spPr>
        <p:txBody>
          <a:bodyPr wrap="none" lIns="0" tIns="0" rIns="0" bIns="0" rtlCol="0" anchor="t"/>
          <a:lstStyle/>
          <a:p>
            <a:pPr>
              <a:lnSpc>
                <a:spcPts val="3900"/>
              </a:lnSpc>
            </a:pPr>
            <a:r>
              <a:rPr lang="en-US" sz="3200" dirty="0"/>
              <a:t>Design Excellence &amp; Key Contributions</a:t>
            </a:r>
            <a:endParaRPr lang="en-US" sz="3000" dirty="0"/>
          </a:p>
        </p:txBody>
      </p:sp>
      <p:sp>
        <p:nvSpPr>
          <p:cNvPr id="19" name="Text 0">
            <a:extLst>
              <a:ext uri="{FF2B5EF4-FFF2-40B4-BE49-F238E27FC236}">
                <a16:creationId xmlns:a16="http://schemas.microsoft.com/office/drawing/2014/main" id="{E7EC4402-B740-FA65-12B9-09CE27ACA3DE}"/>
              </a:ext>
            </a:extLst>
          </p:cNvPr>
          <p:cNvSpPr/>
          <p:nvPr/>
        </p:nvSpPr>
        <p:spPr>
          <a:xfrm>
            <a:off x="793790" y="445381"/>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Affect and Attention-Aware Emotion Detection Module</a:t>
            </a:r>
            <a:endParaRPr lang="en-US" sz="3800" dirty="0"/>
          </a:p>
        </p:txBody>
      </p:sp>
      <p:sp>
        <p:nvSpPr>
          <p:cNvPr id="20" name="Rectangle 19">
            <a:extLst>
              <a:ext uri="{FF2B5EF4-FFF2-40B4-BE49-F238E27FC236}">
                <a16:creationId xmlns:a16="http://schemas.microsoft.com/office/drawing/2014/main" id="{A42E185D-56C1-15A6-94DC-448358897D6B}"/>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
        <p:nvSpPr>
          <p:cNvPr id="4" name="Text 1">
            <a:extLst>
              <a:ext uri="{FF2B5EF4-FFF2-40B4-BE49-F238E27FC236}">
                <a16:creationId xmlns:a16="http://schemas.microsoft.com/office/drawing/2014/main" id="{29B7B7B5-73FA-6976-4DA4-F877272B9B62}"/>
              </a:ext>
            </a:extLst>
          </p:cNvPr>
          <p:cNvSpPr/>
          <p:nvPr/>
        </p:nvSpPr>
        <p:spPr>
          <a:xfrm>
            <a:off x="793790" y="3396803"/>
            <a:ext cx="13042821" cy="176291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400" b="1" dirty="0"/>
              <a:t>Domain-Specific Dataset Adaptation:</a:t>
            </a:r>
            <a:r>
              <a:rPr lang="en-US" sz="2400" dirty="0"/>
              <a:t> * Filtered and mapped the generic FER-2013 dataset into an education-specific dataset.</a:t>
            </a:r>
          </a:p>
          <a:p>
            <a:pPr marL="342900" indent="-342900">
              <a:buFont typeface="Wingdings" panose="05000000000000000000" pitchFamily="2" charset="2"/>
              <a:buChar char="ü"/>
            </a:pPr>
            <a:r>
              <a:rPr lang="en-US" sz="2400" dirty="0"/>
              <a:t>	Translated expressions like "Surprise" to "Confused" and "Sad" to "Bored" to perfectly align with 	the pedagogical goals of the Smart Study Assistant.</a:t>
            </a:r>
          </a:p>
        </p:txBody>
      </p:sp>
      <p:sp>
        <p:nvSpPr>
          <p:cNvPr id="5" name="Text 1">
            <a:extLst>
              <a:ext uri="{FF2B5EF4-FFF2-40B4-BE49-F238E27FC236}">
                <a16:creationId xmlns:a16="http://schemas.microsoft.com/office/drawing/2014/main" id="{869E8512-F766-3C92-BC9A-4158B9FF4C21}"/>
              </a:ext>
            </a:extLst>
          </p:cNvPr>
          <p:cNvSpPr/>
          <p:nvPr/>
        </p:nvSpPr>
        <p:spPr>
          <a:xfrm>
            <a:off x="788592" y="5199224"/>
            <a:ext cx="13042821" cy="176291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400" b="1" dirty="0"/>
              <a:t>Highly Optimized Inference Pipeline:</a:t>
            </a:r>
            <a:r>
              <a:rPr lang="en-US" sz="2400" dirty="0"/>
              <a:t> * Condensing 35,000+ images into pristine numerical feature vectors, achieving an ultra-low inference time (&lt;2ms) while maintaining high precision for "Confused" (67%) and "Focused" (58%) states.</a:t>
            </a:r>
          </a:p>
        </p:txBody>
      </p:sp>
    </p:spTree>
    <p:extLst>
      <p:ext uri="{BB962C8B-B14F-4D97-AF65-F5344CB8AC3E}">
        <p14:creationId xmlns:p14="http://schemas.microsoft.com/office/powerpoint/2010/main" val="3828843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17" name="Rectangle 16">
            <a:extLst>
              <a:ext uri="{FF2B5EF4-FFF2-40B4-BE49-F238E27FC236}">
                <a16:creationId xmlns:a16="http://schemas.microsoft.com/office/drawing/2014/main" id="{5AB97FAE-3253-918F-CE6A-1EB123891A1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Thathsara W.H.H.    |    R26-SE-022</a:t>
            </a:r>
            <a:endParaRPr lang="en-US" sz="1600" dirty="0">
              <a:solidFill>
                <a:schemeClr val="tx1"/>
              </a:solidFill>
            </a:endParaRPr>
          </a:p>
        </p:txBody>
      </p:sp>
      <p:sp>
        <p:nvSpPr>
          <p:cNvPr id="16" name="Text 0">
            <a:extLst>
              <a:ext uri="{FF2B5EF4-FFF2-40B4-BE49-F238E27FC236}">
                <a16:creationId xmlns:a16="http://schemas.microsoft.com/office/drawing/2014/main" id="{31D2DAF1-F470-400C-FC87-41966E924D51}"/>
              </a:ext>
            </a:extLst>
          </p:cNvPr>
          <p:cNvSpPr/>
          <p:nvPr/>
        </p:nvSpPr>
        <p:spPr>
          <a:xfrm>
            <a:off x="6042105" y="2106285"/>
            <a:ext cx="8478982" cy="1657870"/>
          </a:xfrm>
          <a:prstGeom prst="rect">
            <a:avLst/>
          </a:prstGeom>
          <a:noFill/>
          <a:ln/>
        </p:spPr>
        <p:txBody>
          <a:bodyPr wrap="square" lIns="0" tIns="0" rIns="0" bIns="0" rtlCol="0" anchor="t"/>
          <a:lstStyle/>
          <a:p>
            <a:pPr>
              <a:lnSpc>
                <a:spcPts val="5000"/>
              </a:lnSpc>
            </a:pPr>
            <a:r>
              <a:rPr lang="en-US" sz="3600" b="1" dirty="0">
                <a:latin typeface="Lato Bold" pitchFamily="34" charset="0"/>
                <a:ea typeface="Lato Bold" pitchFamily="34" charset="-122"/>
                <a:cs typeface="Lato Bold" pitchFamily="34" charset="-120"/>
              </a:rPr>
              <a:t>Component 4 - Emotion and Progress-Aware Adaptive Study Reminder System</a:t>
            </a:r>
            <a:endParaRPr lang="en-US" sz="3600" dirty="0"/>
          </a:p>
        </p:txBody>
      </p:sp>
      <p:sp>
        <p:nvSpPr>
          <p:cNvPr id="18" name="Text 0">
            <a:extLst>
              <a:ext uri="{FF2B5EF4-FFF2-40B4-BE49-F238E27FC236}">
                <a16:creationId xmlns:a16="http://schemas.microsoft.com/office/drawing/2014/main" id="{A317E3BD-CC56-5134-C891-D0B74E282C88}"/>
              </a:ext>
            </a:extLst>
          </p:cNvPr>
          <p:cNvSpPr/>
          <p:nvPr/>
        </p:nvSpPr>
        <p:spPr>
          <a:xfrm>
            <a:off x="6042105" y="448415"/>
            <a:ext cx="8478982" cy="1657870"/>
          </a:xfrm>
          <a:prstGeom prst="rect">
            <a:avLst/>
          </a:prstGeom>
          <a:noFill/>
          <a:ln/>
        </p:spPr>
        <p:txBody>
          <a:bodyPr wrap="square" lIns="0" tIns="0" rIns="0" bIns="0" rtlCol="0" anchor="t"/>
          <a:lstStyle/>
          <a:p>
            <a:pPr marL="0" indent="0" algn="l">
              <a:lnSpc>
                <a:spcPts val="5000"/>
              </a:lnSpc>
              <a:buNone/>
            </a:pPr>
            <a:r>
              <a:rPr lang="en-US" sz="3800" b="1" dirty="0">
                <a:latin typeface="Lato Bold" pitchFamily="34" charset="0"/>
                <a:ea typeface="Lato Bold" pitchFamily="34" charset="-122"/>
                <a:cs typeface="Lato Bold" pitchFamily="34" charset="-120"/>
              </a:rPr>
              <a:t>IT22371690</a:t>
            </a:r>
          </a:p>
          <a:p>
            <a:pPr>
              <a:lnSpc>
                <a:spcPts val="5000"/>
              </a:lnSpc>
            </a:pPr>
            <a:r>
              <a:rPr lang="en-US" sz="3800" b="1" dirty="0">
                <a:latin typeface="Lato Bold" pitchFamily="34" charset="0"/>
                <a:ea typeface="Lato Bold" pitchFamily="34" charset="-122"/>
                <a:cs typeface="Lato Bold" pitchFamily="34" charset="-120"/>
              </a:rPr>
              <a:t>Thathsara W.H.H.</a:t>
            </a:r>
          </a:p>
        </p:txBody>
      </p:sp>
      <p:sp>
        <p:nvSpPr>
          <p:cNvPr id="19" name="Text 0">
            <a:extLst>
              <a:ext uri="{FF2B5EF4-FFF2-40B4-BE49-F238E27FC236}">
                <a16:creationId xmlns:a16="http://schemas.microsoft.com/office/drawing/2014/main" id="{46C9C4CD-7660-5B80-425D-DE8BCFF6B6FA}"/>
              </a:ext>
            </a:extLst>
          </p:cNvPr>
          <p:cNvSpPr/>
          <p:nvPr/>
        </p:nvSpPr>
        <p:spPr>
          <a:xfrm>
            <a:off x="6042105" y="3847777"/>
            <a:ext cx="2260023" cy="700300"/>
          </a:xfrm>
          <a:prstGeom prst="rect">
            <a:avLst/>
          </a:prstGeom>
          <a:noFill/>
          <a:ln/>
        </p:spPr>
        <p:txBody>
          <a:bodyPr wrap="square" lIns="0" tIns="0" rIns="0" bIns="0" rtlCol="0" anchor="t"/>
          <a:lstStyle/>
          <a:p>
            <a:pPr marL="0" indent="0" algn="l">
              <a:lnSpc>
                <a:spcPts val="5000"/>
              </a:lnSpc>
              <a:buNone/>
            </a:pPr>
            <a:r>
              <a:rPr lang="en-US" sz="2000" b="1" dirty="0">
                <a:latin typeface="Lato Bold" pitchFamily="34" charset="0"/>
                <a:ea typeface="Lato Bold" pitchFamily="34" charset="-122"/>
                <a:cs typeface="Lato Bold" pitchFamily="34" charset="-120"/>
              </a:rPr>
              <a:t>SE specialization</a:t>
            </a:r>
            <a:endParaRPr lang="en-US" sz="2000" dirty="0"/>
          </a:p>
        </p:txBody>
      </p:sp>
      <p:pic>
        <p:nvPicPr>
          <p:cNvPr id="20" name="Image 2">
            <a:extLst>
              <a:ext uri="{FF2B5EF4-FFF2-40B4-BE49-F238E27FC236}">
                <a16:creationId xmlns:a16="http://schemas.microsoft.com/office/drawing/2014/main" id="{FE26FCC3-5448-421C-38FF-E749D48F9933}"/>
              </a:ext>
            </a:extLst>
          </p:cNvPr>
          <p:cNvPicPr>
            <a:picLocks noChangeAspect="1"/>
          </p:cNvPicPr>
          <p:nvPr/>
        </p:nvPicPr>
        <p:blipFill>
          <a:blip r:embed="rId4"/>
          <a:srcRect/>
          <a:stretch/>
        </p:blipFill>
        <p:spPr>
          <a:xfrm>
            <a:off x="9479596" y="4368868"/>
            <a:ext cx="2589033" cy="26042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09CD3313-731F-FA6F-AD70-4F5C1351762E}"/>
              </a:ext>
            </a:extLst>
          </p:cNvPr>
          <p:cNvSpPr/>
          <p:nvPr/>
        </p:nvSpPr>
        <p:spPr>
          <a:xfrm>
            <a:off x="793790" y="39342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Emotion and Progress-Aware Adaptive Study Reminder System</a:t>
            </a:r>
            <a:endParaRPr lang="en-US" sz="3800" dirty="0"/>
          </a:p>
        </p:txBody>
      </p:sp>
      <p:sp>
        <p:nvSpPr>
          <p:cNvPr id="19" name="Rectangle 18">
            <a:extLst>
              <a:ext uri="{FF2B5EF4-FFF2-40B4-BE49-F238E27FC236}">
                <a16:creationId xmlns:a16="http://schemas.microsoft.com/office/drawing/2014/main" id="{C813B9EB-0E2B-53E9-D38E-C33738F7E79F}"/>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Thathsara W.H.H.    |    R26-SE-022</a:t>
            </a:r>
            <a:endParaRPr lang="en-US" sz="1600" dirty="0">
              <a:solidFill>
                <a:schemeClr val="tx1"/>
              </a:solidFill>
            </a:endParaRPr>
          </a:p>
        </p:txBody>
      </p:sp>
      <p:sp>
        <p:nvSpPr>
          <p:cNvPr id="2" name="Text 1">
            <a:extLst>
              <a:ext uri="{FF2B5EF4-FFF2-40B4-BE49-F238E27FC236}">
                <a16:creationId xmlns:a16="http://schemas.microsoft.com/office/drawing/2014/main" id="{5E4F2988-C4AB-B1CC-2138-1B583A430411}"/>
              </a:ext>
            </a:extLst>
          </p:cNvPr>
          <p:cNvSpPr/>
          <p:nvPr/>
        </p:nvSpPr>
        <p:spPr>
          <a:xfrm>
            <a:off x="1306626" y="2082461"/>
            <a:ext cx="11993738" cy="517128"/>
          </a:xfrm>
          <a:prstGeom prst="rect">
            <a:avLst/>
          </a:prstGeom>
          <a:noFill/>
          <a:ln/>
        </p:spPr>
        <p:txBody>
          <a:bodyPr wrap="square" lIns="0" tIns="0" rIns="0" bIns="0" rtlCol="0" anchor="t"/>
          <a:lstStyle/>
          <a:p>
            <a:pPr marL="285739" indent="-285739">
              <a:lnSpc>
                <a:spcPts val="2000"/>
              </a:lnSpc>
              <a:buFont typeface="Arial" panose="020B0604020202020204" pitchFamily="34" charset="0"/>
              <a:buChar char="•"/>
            </a:pPr>
            <a:r>
              <a:rPr sz="2200" b="1" dirty="0"/>
              <a:t>Sub-Problem:</a:t>
            </a:r>
            <a:r>
              <a:rPr sz="2200" b="0" dirty="0"/>
              <a:t> Fixed study reminders ignore emotional readiness, forgetting risk, and cognitive fatigue.</a:t>
            </a:r>
          </a:p>
        </p:txBody>
      </p:sp>
      <p:sp>
        <p:nvSpPr>
          <p:cNvPr id="14" name="Text 0">
            <a:extLst>
              <a:ext uri="{FF2B5EF4-FFF2-40B4-BE49-F238E27FC236}">
                <a16:creationId xmlns:a16="http://schemas.microsoft.com/office/drawing/2014/main" id="{FB472348-629B-E92A-B859-A11F9D966193}"/>
              </a:ext>
            </a:extLst>
          </p:cNvPr>
          <p:cNvSpPr/>
          <p:nvPr/>
        </p:nvSpPr>
        <p:spPr>
          <a:xfrm>
            <a:off x="1306626" y="1445593"/>
            <a:ext cx="2620304" cy="413444"/>
          </a:xfrm>
          <a:prstGeom prst="rect">
            <a:avLst/>
          </a:prstGeom>
          <a:noFill/>
          <a:ln/>
        </p:spPr>
        <p:txBody>
          <a:bodyPr wrap="none" lIns="0" tIns="0" rIns="0" bIns="0" rtlCol="0" anchor="t"/>
          <a:lstStyle/>
          <a:p>
            <a:pPr>
              <a:lnSpc>
                <a:spcPts val="3250"/>
              </a:lnSpc>
            </a:pPr>
            <a:r>
              <a:rPr sz="2800" b="1"/>
              <a:t>How the Solution Addresses the Sub-Problem</a:t>
            </a:r>
            <a:endParaRPr lang="en-US" sz="2500" dirty="0"/>
          </a:p>
        </p:txBody>
      </p:sp>
      <p:sp>
        <p:nvSpPr>
          <p:cNvPr id="17" name="Text 1">
            <a:extLst>
              <a:ext uri="{FF2B5EF4-FFF2-40B4-BE49-F238E27FC236}">
                <a16:creationId xmlns:a16="http://schemas.microsoft.com/office/drawing/2014/main" id="{097D0355-B8AA-B297-E808-B10783B648AD}"/>
              </a:ext>
            </a:extLst>
          </p:cNvPr>
          <p:cNvSpPr/>
          <p:nvPr/>
        </p:nvSpPr>
        <p:spPr>
          <a:xfrm>
            <a:off x="1306625" y="2914068"/>
            <a:ext cx="11453411" cy="3132984"/>
          </a:xfrm>
          <a:prstGeom prst="rect">
            <a:avLst/>
          </a:prstGeom>
          <a:noFill/>
          <a:ln/>
        </p:spPr>
        <p:txBody>
          <a:bodyPr wrap="square" lIns="0" tIns="0" rIns="0" bIns="0" rtlCol="0" anchor="t"/>
          <a:lstStyle/>
          <a:p>
            <a:pPr marL="285739" indent="-285739">
              <a:lnSpc>
                <a:spcPts val="2000"/>
              </a:lnSpc>
              <a:buFont typeface="Arial" panose="020B0604020202020204" pitchFamily="34" charset="0"/>
              <a:buChar char="•"/>
            </a:pPr>
            <a:r>
              <a:rPr sz="2200" b="1" dirty="0"/>
              <a:t>Prototype Solution:</a:t>
            </a:r>
          </a:p>
          <a:p>
            <a:endParaRPr sz="2200" b="0" dirty="0"/>
          </a:p>
          <a:p>
            <a:pPr lvl="1"/>
            <a:r>
              <a:rPr sz="2200" b="0" dirty="0"/>
              <a:t>Emotion Label → Readiness Level</a:t>
            </a:r>
          </a:p>
          <a:p>
            <a:pPr lvl="1"/>
            <a:endParaRPr sz="2200" b="0" dirty="0"/>
          </a:p>
          <a:p>
            <a:pPr lvl="1"/>
            <a:r>
              <a:rPr sz="2200" b="0" dirty="0"/>
              <a:t>Study History → Memory Priority</a:t>
            </a:r>
          </a:p>
          <a:p>
            <a:pPr lvl="1"/>
            <a:endParaRPr sz="2200" b="0" dirty="0"/>
          </a:p>
          <a:p>
            <a:pPr lvl="1"/>
            <a:r>
              <a:rPr sz="2200" b="0" dirty="0"/>
              <a:t>Readiness + Priority → Send / Delay / Skip</a:t>
            </a:r>
          </a:p>
          <a:p>
            <a:pPr lvl="1"/>
            <a:endParaRPr sz="2200" b="0" dirty="0"/>
          </a:p>
          <a:p>
            <a:pPr lvl="1"/>
            <a:r>
              <a:rPr sz="2200" b="0" dirty="0"/>
              <a:t>Student State → Recall / Review / Rest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16" name="Image 0" descr="preencoded.png"/>
          <p:cNvPicPr>
            <a:picLocks noChangeAspect="1"/>
          </p:cNvPicPr>
          <p:nvPr/>
        </p:nvPicPr>
        <p:blipFill>
          <a:blip r:embed="rId3"/>
          <a:stretch>
            <a:fillRect/>
          </a:stretch>
        </p:blipFill>
        <p:spPr>
          <a:xfrm>
            <a:off x="8778138" y="2336483"/>
            <a:ext cx="4608253" cy="4608253"/>
          </a:xfrm>
          <a:prstGeom prst="rect">
            <a:avLst/>
          </a:prstGeom>
        </p:spPr>
      </p:pic>
      <p:sp>
        <p:nvSpPr>
          <p:cNvPr id="20" name="Text 0">
            <a:extLst>
              <a:ext uri="{FF2B5EF4-FFF2-40B4-BE49-F238E27FC236}">
                <a16:creationId xmlns:a16="http://schemas.microsoft.com/office/drawing/2014/main" id="{FF99DCFD-B6AE-9DA9-CDBE-D8A3581C1D6E}"/>
              </a:ext>
            </a:extLst>
          </p:cNvPr>
          <p:cNvSpPr/>
          <p:nvPr/>
        </p:nvSpPr>
        <p:spPr>
          <a:xfrm>
            <a:off x="793790" y="393426"/>
            <a:ext cx="13455610" cy="496133"/>
          </a:xfrm>
          <a:prstGeom prst="rect">
            <a:avLst/>
          </a:prstGeom>
          <a:noFill/>
          <a:ln/>
        </p:spPr>
        <p:txBody>
          <a:bodyPr wrap="none" lIns="0" tIns="0" rIns="0" bIns="0" rtlCol="0" anchor="t"/>
          <a:lstStyle/>
          <a:p>
            <a:pPr>
              <a:lnSpc>
                <a:spcPts val="3900"/>
              </a:lnSpc>
            </a:pPr>
            <a:r>
              <a:rPr lang="en-US" sz="3600" b="1" dirty="0">
                <a:latin typeface="Lato Bold" pitchFamily="34" charset="0"/>
                <a:ea typeface="Lato Bold" pitchFamily="34" charset="-122"/>
                <a:cs typeface="Lato Bold" pitchFamily="34" charset="-120"/>
              </a:rPr>
              <a:t>Emotion and Progress-Aware Adaptive Study Reminder System</a:t>
            </a:r>
            <a:endParaRPr lang="en-US" sz="3600" dirty="0"/>
          </a:p>
        </p:txBody>
      </p:sp>
      <p:sp>
        <p:nvSpPr>
          <p:cNvPr id="22" name="Rectangle 21">
            <a:extLst>
              <a:ext uri="{FF2B5EF4-FFF2-40B4-BE49-F238E27FC236}">
                <a16:creationId xmlns:a16="http://schemas.microsoft.com/office/drawing/2014/main" id="{B15F61A4-A1A6-37C0-B361-43610A03CCB2}"/>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Thathsara W.H.H.    |    R26-SE-022</a:t>
            </a:r>
            <a:endParaRPr lang="en-US" sz="1600" dirty="0">
              <a:solidFill>
                <a:schemeClr val="tx1"/>
              </a:solidFill>
            </a:endParaRPr>
          </a:p>
        </p:txBody>
      </p:sp>
      <p:sp>
        <p:nvSpPr>
          <p:cNvPr id="2" name="Text 1">
            <a:extLst>
              <a:ext uri="{FF2B5EF4-FFF2-40B4-BE49-F238E27FC236}">
                <a16:creationId xmlns:a16="http://schemas.microsoft.com/office/drawing/2014/main" id="{6B44942E-06B1-A9A5-42B8-AB72EBE23550}"/>
              </a:ext>
            </a:extLst>
          </p:cNvPr>
          <p:cNvSpPr/>
          <p:nvPr/>
        </p:nvSpPr>
        <p:spPr>
          <a:xfrm>
            <a:off x="793790" y="1959095"/>
            <a:ext cx="10869018" cy="517128"/>
          </a:xfrm>
          <a:prstGeom prst="rect">
            <a:avLst/>
          </a:prstGeom>
          <a:noFill/>
          <a:ln/>
        </p:spPr>
        <p:txBody>
          <a:bodyPr wrap="square" lIns="0" tIns="0" rIns="0" bIns="0" rtlCol="0" anchor="t"/>
          <a:lstStyle/>
          <a:p>
            <a:pPr marL="285739" indent="-285739">
              <a:lnSpc>
                <a:spcPts val="2000"/>
              </a:lnSpc>
              <a:buFont typeface="Arial" panose="020B0604020202020204" pitchFamily="34" charset="0"/>
              <a:buChar char="•"/>
            </a:pPr>
            <a:r>
              <a:rPr sz="2200" b="1" dirty="0"/>
              <a:t>Cold-Start Support: </a:t>
            </a:r>
            <a:r>
              <a:rPr sz="2200" b="0" dirty="0"/>
              <a:t>New users can start with emotion + time only; personalization improves after feedback and quiz history are collected.</a:t>
            </a:r>
          </a:p>
        </p:txBody>
      </p:sp>
      <p:sp>
        <p:nvSpPr>
          <p:cNvPr id="3" name="Text 10">
            <a:extLst>
              <a:ext uri="{FF2B5EF4-FFF2-40B4-BE49-F238E27FC236}">
                <a16:creationId xmlns:a16="http://schemas.microsoft.com/office/drawing/2014/main" id="{78430356-F836-11D4-BEEA-AD75BBF2A98A}"/>
              </a:ext>
            </a:extLst>
          </p:cNvPr>
          <p:cNvSpPr/>
          <p:nvPr/>
        </p:nvSpPr>
        <p:spPr>
          <a:xfrm>
            <a:off x="793790" y="5888544"/>
            <a:ext cx="10869018" cy="775693"/>
          </a:xfrm>
          <a:prstGeom prst="rect">
            <a:avLst/>
          </a:prstGeom>
          <a:noFill/>
          <a:ln/>
        </p:spPr>
        <p:txBody>
          <a:bodyPr wrap="square" lIns="0" tIns="0" rIns="0" bIns="0" rtlCol="0" anchor="t"/>
          <a:lstStyle/>
          <a:p>
            <a:pPr>
              <a:lnSpc>
                <a:spcPts val="2000"/>
              </a:lnSpc>
            </a:pPr>
            <a:r>
              <a:rPr lang="en-US" sz="1333" dirty="0">
                <a:latin typeface="Lato" pitchFamily="34" charset="0"/>
                <a:ea typeface="Lato" pitchFamily="34" charset="-122"/>
                <a:cs typeface="Lato" pitchFamily="34" charset="-120"/>
              </a:rPr>
              <a:t>.</a:t>
            </a:r>
            <a:endParaRPr lang="en-US" sz="1333" dirty="0"/>
          </a:p>
        </p:txBody>
      </p:sp>
      <p:sp>
        <p:nvSpPr>
          <p:cNvPr id="17" name="Text 0">
            <a:extLst>
              <a:ext uri="{FF2B5EF4-FFF2-40B4-BE49-F238E27FC236}">
                <a16:creationId xmlns:a16="http://schemas.microsoft.com/office/drawing/2014/main" id="{3D628236-E77A-FFF8-377B-4B08F63CFB11}"/>
              </a:ext>
            </a:extLst>
          </p:cNvPr>
          <p:cNvSpPr/>
          <p:nvPr/>
        </p:nvSpPr>
        <p:spPr>
          <a:xfrm>
            <a:off x="793790" y="1322227"/>
            <a:ext cx="6387008" cy="413444"/>
          </a:xfrm>
          <a:prstGeom prst="rect">
            <a:avLst/>
          </a:prstGeom>
          <a:noFill/>
          <a:ln/>
        </p:spPr>
        <p:txBody>
          <a:bodyPr wrap="none" lIns="0" tIns="0" rIns="0" bIns="0" rtlCol="0" anchor="t"/>
          <a:lstStyle/>
          <a:p>
            <a:pPr>
              <a:lnSpc>
                <a:spcPts val="3250"/>
              </a:lnSpc>
            </a:pPr>
            <a:r>
              <a:rPr sz="2800" b="1"/>
              <a:t>User Requirements Addressed by the Solution</a:t>
            </a:r>
            <a:endParaRPr lang="en-US" sz="2500" dirty="0"/>
          </a:p>
        </p:txBody>
      </p:sp>
      <p:sp>
        <p:nvSpPr>
          <p:cNvPr id="18" name="Text 1">
            <a:extLst>
              <a:ext uri="{FF2B5EF4-FFF2-40B4-BE49-F238E27FC236}">
                <a16:creationId xmlns:a16="http://schemas.microsoft.com/office/drawing/2014/main" id="{665BB380-11AE-EAAB-A6F3-FC6E9EF8F93A}"/>
              </a:ext>
            </a:extLst>
          </p:cNvPr>
          <p:cNvSpPr/>
          <p:nvPr/>
        </p:nvSpPr>
        <p:spPr>
          <a:xfrm>
            <a:off x="793790" y="2887477"/>
            <a:ext cx="10869018" cy="3776760"/>
          </a:xfrm>
          <a:prstGeom prst="rect">
            <a:avLst/>
          </a:prstGeom>
          <a:noFill/>
          <a:ln/>
        </p:spPr>
        <p:txBody>
          <a:bodyPr wrap="square" lIns="0" tIns="0" rIns="0" bIns="0" rtlCol="0" anchor="t"/>
          <a:lstStyle/>
          <a:p>
            <a:pPr marL="285739" indent="-285739">
              <a:lnSpc>
                <a:spcPts val="2000"/>
              </a:lnSpc>
              <a:buFont typeface="Arial" panose="020B0604020202020204" pitchFamily="34" charset="0"/>
              <a:buChar char="•"/>
            </a:pPr>
            <a:r>
              <a:rPr sz="2200" b="1" dirty="0"/>
              <a:t>Requirement Coverage:</a:t>
            </a:r>
          </a:p>
          <a:p>
            <a:endParaRPr sz="2200" b="0" dirty="0"/>
          </a:p>
          <a:p>
            <a:pPr lvl="1"/>
            <a:r>
              <a:rPr sz="2200" b="0" dirty="0"/>
              <a:t>Readiness Detection</a:t>
            </a:r>
          </a:p>
          <a:p>
            <a:pPr lvl="1"/>
            <a:endParaRPr sz="2200" b="0" dirty="0"/>
          </a:p>
          <a:p>
            <a:pPr lvl="1"/>
            <a:r>
              <a:rPr sz="2200" b="0" dirty="0"/>
              <a:t>Memory Decay Modeling</a:t>
            </a:r>
          </a:p>
          <a:p>
            <a:pPr lvl="1"/>
            <a:endParaRPr sz="2200" b="0" dirty="0"/>
          </a:p>
          <a:p>
            <a:pPr lvl="1"/>
            <a:r>
              <a:rPr sz="2200" b="0" dirty="0"/>
              <a:t>Adaptive Reminder Scheduling</a:t>
            </a:r>
          </a:p>
          <a:p>
            <a:pPr lvl="1"/>
            <a:endParaRPr sz="2200" b="0" dirty="0"/>
          </a:p>
          <a:p>
            <a:pPr lvl="1"/>
            <a:r>
              <a:rPr sz="2200" b="0" dirty="0"/>
              <a:t>Content-Type Recommendation</a:t>
            </a:r>
          </a:p>
          <a:p>
            <a:pPr lvl="1"/>
            <a:endParaRPr sz="2200" b="0" dirty="0"/>
          </a:p>
          <a:p>
            <a:pPr lvl="1"/>
            <a:r>
              <a:rPr sz="2200" b="0" dirty="0"/>
              <a:t>Feedback-Ready Design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46B4156D-3658-3C90-E620-AA04AA68EB3D}"/>
              </a:ext>
            </a:extLst>
          </p:cNvPr>
          <p:cNvSpPr/>
          <p:nvPr/>
        </p:nvSpPr>
        <p:spPr>
          <a:xfrm>
            <a:off x="793790" y="403817"/>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Emotion and Progress-Aware Adaptive Study Reminder System</a:t>
            </a:r>
          </a:p>
        </p:txBody>
      </p:sp>
      <p:sp>
        <p:nvSpPr>
          <p:cNvPr id="49" name="Rectangle 48">
            <a:extLst>
              <a:ext uri="{FF2B5EF4-FFF2-40B4-BE49-F238E27FC236}">
                <a16:creationId xmlns:a16="http://schemas.microsoft.com/office/drawing/2014/main" id="{BA7C27AB-14B4-BF80-2D5C-D78F0A1FACD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Thathsara W.H.H.    |    R26-SE-022</a:t>
            </a:r>
            <a:endParaRPr lang="en-US" sz="1600" dirty="0">
              <a:solidFill>
                <a:schemeClr val="tx1"/>
              </a:solidFill>
            </a:endParaRPr>
          </a:p>
        </p:txBody>
      </p:sp>
      <p:sp>
        <p:nvSpPr>
          <p:cNvPr id="2" name="Text 1">
            <a:extLst>
              <a:ext uri="{FF2B5EF4-FFF2-40B4-BE49-F238E27FC236}">
                <a16:creationId xmlns:a16="http://schemas.microsoft.com/office/drawing/2014/main" id="{4CDACC3C-C2C4-4E31-7699-C84187191329}"/>
              </a:ext>
            </a:extLst>
          </p:cNvPr>
          <p:cNvSpPr/>
          <p:nvPr/>
        </p:nvSpPr>
        <p:spPr>
          <a:xfrm>
            <a:off x="928192" y="1839353"/>
            <a:ext cx="10869018" cy="1469096"/>
          </a:xfrm>
          <a:prstGeom prst="rect">
            <a:avLst/>
          </a:prstGeom>
          <a:noFill/>
          <a:ln/>
        </p:spPr>
        <p:txBody>
          <a:bodyPr wrap="square" lIns="0" tIns="0" rIns="0" bIns="0" rtlCol="0" anchor="t"/>
          <a:lstStyle/>
          <a:p>
            <a:pPr marL="285739" indent="-285739">
              <a:buFont typeface="Arial" panose="020B0604020202020204" pitchFamily="34" charset="0"/>
              <a:buChar char="•"/>
            </a:pPr>
            <a:r>
              <a:rPr sz="2200" b="1" dirty="0"/>
              <a:t>Core Contribution:</a:t>
            </a:r>
            <a:r>
              <a:rPr sz="2200" b="0" dirty="0"/>
              <a:t> Combines emotion-aware readiness, memory retention, and scheduling decisions in one adaptive reminder pipeline.</a:t>
            </a:r>
          </a:p>
        </p:txBody>
      </p:sp>
      <p:sp>
        <p:nvSpPr>
          <p:cNvPr id="3" name="Text 10">
            <a:extLst>
              <a:ext uri="{FF2B5EF4-FFF2-40B4-BE49-F238E27FC236}">
                <a16:creationId xmlns:a16="http://schemas.microsoft.com/office/drawing/2014/main" id="{41AE0C0D-584D-2AB8-348F-9110E90CA440}"/>
              </a:ext>
            </a:extLst>
          </p:cNvPr>
          <p:cNvSpPr/>
          <p:nvPr/>
        </p:nvSpPr>
        <p:spPr>
          <a:xfrm>
            <a:off x="928192" y="5909504"/>
            <a:ext cx="10869018" cy="775693"/>
          </a:xfrm>
          <a:prstGeom prst="rect">
            <a:avLst/>
          </a:prstGeom>
          <a:noFill/>
          <a:ln/>
        </p:spPr>
        <p:txBody>
          <a:bodyPr wrap="square" lIns="0" tIns="0" rIns="0" bIns="0" rtlCol="0" anchor="t"/>
          <a:lstStyle/>
          <a:p>
            <a:pPr>
              <a:lnSpc>
                <a:spcPts val="2000"/>
              </a:lnSpc>
            </a:pPr>
            <a:r>
              <a:rPr lang="en-US" sz="1333" dirty="0">
                <a:latin typeface="Lato" pitchFamily="34" charset="0"/>
                <a:ea typeface="Lato" pitchFamily="34" charset="-122"/>
                <a:cs typeface="Lato" pitchFamily="34" charset="-120"/>
              </a:rPr>
              <a:t>.</a:t>
            </a:r>
            <a:endParaRPr lang="en-US" sz="1333" dirty="0"/>
          </a:p>
        </p:txBody>
      </p:sp>
      <p:sp>
        <p:nvSpPr>
          <p:cNvPr id="7" name="Text 0">
            <a:extLst>
              <a:ext uri="{FF2B5EF4-FFF2-40B4-BE49-F238E27FC236}">
                <a16:creationId xmlns:a16="http://schemas.microsoft.com/office/drawing/2014/main" id="{54FF205B-7B67-EB49-0439-DCD473F41324}"/>
              </a:ext>
            </a:extLst>
          </p:cNvPr>
          <p:cNvSpPr/>
          <p:nvPr/>
        </p:nvSpPr>
        <p:spPr>
          <a:xfrm>
            <a:off x="928192" y="1343187"/>
            <a:ext cx="6387008" cy="413444"/>
          </a:xfrm>
          <a:prstGeom prst="rect">
            <a:avLst/>
          </a:prstGeom>
          <a:noFill/>
          <a:ln/>
        </p:spPr>
        <p:txBody>
          <a:bodyPr wrap="none" lIns="0" tIns="0" rIns="0" bIns="0" rtlCol="0" anchor="t"/>
          <a:lstStyle/>
          <a:p>
            <a:pPr>
              <a:lnSpc>
                <a:spcPts val="3250"/>
              </a:lnSpc>
            </a:pPr>
            <a:r>
              <a:rPr sz="2800" b="1"/>
              <a:t>Design Excellence &amp; Key Contributions</a:t>
            </a:r>
            <a:endParaRPr lang="en-US" sz="2500" dirty="0"/>
          </a:p>
        </p:txBody>
      </p:sp>
      <p:sp>
        <p:nvSpPr>
          <p:cNvPr id="8" name="Text 1">
            <a:extLst>
              <a:ext uri="{FF2B5EF4-FFF2-40B4-BE49-F238E27FC236}">
                <a16:creationId xmlns:a16="http://schemas.microsoft.com/office/drawing/2014/main" id="{64437F9C-E774-2516-174A-ABBC84FB6EFA}"/>
              </a:ext>
            </a:extLst>
          </p:cNvPr>
          <p:cNvSpPr/>
          <p:nvPr/>
        </p:nvSpPr>
        <p:spPr>
          <a:xfrm>
            <a:off x="928192" y="2814309"/>
            <a:ext cx="12018881" cy="2371037"/>
          </a:xfrm>
          <a:prstGeom prst="rect">
            <a:avLst/>
          </a:prstGeom>
          <a:noFill/>
          <a:ln/>
        </p:spPr>
        <p:txBody>
          <a:bodyPr wrap="square" lIns="0" tIns="0" rIns="0" bIns="0" rtlCol="0" anchor="t"/>
          <a:lstStyle/>
          <a:p>
            <a:pPr marL="285739" indent="-285739">
              <a:buFont typeface="Arial" panose="020B0604020202020204" pitchFamily="34" charset="0"/>
              <a:buChar char="•"/>
            </a:pPr>
            <a:r>
              <a:rPr sz="2100" b="1" dirty="0"/>
              <a:t>Design Strengths:</a:t>
            </a:r>
          </a:p>
          <a:p>
            <a:endParaRPr sz="2100" b="0" dirty="0"/>
          </a:p>
          <a:p>
            <a:pPr lvl="1"/>
            <a:r>
              <a:rPr sz="2100" b="0" dirty="0"/>
              <a:t>Modular: built separately and ready to integrate with Mihiraj’s emotion output.</a:t>
            </a:r>
          </a:p>
          <a:p>
            <a:pPr lvl="1"/>
            <a:endParaRPr sz="2100" b="0" dirty="0"/>
          </a:p>
          <a:p>
            <a:pPr lvl="1"/>
            <a:r>
              <a:rPr sz="2100" b="0" dirty="0"/>
              <a:t>Explainable: uses Random Forest + SM-2 + rule-based scheduling.</a:t>
            </a:r>
          </a:p>
          <a:p>
            <a:pPr lvl="1"/>
            <a:endParaRPr sz="2100" b="0" dirty="0"/>
          </a:p>
          <a:p>
            <a:pPr lvl="1"/>
            <a:r>
              <a:rPr sz="2100" b="0" dirty="0"/>
              <a:t>Human-Centered: avoids reminders during low readiness.</a:t>
            </a:r>
          </a:p>
        </p:txBody>
      </p:sp>
      <p:sp>
        <p:nvSpPr>
          <p:cNvPr id="9" name="Text 1">
            <a:extLst>
              <a:ext uri="{FF2B5EF4-FFF2-40B4-BE49-F238E27FC236}">
                <a16:creationId xmlns:a16="http://schemas.microsoft.com/office/drawing/2014/main" id="{5B1472FC-483B-FF56-9E3A-66D63D442BEC}"/>
              </a:ext>
            </a:extLst>
          </p:cNvPr>
          <p:cNvSpPr/>
          <p:nvPr/>
        </p:nvSpPr>
        <p:spPr>
          <a:xfrm>
            <a:off x="928192" y="5457978"/>
            <a:ext cx="10869018" cy="903052"/>
          </a:xfrm>
          <a:prstGeom prst="rect">
            <a:avLst/>
          </a:prstGeom>
          <a:noFill/>
          <a:ln/>
        </p:spPr>
        <p:txBody>
          <a:bodyPr wrap="square" lIns="0" tIns="0" rIns="0" bIns="0" rtlCol="0" anchor="t"/>
          <a:lstStyle/>
          <a:p>
            <a:pPr marL="285739" indent="-285739">
              <a:buFont typeface="Arial" panose="020B0604020202020204" pitchFamily="34" charset="0"/>
              <a:buChar char="•"/>
            </a:pPr>
            <a:r>
              <a:rPr sz="2100" b="1" dirty="0"/>
              <a:t>Next Phase:</a:t>
            </a:r>
            <a:r>
              <a:rPr sz="2100" b="0" dirty="0"/>
              <a:t> Use accept / snooze / dismiss feedback to train a contextual bandit or reinforcement learning scheduler.</a:t>
            </a:r>
          </a:p>
        </p:txBody>
      </p:sp>
    </p:spTree>
    <p:extLst>
      <p:ext uri="{BB962C8B-B14F-4D97-AF65-F5344CB8AC3E}">
        <p14:creationId xmlns:p14="http://schemas.microsoft.com/office/powerpoint/2010/main" val="2650818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1984204" y="1836073"/>
            <a:ext cx="2414016" cy="2414016"/>
          </a:xfrm>
          <a:prstGeom prst="ellipse">
            <a:avLst/>
          </a:prstGeom>
          <a:solidFill>
            <a:srgbClr val="EADCCD"/>
          </a:solidFill>
          <a:ln>
            <a:solidFill>
              <a:srgbClr val="EA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dirty="0"/>
          </a:p>
        </p:txBody>
      </p:sp>
      <p:sp>
        <p:nvSpPr>
          <p:cNvPr id="3" name="Oval 2"/>
          <p:cNvSpPr/>
          <p:nvPr/>
        </p:nvSpPr>
        <p:spPr>
          <a:xfrm>
            <a:off x="3425419" y="4147720"/>
            <a:ext cx="2523744" cy="2523744"/>
          </a:xfrm>
          <a:prstGeom prst="ellipse">
            <a:avLst/>
          </a:prstGeom>
          <a:solidFill>
            <a:srgbClr val="ECE1D6"/>
          </a:solidFill>
          <a:ln>
            <a:solidFill>
              <a:srgbClr val="EC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 name="TextBox 3"/>
          <p:cNvSpPr txBox="1"/>
          <p:nvPr/>
        </p:nvSpPr>
        <p:spPr>
          <a:xfrm>
            <a:off x="770002" y="329185"/>
            <a:ext cx="1502334" cy="461665"/>
          </a:xfrm>
          <a:prstGeom prst="rect">
            <a:avLst/>
          </a:prstGeom>
          <a:noFill/>
        </p:spPr>
        <p:txBody>
          <a:bodyPr wrap="none">
            <a:spAutoFit/>
          </a:bodyPr>
          <a:lstStyle/>
          <a:p>
            <a:r>
              <a:rPr sz="2400" b="1" dirty="0">
                <a:solidFill>
                  <a:srgbClr val="BE3C32"/>
                </a:solidFill>
              </a:rPr>
              <a:t>AuraLearn</a:t>
            </a:r>
          </a:p>
        </p:txBody>
      </p:sp>
      <p:sp>
        <p:nvSpPr>
          <p:cNvPr id="5" name="TextBox 4"/>
          <p:cNvSpPr txBox="1"/>
          <p:nvPr/>
        </p:nvSpPr>
        <p:spPr>
          <a:xfrm>
            <a:off x="770002" y="768097"/>
            <a:ext cx="8553945" cy="646331"/>
          </a:xfrm>
          <a:prstGeom prst="rect">
            <a:avLst/>
          </a:prstGeom>
          <a:noFill/>
        </p:spPr>
        <p:txBody>
          <a:bodyPr wrap="none">
            <a:spAutoFit/>
          </a:bodyPr>
          <a:lstStyle/>
          <a:p>
            <a:r>
              <a:rPr sz="3600" b="1">
                <a:solidFill>
                  <a:srgbClr val="161616"/>
                </a:solidFill>
              </a:rPr>
              <a:t>Commercialization &amp; Sustainability Strategy</a:t>
            </a:r>
          </a:p>
        </p:txBody>
      </p:sp>
      <p:sp>
        <p:nvSpPr>
          <p:cNvPr id="6" name="TextBox 5"/>
          <p:cNvSpPr txBox="1"/>
          <p:nvPr/>
        </p:nvSpPr>
        <p:spPr>
          <a:xfrm>
            <a:off x="791947" y="1426465"/>
            <a:ext cx="6882012" cy="350865"/>
          </a:xfrm>
          <a:prstGeom prst="rect">
            <a:avLst/>
          </a:prstGeom>
          <a:noFill/>
        </p:spPr>
        <p:txBody>
          <a:bodyPr wrap="none">
            <a:spAutoFit/>
          </a:bodyPr>
          <a:lstStyle/>
          <a:p>
            <a:r>
              <a:rPr sz="1680" i="1">
                <a:solidFill>
                  <a:srgbClr val="6E6E6E"/>
                </a:solidFill>
              </a:rPr>
              <a:t>Transforming academic research into a scalable AI-powered EdTech platform.</a:t>
            </a:r>
          </a:p>
        </p:txBody>
      </p:sp>
      <p:sp>
        <p:nvSpPr>
          <p:cNvPr id="7" name="Rounded Rectangle 6"/>
          <p:cNvSpPr/>
          <p:nvPr/>
        </p:nvSpPr>
        <p:spPr>
          <a:xfrm>
            <a:off x="791947" y="1843431"/>
            <a:ext cx="877824" cy="32918"/>
          </a:xfrm>
          <a:prstGeom prst="roundRect">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8" name="Rounded Rectangle 7"/>
          <p:cNvSpPr/>
          <p:nvPr/>
        </p:nvSpPr>
        <p:spPr>
          <a:xfrm>
            <a:off x="748056" y="2238451"/>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 name="Rounded Rectangle 8"/>
          <p:cNvSpPr/>
          <p:nvPr/>
        </p:nvSpPr>
        <p:spPr>
          <a:xfrm>
            <a:off x="715138" y="2194560"/>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 name="Oval 9"/>
          <p:cNvSpPr/>
          <p:nvPr/>
        </p:nvSpPr>
        <p:spPr>
          <a:xfrm>
            <a:off x="846811" y="2326234"/>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 name="TextBox 10"/>
          <p:cNvSpPr txBox="1"/>
          <p:nvPr/>
        </p:nvSpPr>
        <p:spPr>
          <a:xfrm>
            <a:off x="923621" y="2353666"/>
            <a:ext cx="369012" cy="313932"/>
          </a:xfrm>
          <a:prstGeom prst="rect">
            <a:avLst/>
          </a:prstGeom>
          <a:noFill/>
        </p:spPr>
        <p:txBody>
          <a:bodyPr wrap="none">
            <a:spAutoFit/>
          </a:bodyPr>
          <a:lstStyle/>
          <a:p>
            <a:r>
              <a:rPr sz="1440" dirty="0"/>
              <a:t>🎯</a:t>
            </a:r>
          </a:p>
        </p:txBody>
      </p:sp>
      <p:sp>
        <p:nvSpPr>
          <p:cNvPr id="12" name="TextBox 11"/>
          <p:cNvSpPr txBox="1"/>
          <p:nvPr/>
        </p:nvSpPr>
        <p:spPr>
          <a:xfrm>
            <a:off x="1483234" y="2337207"/>
            <a:ext cx="1523109" cy="369332"/>
          </a:xfrm>
          <a:prstGeom prst="rect">
            <a:avLst/>
          </a:prstGeom>
          <a:noFill/>
        </p:spPr>
        <p:txBody>
          <a:bodyPr wrap="none">
            <a:spAutoFit/>
          </a:bodyPr>
          <a:lstStyle/>
          <a:p>
            <a:r>
              <a:rPr b="1">
                <a:solidFill>
                  <a:srgbClr val="1E1E1E"/>
                </a:solidFill>
              </a:rPr>
              <a:t>Target Market</a:t>
            </a:r>
          </a:p>
        </p:txBody>
      </p:sp>
      <p:sp>
        <p:nvSpPr>
          <p:cNvPr id="13" name="Rounded Rectangle 12"/>
          <p:cNvSpPr/>
          <p:nvPr/>
        </p:nvSpPr>
        <p:spPr>
          <a:xfrm>
            <a:off x="1483234" y="2666390"/>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4" name="TextBox 13"/>
          <p:cNvSpPr txBox="1"/>
          <p:nvPr/>
        </p:nvSpPr>
        <p:spPr>
          <a:xfrm>
            <a:off x="912648" y="2830982"/>
            <a:ext cx="2948243" cy="662874"/>
          </a:xfrm>
          <a:prstGeom prst="rect">
            <a:avLst/>
          </a:prstGeom>
          <a:noFill/>
        </p:spPr>
        <p:txBody>
          <a:bodyPr wrap="none">
            <a:spAutoFit/>
          </a:bodyPr>
          <a:lstStyle/>
          <a:p>
            <a:pPr>
              <a:defRPr sz="1030">
                <a:solidFill>
                  <a:srgbClr val="373737"/>
                </a:solidFill>
              </a:defRPr>
            </a:pPr>
            <a:r>
              <a:rPr sz="1236" dirty="0"/>
              <a:t>• Universities &amp; higher education institutes</a:t>
            </a:r>
          </a:p>
          <a:p>
            <a:pPr>
              <a:defRPr sz="1030">
                <a:solidFill>
                  <a:srgbClr val="373737"/>
                </a:solidFill>
              </a:defRPr>
            </a:pPr>
            <a:r>
              <a:rPr sz="1236" dirty="0"/>
              <a:t>• LMS and e-learning providers</a:t>
            </a:r>
          </a:p>
          <a:p>
            <a:pPr>
              <a:defRPr sz="1030">
                <a:solidFill>
                  <a:srgbClr val="373737"/>
                </a:solidFill>
              </a:defRPr>
            </a:pPr>
            <a:r>
              <a:rPr sz="1236" dirty="0"/>
              <a:t>• Online tutoring ecosystems</a:t>
            </a:r>
          </a:p>
        </p:txBody>
      </p:sp>
      <p:sp>
        <p:nvSpPr>
          <p:cNvPr id="15" name="Rounded Rectangle 14"/>
          <p:cNvSpPr/>
          <p:nvPr/>
        </p:nvSpPr>
        <p:spPr>
          <a:xfrm>
            <a:off x="4917720" y="2238451"/>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6" name="Rounded Rectangle 15"/>
          <p:cNvSpPr/>
          <p:nvPr/>
        </p:nvSpPr>
        <p:spPr>
          <a:xfrm>
            <a:off x="4884802" y="2194560"/>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7" name="Oval 16"/>
          <p:cNvSpPr/>
          <p:nvPr/>
        </p:nvSpPr>
        <p:spPr>
          <a:xfrm>
            <a:off x="5016475" y="2326234"/>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8" name="TextBox 17"/>
          <p:cNvSpPr txBox="1"/>
          <p:nvPr/>
        </p:nvSpPr>
        <p:spPr>
          <a:xfrm>
            <a:off x="5093285" y="2353666"/>
            <a:ext cx="369012" cy="313932"/>
          </a:xfrm>
          <a:prstGeom prst="rect">
            <a:avLst/>
          </a:prstGeom>
          <a:noFill/>
        </p:spPr>
        <p:txBody>
          <a:bodyPr wrap="square">
            <a:spAutoFit/>
          </a:bodyPr>
          <a:lstStyle/>
          <a:p>
            <a:r>
              <a:rPr sz="1440" dirty="0"/>
              <a:t>👩‍🎓</a:t>
            </a:r>
          </a:p>
        </p:txBody>
      </p:sp>
      <p:sp>
        <p:nvSpPr>
          <p:cNvPr id="19" name="TextBox 18"/>
          <p:cNvSpPr txBox="1"/>
          <p:nvPr/>
        </p:nvSpPr>
        <p:spPr>
          <a:xfrm>
            <a:off x="5652898" y="2337207"/>
            <a:ext cx="1923925" cy="369332"/>
          </a:xfrm>
          <a:prstGeom prst="rect">
            <a:avLst/>
          </a:prstGeom>
          <a:noFill/>
        </p:spPr>
        <p:txBody>
          <a:bodyPr wrap="none">
            <a:spAutoFit/>
          </a:bodyPr>
          <a:lstStyle/>
          <a:p>
            <a:r>
              <a:rPr b="1">
                <a:solidFill>
                  <a:srgbClr val="1E1E1E"/>
                </a:solidFill>
              </a:rPr>
              <a:t>Customer Persona</a:t>
            </a:r>
          </a:p>
        </p:txBody>
      </p:sp>
      <p:sp>
        <p:nvSpPr>
          <p:cNvPr id="20" name="Rounded Rectangle 19"/>
          <p:cNvSpPr/>
          <p:nvPr/>
        </p:nvSpPr>
        <p:spPr>
          <a:xfrm>
            <a:off x="5652898" y="2666390"/>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1" name="TextBox 20"/>
          <p:cNvSpPr txBox="1"/>
          <p:nvPr/>
        </p:nvSpPr>
        <p:spPr>
          <a:xfrm>
            <a:off x="5082313" y="2830982"/>
            <a:ext cx="2917786" cy="853054"/>
          </a:xfrm>
          <a:prstGeom prst="rect">
            <a:avLst/>
          </a:prstGeom>
          <a:noFill/>
        </p:spPr>
        <p:txBody>
          <a:bodyPr wrap="none">
            <a:spAutoFit/>
          </a:bodyPr>
          <a:lstStyle/>
          <a:p>
            <a:pPr>
              <a:defRPr sz="1030">
                <a:solidFill>
                  <a:srgbClr val="373737"/>
                </a:solidFill>
              </a:defRPr>
            </a:pPr>
            <a:r>
              <a:rPr sz="1236"/>
              <a:t>• "Nethmi" — undergraduate student</a:t>
            </a:r>
          </a:p>
          <a:p>
            <a:pPr>
              <a:defRPr sz="1030">
                <a:solidFill>
                  <a:srgbClr val="373737"/>
                </a:solidFill>
              </a:defRPr>
            </a:pPr>
            <a:r>
              <a:rPr sz="1236"/>
              <a:t>• Needs grounded academic answers</a:t>
            </a:r>
          </a:p>
          <a:p>
            <a:pPr>
              <a:defRPr sz="1030">
                <a:solidFill>
                  <a:srgbClr val="373737"/>
                </a:solidFill>
              </a:defRPr>
            </a:pPr>
            <a:r>
              <a:rPr sz="1236"/>
              <a:t>• Emotion-aware reminders improve focus</a:t>
            </a:r>
          </a:p>
          <a:p>
            <a:pPr>
              <a:defRPr sz="1030">
                <a:solidFill>
                  <a:srgbClr val="373737"/>
                </a:solidFill>
              </a:defRPr>
            </a:pPr>
            <a:r>
              <a:rPr sz="1236"/>
              <a:t>• Uses AI summaries &amp; flashcards</a:t>
            </a:r>
          </a:p>
        </p:txBody>
      </p:sp>
      <p:sp>
        <p:nvSpPr>
          <p:cNvPr id="22" name="Rounded Rectangle 21"/>
          <p:cNvSpPr/>
          <p:nvPr/>
        </p:nvSpPr>
        <p:spPr>
          <a:xfrm>
            <a:off x="9087384" y="2238451"/>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3" name="Rounded Rectangle 22"/>
          <p:cNvSpPr/>
          <p:nvPr/>
        </p:nvSpPr>
        <p:spPr>
          <a:xfrm>
            <a:off x="9054466" y="2194560"/>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4" name="Oval 23"/>
          <p:cNvSpPr/>
          <p:nvPr/>
        </p:nvSpPr>
        <p:spPr>
          <a:xfrm>
            <a:off x="9186139" y="2326234"/>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5" name="TextBox 24"/>
          <p:cNvSpPr txBox="1"/>
          <p:nvPr/>
        </p:nvSpPr>
        <p:spPr>
          <a:xfrm>
            <a:off x="9262949" y="2353666"/>
            <a:ext cx="369012" cy="313932"/>
          </a:xfrm>
          <a:prstGeom prst="rect">
            <a:avLst/>
          </a:prstGeom>
          <a:noFill/>
        </p:spPr>
        <p:txBody>
          <a:bodyPr wrap="none">
            <a:spAutoFit/>
          </a:bodyPr>
          <a:lstStyle/>
          <a:p>
            <a:r>
              <a:rPr sz="1440"/>
              <a:t>💡</a:t>
            </a:r>
          </a:p>
        </p:txBody>
      </p:sp>
      <p:sp>
        <p:nvSpPr>
          <p:cNvPr id="26" name="TextBox 25"/>
          <p:cNvSpPr txBox="1"/>
          <p:nvPr/>
        </p:nvSpPr>
        <p:spPr>
          <a:xfrm>
            <a:off x="9822562" y="2337207"/>
            <a:ext cx="1872629" cy="369332"/>
          </a:xfrm>
          <a:prstGeom prst="rect">
            <a:avLst/>
          </a:prstGeom>
          <a:noFill/>
        </p:spPr>
        <p:txBody>
          <a:bodyPr wrap="none">
            <a:spAutoFit/>
          </a:bodyPr>
          <a:lstStyle/>
          <a:p>
            <a:r>
              <a:rPr b="1">
                <a:solidFill>
                  <a:srgbClr val="1E1E1E"/>
                </a:solidFill>
              </a:rPr>
              <a:t>Value Proposition</a:t>
            </a:r>
          </a:p>
        </p:txBody>
      </p:sp>
      <p:sp>
        <p:nvSpPr>
          <p:cNvPr id="27" name="Rounded Rectangle 26"/>
          <p:cNvSpPr/>
          <p:nvPr/>
        </p:nvSpPr>
        <p:spPr>
          <a:xfrm>
            <a:off x="9822562" y="2666390"/>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8" name="TextBox 27"/>
          <p:cNvSpPr txBox="1"/>
          <p:nvPr/>
        </p:nvSpPr>
        <p:spPr>
          <a:xfrm>
            <a:off x="9251977" y="2830982"/>
            <a:ext cx="3158237" cy="853054"/>
          </a:xfrm>
          <a:prstGeom prst="rect">
            <a:avLst/>
          </a:prstGeom>
          <a:noFill/>
        </p:spPr>
        <p:txBody>
          <a:bodyPr wrap="none">
            <a:spAutoFit/>
          </a:bodyPr>
          <a:lstStyle/>
          <a:p>
            <a:pPr>
              <a:defRPr sz="1030">
                <a:solidFill>
                  <a:srgbClr val="373737"/>
                </a:solidFill>
              </a:defRPr>
            </a:pPr>
            <a:r>
              <a:rPr sz="1236"/>
              <a:t>• AI-powered adaptive learning assistant</a:t>
            </a:r>
          </a:p>
          <a:p>
            <a:pPr>
              <a:defRPr sz="1030">
                <a:solidFill>
                  <a:srgbClr val="373737"/>
                </a:solidFill>
              </a:defRPr>
            </a:pPr>
            <a:r>
              <a:rPr sz="1236"/>
              <a:t>• Emotion-aware study scheduling</a:t>
            </a:r>
          </a:p>
          <a:p>
            <a:pPr>
              <a:defRPr sz="1030">
                <a:solidFill>
                  <a:srgbClr val="373737"/>
                </a:solidFill>
              </a:defRPr>
            </a:pPr>
            <a:r>
              <a:rPr sz="1236"/>
              <a:t>• Grounded tutoring with fewer hallucinations</a:t>
            </a:r>
          </a:p>
          <a:p>
            <a:pPr>
              <a:defRPr sz="1030">
                <a:solidFill>
                  <a:srgbClr val="373737"/>
                </a:solidFill>
              </a:defRPr>
            </a:pPr>
            <a:r>
              <a:rPr sz="1236"/>
              <a:t>• Smart summaries &amp; flashcards</a:t>
            </a:r>
          </a:p>
        </p:txBody>
      </p:sp>
      <p:sp>
        <p:nvSpPr>
          <p:cNvPr id="29" name="Rounded Rectangle 28"/>
          <p:cNvSpPr/>
          <p:nvPr/>
        </p:nvSpPr>
        <p:spPr>
          <a:xfrm>
            <a:off x="748056" y="4926787"/>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0" name="Rounded Rectangle 29"/>
          <p:cNvSpPr/>
          <p:nvPr/>
        </p:nvSpPr>
        <p:spPr>
          <a:xfrm>
            <a:off x="715138" y="4882896"/>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1" name="Oval 30"/>
          <p:cNvSpPr/>
          <p:nvPr/>
        </p:nvSpPr>
        <p:spPr>
          <a:xfrm>
            <a:off x="846811" y="5014570"/>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2" name="TextBox 31"/>
          <p:cNvSpPr txBox="1"/>
          <p:nvPr/>
        </p:nvSpPr>
        <p:spPr>
          <a:xfrm>
            <a:off x="923621" y="5042002"/>
            <a:ext cx="369012" cy="313932"/>
          </a:xfrm>
          <a:prstGeom prst="rect">
            <a:avLst/>
          </a:prstGeom>
          <a:noFill/>
        </p:spPr>
        <p:txBody>
          <a:bodyPr wrap="none">
            <a:spAutoFit/>
          </a:bodyPr>
          <a:lstStyle/>
          <a:p>
            <a:r>
              <a:rPr sz="1440"/>
              <a:t>🛡️</a:t>
            </a:r>
          </a:p>
        </p:txBody>
      </p:sp>
      <p:sp>
        <p:nvSpPr>
          <p:cNvPr id="33" name="TextBox 32"/>
          <p:cNvSpPr txBox="1"/>
          <p:nvPr/>
        </p:nvSpPr>
        <p:spPr>
          <a:xfrm>
            <a:off x="1483234" y="5025543"/>
            <a:ext cx="2145396" cy="369332"/>
          </a:xfrm>
          <a:prstGeom prst="rect">
            <a:avLst/>
          </a:prstGeom>
          <a:noFill/>
        </p:spPr>
        <p:txBody>
          <a:bodyPr wrap="none">
            <a:spAutoFit/>
          </a:bodyPr>
          <a:lstStyle/>
          <a:p>
            <a:r>
              <a:rPr b="1">
                <a:solidFill>
                  <a:srgbClr val="1E1E1E"/>
                </a:solidFill>
              </a:rPr>
              <a:t>Intellectual Property</a:t>
            </a:r>
          </a:p>
        </p:txBody>
      </p:sp>
      <p:sp>
        <p:nvSpPr>
          <p:cNvPr id="34" name="Rounded Rectangle 33"/>
          <p:cNvSpPr/>
          <p:nvPr/>
        </p:nvSpPr>
        <p:spPr>
          <a:xfrm>
            <a:off x="1483234" y="5354726"/>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5" name="TextBox 34"/>
          <p:cNvSpPr txBox="1"/>
          <p:nvPr/>
        </p:nvSpPr>
        <p:spPr>
          <a:xfrm>
            <a:off x="912649" y="5519318"/>
            <a:ext cx="2829877" cy="853054"/>
          </a:xfrm>
          <a:prstGeom prst="rect">
            <a:avLst/>
          </a:prstGeom>
          <a:noFill/>
        </p:spPr>
        <p:txBody>
          <a:bodyPr wrap="none">
            <a:spAutoFit/>
          </a:bodyPr>
          <a:lstStyle/>
          <a:p>
            <a:pPr>
              <a:defRPr sz="1030">
                <a:solidFill>
                  <a:srgbClr val="373737"/>
                </a:solidFill>
              </a:defRPr>
            </a:pPr>
            <a:r>
              <a:rPr sz="1236"/>
              <a:t>• RL scheduling logic</a:t>
            </a:r>
          </a:p>
          <a:p>
            <a:pPr>
              <a:defRPr sz="1030">
                <a:solidFill>
                  <a:srgbClr val="373737"/>
                </a:solidFill>
              </a:defRPr>
            </a:pPr>
            <a:r>
              <a:rPr sz="1236"/>
              <a:t>• Emotion-readiness fusion methodology</a:t>
            </a:r>
          </a:p>
          <a:p>
            <a:pPr>
              <a:defRPr sz="1030">
                <a:solidFill>
                  <a:srgbClr val="373737"/>
                </a:solidFill>
              </a:defRPr>
            </a:pPr>
            <a:r>
              <a:rPr sz="1236"/>
              <a:t>• AI tutoring architecture</a:t>
            </a:r>
          </a:p>
          <a:p>
            <a:pPr>
              <a:defRPr sz="1030">
                <a:solidFill>
                  <a:srgbClr val="373737"/>
                </a:solidFill>
              </a:defRPr>
            </a:pPr>
            <a:r>
              <a:rPr sz="1236"/>
              <a:t>• Privacy-preserving framework</a:t>
            </a:r>
          </a:p>
        </p:txBody>
      </p:sp>
      <p:sp>
        <p:nvSpPr>
          <p:cNvPr id="36" name="Rounded Rectangle 35"/>
          <p:cNvSpPr/>
          <p:nvPr/>
        </p:nvSpPr>
        <p:spPr>
          <a:xfrm>
            <a:off x="4917720" y="4926787"/>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7" name="Rounded Rectangle 36"/>
          <p:cNvSpPr/>
          <p:nvPr/>
        </p:nvSpPr>
        <p:spPr>
          <a:xfrm>
            <a:off x="4884802" y="4882896"/>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8" name="Oval 37"/>
          <p:cNvSpPr/>
          <p:nvPr/>
        </p:nvSpPr>
        <p:spPr>
          <a:xfrm>
            <a:off x="5016475" y="5014570"/>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9" name="TextBox 38"/>
          <p:cNvSpPr txBox="1"/>
          <p:nvPr/>
        </p:nvSpPr>
        <p:spPr>
          <a:xfrm>
            <a:off x="5093285" y="5042002"/>
            <a:ext cx="369012" cy="313932"/>
          </a:xfrm>
          <a:prstGeom prst="rect">
            <a:avLst/>
          </a:prstGeom>
          <a:noFill/>
        </p:spPr>
        <p:txBody>
          <a:bodyPr wrap="none">
            <a:spAutoFit/>
          </a:bodyPr>
          <a:lstStyle/>
          <a:p>
            <a:r>
              <a:rPr sz="1440"/>
              <a:t>💰</a:t>
            </a:r>
          </a:p>
        </p:txBody>
      </p:sp>
      <p:sp>
        <p:nvSpPr>
          <p:cNvPr id="40" name="TextBox 39"/>
          <p:cNvSpPr txBox="1"/>
          <p:nvPr/>
        </p:nvSpPr>
        <p:spPr>
          <a:xfrm>
            <a:off x="5652897" y="5025543"/>
            <a:ext cx="1686680" cy="369332"/>
          </a:xfrm>
          <a:prstGeom prst="rect">
            <a:avLst/>
          </a:prstGeom>
          <a:noFill/>
        </p:spPr>
        <p:txBody>
          <a:bodyPr wrap="none">
            <a:spAutoFit/>
          </a:bodyPr>
          <a:lstStyle/>
          <a:p>
            <a:r>
              <a:rPr b="1">
                <a:solidFill>
                  <a:srgbClr val="1E1E1E"/>
                </a:solidFill>
              </a:rPr>
              <a:t>Revenue Model</a:t>
            </a:r>
          </a:p>
        </p:txBody>
      </p:sp>
      <p:sp>
        <p:nvSpPr>
          <p:cNvPr id="41" name="Rounded Rectangle 40"/>
          <p:cNvSpPr/>
          <p:nvPr/>
        </p:nvSpPr>
        <p:spPr>
          <a:xfrm>
            <a:off x="5652898" y="5354726"/>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2" name="TextBox 41"/>
          <p:cNvSpPr txBox="1"/>
          <p:nvPr/>
        </p:nvSpPr>
        <p:spPr>
          <a:xfrm>
            <a:off x="5082312" y="5519318"/>
            <a:ext cx="1989647" cy="662874"/>
          </a:xfrm>
          <a:prstGeom prst="rect">
            <a:avLst/>
          </a:prstGeom>
          <a:noFill/>
        </p:spPr>
        <p:txBody>
          <a:bodyPr wrap="none">
            <a:spAutoFit/>
          </a:bodyPr>
          <a:lstStyle/>
          <a:p>
            <a:pPr>
              <a:defRPr sz="1030">
                <a:solidFill>
                  <a:srgbClr val="373737"/>
                </a:solidFill>
              </a:defRPr>
            </a:pPr>
            <a:r>
              <a:rPr sz="1236" dirty="0"/>
              <a:t>• Institutional LMS licensing</a:t>
            </a:r>
          </a:p>
          <a:p>
            <a:pPr>
              <a:defRPr sz="1030">
                <a:solidFill>
                  <a:srgbClr val="373737"/>
                </a:solidFill>
              </a:defRPr>
            </a:pPr>
            <a:r>
              <a:rPr sz="1236" dirty="0"/>
              <a:t>• Freemium student access</a:t>
            </a:r>
          </a:p>
          <a:p>
            <a:pPr>
              <a:defRPr sz="1030">
                <a:solidFill>
                  <a:srgbClr val="373737"/>
                </a:solidFill>
              </a:defRPr>
            </a:pPr>
            <a:r>
              <a:rPr sz="1236" dirty="0"/>
              <a:t>• Premium AI Tutor features</a:t>
            </a:r>
          </a:p>
        </p:txBody>
      </p:sp>
      <p:sp>
        <p:nvSpPr>
          <p:cNvPr id="43" name="Rounded Rectangle 42"/>
          <p:cNvSpPr/>
          <p:nvPr/>
        </p:nvSpPr>
        <p:spPr>
          <a:xfrm>
            <a:off x="9087384" y="4926787"/>
            <a:ext cx="3785616" cy="2084832"/>
          </a:xfrm>
          <a:prstGeom prst="roundRect">
            <a:avLst/>
          </a:prstGeom>
          <a:solidFill>
            <a:srgbClr val="E6DFD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4" name="Rounded Rectangle 43"/>
          <p:cNvSpPr/>
          <p:nvPr/>
        </p:nvSpPr>
        <p:spPr>
          <a:xfrm>
            <a:off x="9054466" y="4882896"/>
            <a:ext cx="3785616" cy="2084832"/>
          </a:xfrm>
          <a:prstGeom prst="roundRect">
            <a:avLst/>
          </a:prstGeom>
          <a:solidFill>
            <a:srgbClr val="FCFAF7"/>
          </a:solidFill>
          <a:ln>
            <a:solidFill>
              <a:srgbClr val="E6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5" name="Oval 44"/>
          <p:cNvSpPr/>
          <p:nvPr/>
        </p:nvSpPr>
        <p:spPr>
          <a:xfrm>
            <a:off x="9186139" y="5014570"/>
            <a:ext cx="493776" cy="493776"/>
          </a:xfrm>
          <a:prstGeom prst="ellipse">
            <a:avLst/>
          </a:prstGeom>
          <a:solidFill>
            <a:srgbClr val="B5855C"/>
          </a:solidFill>
          <a:ln>
            <a:solidFill>
              <a:srgbClr val="B58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6" name="TextBox 45"/>
          <p:cNvSpPr txBox="1"/>
          <p:nvPr/>
        </p:nvSpPr>
        <p:spPr>
          <a:xfrm>
            <a:off x="9262949" y="5042002"/>
            <a:ext cx="369012" cy="313932"/>
          </a:xfrm>
          <a:prstGeom prst="rect">
            <a:avLst/>
          </a:prstGeom>
          <a:noFill/>
        </p:spPr>
        <p:txBody>
          <a:bodyPr wrap="none">
            <a:spAutoFit/>
          </a:bodyPr>
          <a:lstStyle/>
          <a:p>
            <a:r>
              <a:rPr sz="1440"/>
              <a:t>📈</a:t>
            </a:r>
          </a:p>
        </p:txBody>
      </p:sp>
      <p:sp>
        <p:nvSpPr>
          <p:cNvPr id="47" name="TextBox 46"/>
          <p:cNvSpPr txBox="1"/>
          <p:nvPr/>
        </p:nvSpPr>
        <p:spPr>
          <a:xfrm>
            <a:off x="9822562" y="5025543"/>
            <a:ext cx="2467342" cy="369332"/>
          </a:xfrm>
          <a:prstGeom prst="rect">
            <a:avLst/>
          </a:prstGeom>
          <a:noFill/>
        </p:spPr>
        <p:txBody>
          <a:bodyPr wrap="none">
            <a:spAutoFit/>
          </a:bodyPr>
          <a:lstStyle/>
          <a:p>
            <a:r>
              <a:rPr b="1">
                <a:solidFill>
                  <a:srgbClr val="1E1E1E"/>
                </a:solidFill>
              </a:rPr>
              <a:t>Growth &amp; Sustainability</a:t>
            </a:r>
          </a:p>
        </p:txBody>
      </p:sp>
      <p:sp>
        <p:nvSpPr>
          <p:cNvPr id="48" name="Rounded Rectangle 47"/>
          <p:cNvSpPr/>
          <p:nvPr/>
        </p:nvSpPr>
        <p:spPr>
          <a:xfrm>
            <a:off x="9822562" y="5354726"/>
            <a:ext cx="493776" cy="21946"/>
          </a:xfrm>
          <a:prstGeom prst="roundRect">
            <a:avLst/>
          </a:prstGeom>
          <a:solidFill>
            <a:srgbClr val="D6C6B8"/>
          </a:solidFill>
          <a:ln>
            <a:solidFill>
              <a:srgbClr val="D6C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9" name="TextBox 48"/>
          <p:cNvSpPr txBox="1"/>
          <p:nvPr/>
        </p:nvSpPr>
        <p:spPr>
          <a:xfrm>
            <a:off x="9251976" y="5519318"/>
            <a:ext cx="2797561" cy="662874"/>
          </a:xfrm>
          <a:prstGeom prst="rect">
            <a:avLst/>
          </a:prstGeom>
          <a:noFill/>
        </p:spPr>
        <p:txBody>
          <a:bodyPr wrap="none">
            <a:spAutoFit/>
          </a:bodyPr>
          <a:lstStyle/>
          <a:p>
            <a:pPr>
              <a:defRPr sz="1030">
                <a:solidFill>
                  <a:srgbClr val="373737"/>
                </a:solidFill>
              </a:defRPr>
            </a:pPr>
            <a:r>
              <a:rPr sz="1236" dirty="0"/>
              <a:t>• Open-source stack lowers cost</a:t>
            </a:r>
          </a:p>
          <a:p>
            <a:pPr>
              <a:defRPr sz="1030">
                <a:solidFill>
                  <a:srgbClr val="373737"/>
                </a:solidFill>
              </a:defRPr>
            </a:pPr>
            <a:r>
              <a:rPr sz="1236" dirty="0"/>
              <a:t>• RL retention improves long-term usage</a:t>
            </a:r>
          </a:p>
          <a:p>
            <a:pPr>
              <a:defRPr sz="1030">
                <a:solidFill>
                  <a:srgbClr val="373737"/>
                </a:solidFill>
              </a:defRPr>
            </a:pPr>
            <a:r>
              <a:rPr sz="1236" dirty="0"/>
              <a:t>• Cloud-ready scalable architecture</a:t>
            </a:r>
          </a:p>
        </p:txBody>
      </p:sp>
      <p:sp>
        <p:nvSpPr>
          <p:cNvPr id="50" name="Rectangle 49"/>
          <p:cNvSpPr/>
          <p:nvPr/>
        </p:nvSpPr>
        <p:spPr>
          <a:xfrm>
            <a:off x="1906" y="7713879"/>
            <a:ext cx="14626742" cy="16459"/>
          </a:xfrm>
          <a:prstGeom prst="rect">
            <a:avLst/>
          </a:prstGeom>
          <a:solidFill>
            <a:srgbClr val="AAAAAA"/>
          </a:solidFill>
          <a:ln>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1" name="TextBox 50"/>
          <p:cNvSpPr txBox="1"/>
          <p:nvPr/>
        </p:nvSpPr>
        <p:spPr>
          <a:xfrm>
            <a:off x="550546" y="7768743"/>
            <a:ext cx="2448106" cy="258532"/>
          </a:xfrm>
          <a:prstGeom prst="rect">
            <a:avLst/>
          </a:prstGeom>
          <a:noFill/>
        </p:spPr>
        <p:txBody>
          <a:bodyPr wrap="none">
            <a:spAutoFit/>
          </a:bodyPr>
          <a:lstStyle/>
          <a:p>
            <a:r>
              <a:rPr lang="en-US" sz="1080" dirty="0">
                <a:solidFill>
                  <a:srgbClr val="505050"/>
                </a:solidFill>
              </a:rPr>
              <a:t>R26-SE-022 | SLIIT Faculty of Computing</a:t>
            </a:r>
          </a:p>
        </p:txBody>
      </p:sp>
      <p:sp>
        <p:nvSpPr>
          <p:cNvPr id="54" name="TextBox 53">
            <a:extLst>
              <a:ext uri="{FF2B5EF4-FFF2-40B4-BE49-F238E27FC236}">
                <a16:creationId xmlns:a16="http://schemas.microsoft.com/office/drawing/2014/main" id="{1190BF60-2D4E-3A92-04CB-63D0F3E555DF}"/>
              </a:ext>
            </a:extLst>
          </p:cNvPr>
          <p:cNvSpPr txBox="1"/>
          <p:nvPr/>
        </p:nvSpPr>
        <p:spPr>
          <a:xfrm>
            <a:off x="12214204" y="-55401"/>
            <a:ext cx="2414444" cy="677108"/>
          </a:xfrm>
          <a:prstGeom prst="rect">
            <a:avLst/>
          </a:prstGeom>
          <a:noFill/>
        </p:spPr>
        <p:txBody>
          <a:bodyPr wrap="none" rtlCol="0">
            <a:spAutoFit/>
          </a:bodyPr>
          <a:lstStyle/>
          <a:p>
            <a:r>
              <a:rPr lang="en-US" sz="3800" b="1" dirty="0">
                <a:solidFill>
                  <a:srgbClr val="FF0000"/>
                </a:solidFill>
                <a:latin typeface="Lato Bold" pitchFamily="34" charset="0"/>
                <a:ea typeface="Lato Bold" pitchFamily="34" charset="-122"/>
                <a:cs typeface="Lato Bold" pitchFamily="34" charset="-120"/>
              </a:rPr>
              <a:t>AuraLearn</a:t>
            </a:r>
            <a:endParaRPr lang="en-US" sz="3800" dirty="0"/>
          </a:p>
        </p:txBody>
      </p:sp>
      <p:sp>
        <p:nvSpPr>
          <p:cNvPr id="55" name="Rectangle 54">
            <a:extLst>
              <a:ext uri="{FF2B5EF4-FFF2-40B4-BE49-F238E27FC236}">
                <a16:creationId xmlns:a16="http://schemas.microsoft.com/office/drawing/2014/main" id="{69BDDC59-F2EA-F9D5-F59D-BD0537D239CC}"/>
              </a:ext>
            </a:extLst>
          </p:cNvPr>
          <p:cNvSpPr/>
          <p:nvPr/>
        </p:nvSpPr>
        <p:spPr>
          <a:xfrm>
            <a:off x="715138" y="283153"/>
            <a:ext cx="1557198" cy="5076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FECE6">
              <a:alpha val="85000"/>
            </a:srgbClr>
          </a:solidFill>
          <a:ln/>
        </p:spPr>
        <p:txBody>
          <a:bodyPr/>
          <a:lstStyle/>
          <a:p>
            <a:endParaRPr lang="en-US"/>
          </a:p>
        </p:txBody>
      </p:sp>
      <p:sp>
        <p:nvSpPr>
          <p:cNvPr id="4" name="Text 1"/>
          <p:cNvSpPr/>
          <p:nvPr/>
        </p:nvSpPr>
        <p:spPr>
          <a:xfrm>
            <a:off x="793790" y="2010013"/>
            <a:ext cx="13042821" cy="2126456"/>
          </a:xfrm>
          <a:prstGeom prst="rect">
            <a:avLst/>
          </a:prstGeom>
          <a:noFill/>
          <a:ln/>
        </p:spPr>
        <p:txBody>
          <a:bodyPr wrap="none" lIns="0" tIns="0" rIns="0" bIns="0" rtlCol="0" anchor="t"/>
          <a:lstStyle/>
          <a:p>
            <a:pPr marL="0" indent="0" algn="l">
              <a:lnSpc>
                <a:spcPts val="16700"/>
              </a:lnSpc>
              <a:buNone/>
            </a:pPr>
            <a:r>
              <a:rPr lang="en-US" sz="13350" b="1" dirty="0">
                <a:latin typeface="Lato Bold" pitchFamily="34" charset="0"/>
                <a:ea typeface="Lato Bold" pitchFamily="34" charset="-122"/>
                <a:cs typeface="Lato Bold" pitchFamily="34" charset="-120"/>
              </a:rPr>
              <a:t>Thank You</a:t>
            </a:r>
            <a:endParaRPr lang="en-US" sz="13350" dirty="0"/>
          </a:p>
        </p:txBody>
      </p:sp>
      <p:sp>
        <p:nvSpPr>
          <p:cNvPr id="5" name="Text 2"/>
          <p:cNvSpPr/>
          <p:nvPr/>
        </p:nvSpPr>
        <p:spPr>
          <a:xfrm>
            <a:off x="793790" y="4476631"/>
            <a:ext cx="4536519" cy="566976"/>
          </a:xfrm>
          <a:prstGeom prst="rect">
            <a:avLst/>
          </a:prstGeom>
          <a:noFill/>
          <a:ln/>
        </p:spPr>
        <p:txBody>
          <a:bodyPr wrap="none" lIns="0" tIns="0" rIns="0" bIns="0" rtlCol="0" anchor="t"/>
          <a:lstStyle/>
          <a:p>
            <a:pPr marL="0" indent="0" algn="l">
              <a:lnSpc>
                <a:spcPts val="4450"/>
              </a:lnSpc>
              <a:buNone/>
            </a:pPr>
            <a:r>
              <a:rPr lang="en-US" sz="3550" b="1" dirty="0">
                <a:latin typeface="Lato Bold" pitchFamily="34" charset="0"/>
                <a:ea typeface="Lato Bold" pitchFamily="34" charset="-122"/>
                <a:cs typeface="Lato Bold" pitchFamily="34" charset="-120"/>
              </a:rPr>
              <a:t>Questions?</a:t>
            </a:r>
            <a:endParaRPr lang="en-US" sz="3550" dirty="0"/>
          </a:p>
        </p:txBody>
      </p:sp>
      <p:sp>
        <p:nvSpPr>
          <p:cNvPr id="6" name="Text 3"/>
          <p:cNvSpPr/>
          <p:nvPr/>
        </p:nvSpPr>
        <p:spPr>
          <a:xfrm>
            <a:off x="793790" y="5383768"/>
            <a:ext cx="13042821" cy="290274"/>
          </a:xfrm>
          <a:prstGeom prst="rect">
            <a:avLst/>
          </a:prstGeom>
          <a:noFill/>
          <a:ln/>
        </p:spPr>
        <p:txBody>
          <a:bodyPr wrap="none" lIns="0" tIns="0" rIns="0" bIns="0" rtlCol="0" anchor="t"/>
          <a:lstStyle/>
          <a:p>
            <a:pPr marL="0" indent="0" algn="l">
              <a:lnSpc>
                <a:spcPts val="2250"/>
              </a:lnSpc>
              <a:buNone/>
            </a:pPr>
            <a:r>
              <a:rPr lang="en-US" sz="1600" dirty="0">
                <a:latin typeface="Lato" pitchFamily="34" charset="0"/>
                <a:ea typeface="Lato" pitchFamily="34" charset="-122"/>
                <a:cs typeface="Lato" pitchFamily="34" charset="-120"/>
              </a:rPr>
              <a:t>AI-Enabled Intelligent Study Assistant</a:t>
            </a:r>
            <a:endParaRPr lang="en-US" sz="1600" dirty="0"/>
          </a:p>
        </p:txBody>
      </p:sp>
      <p:sp>
        <p:nvSpPr>
          <p:cNvPr id="7" name="Text 4"/>
          <p:cNvSpPr/>
          <p:nvPr/>
        </p:nvSpPr>
        <p:spPr>
          <a:xfrm>
            <a:off x="793790" y="5929193"/>
            <a:ext cx="13042821" cy="290274"/>
          </a:xfrm>
          <a:prstGeom prst="rect">
            <a:avLst/>
          </a:prstGeom>
          <a:noFill/>
          <a:ln/>
        </p:spPr>
        <p:txBody>
          <a:bodyPr wrap="none" lIns="0" tIns="0" rIns="0" bIns="0" rtlCol="0" anchor="t"/>
          <a:lstStyle/>
          <a:p>
            <a:pPr marL="0" indent="0" algn="l">
              <a:lnSpc>
                <a:spcPts val="2250"/>
              </a:lnSpc>
              <a:buNone/>
            </a:pPr>
            <a:r>
              <a:rPr lang="en-US" sz="1600" dirty="0">
                <a:latin typeface="Lato" pitchFamily="34" charset="0"/>
                <a:ea typeface="Lato" pitchFamily="34" charset="-122"/>
                <a:cs typeface="Lato" pitchFamily="34" charset="-120"/>
              </a:rPr>
              <a:t>R26-SE-022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606</TotalTime>
  <Words>2324</Words>
  <Application>Microsoft Macintosh PowerPoint</Application>
  <PresentationFormat>Custom</PresentationFormat>
  <Paragraphs>248</Paragraphs>
  <Slides>23</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Lato</vt:lpstr>
      <vt:lpstr>Arial</vt:lpstr>
      <vt:lpstr>Calibri</vt:lpstr>
      <vt:lpstr>Aptos</vt:lpstr>
      <vt:lpstr>Lato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yasas mihiraj</dc:creator>
  <cp:lastModifiedBy>kavindu gayashan</cp:lastModifiedBy>
  <cp:revision>10</cp:revision>
  <dcterms:created xsi:type="dcterms:W3CDTF">2026-03-15T16:19:56Z</dcterms:created>
  <dcterms:modified xsi:type="dcterms:W3CDTF">2026-05-11T05:11:33Z</dcterms:modified>
</cp:coreProperties>
</file>